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l-architecture-review-infographic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20000"/>
            <a:ext cx="109728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18313D"/>
                </a:solidFill>
              </a:rPr>
              <a:t>Smart Energy Arbitrage 2026</a:t>
            </a:r>
            <a:endParaRPr lang="en-US" sz="3600"/>
          </a:p>
        </p:txBody>
      </p:sp>
      <p:sp>
        <p:nvSpPr>
          <p:cNvPr id="3" name="Bullets 3"/>
          <p:cNvSpPr txBox="1"/>
          <p:nvPr/>
        </p:nvSpPr>
        <p:spPr>
          <a:xfrm>
            <a:off x="914400" y="1850000"/>
            <a:ext cx="10363200" cy="3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Architecture review: Dagster, Docker, data, ML evidence, and DFL roadmap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2026-05-11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Documentation-only review; production code unchanged</a:t>
            </a:r>
            <a:endParaRPr lang="en-US"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20000"/>
            <a:ext cx="109728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18313D"/>
                </a:solidFill>
              </a:rPr>
              <a:t>Architecture map</a:t>
            </a:r>
            <a:endParaRPr lang="en-US" sz="3600"/>
          </a:p>
        </p:txBody>
      </p:sp>
      <p:pic>
        <p:nvPicPr>
          <p:cNvPr id="3" name="Infograph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60000"/>
            <a:ext cx="10972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20000"/>
            <a:ext cx="109728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18313D"/>
                </a:solidFill>
              </a:rPr>
              <a:t>Executive verdict</a:t>
            </a:r>
            <a:endParaRPr lang="en-US" sz="3600"/>
          </a:p>
        </p:txBody>
      </p:sp>
      <p:sp>
        <p:nvSpPr>
          <p:cNvPr id="3" name="Bullets 3"/>
          <p:cNvSpPr txBox="1"/>
          <p:nvPr/>
        </p:nvSpPr>
        <p:spPr>
          <a:xfrm>
            <a:off x="914400" y="1850000"/>
            <a:ext cx="10363200" cy="3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Direction is coherent and thesis-defensible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Current system is a reproducible evidence platform, not a trading bot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Preserve offline/read-model claim boundaries for DFL and DT</a:t>
            </a:r>
            <a:endParaRPr lang="en-US"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20000"/>
            <a:ext cx="109728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18313D"/>
                </a:solidFill>
              </a:rPr>
              <a:t>Dagster evidence</a:t>
            </a:r>
            <a:endParaRPr lang="en-US" sz="3600"/>
          </a:p>
        </p:txBody>
      </p:sp>
      <p:sp>
        <p:nvSpPr>
          <p:cNvPr id="3" name="Bullets 3"/>
          <p:cNvSpPr txBox="1"/>
          <p:nvPr/>
        </p:nvSpPr>
        <p:spPr>
          <a:xfrm>
            <a:off x="914400" y="1850000"/>
            <a:ext cx="10363200" cy="3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109 assets, 25 checks, 2 jobs, 2 schedules, 0 sensors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Medallion tags and evidence-scope tags are useful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Daemon heartbeat warnings need runtime hardening</a:t>
            </a:r>
            <a:endParaRPr lang="en-US"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20000"/>
            <a:ext cx="109728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18313D"/>
                </a:solidFill>
              </a:rPr>
              <a:t>Docker runtime</a:t>
            </a:r>
            <a:endParaRPr lang="en-US" sz="3600"/>
          </a:p>
        </p:txBody>
      </p:sp>
      <p:sp>
        <p:nvSpPr>
          <p:cNvPr id="3" name="Bullets 3"/>
          <p:cNvSpPr txBox="1"/>
          <p:nvPr/>
        </p:nvSpPr>
        <p:spPr>
          <a:xfrm>
            <a:off x="914400" y="1850000"/>
            <a:ext cx="10363200" cy="3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API, Dagster webserver, MLflow, and Postgres were running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docker compose config passed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MQTT and telemetry services are defined but were not in current compose ps snapshot</a:t>
            </a:r>
            <a:endParaRPr lang="en-US"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20000"/>
            <a:ext cx="109728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18313D"/>
                </a:solidFill>
              </a:rPr>
              <a:t>Data audit</a:t>
            </a:r>
            <a:endParaRPr lang="en-US" sz="3600"/>
          </a:p>
        </p:txBody>
      </p:sp>
      <p:sp>
        <p:nvSpPr>
          <p:cNvPr id="3" name="Bullets 3"/>
          <p:cNvSpPr txBox="1"/>
          <p:nvPr/>
        </p:nvSpPr>
        <p:spPr>
          <a:xfrm>
            <a:off x="914400" y="1850000"/>
            <a:ext cx="10363200" cy="3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OREE observed DAM rows are cap-clean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Open-Meteo tenant coverage is uneven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Synthetic telemetry has future timestamps and must be fixed before live SOC claims</a:t>
            </a:r>
            <a:endParaRPr lang="en-US"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20000"/>
            <a:ext cx="109728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18313D"/>
                </a:solidFill>
              </a:rPr>
              <a:t>Forecast and strategy audit</a:t>
            </a:r>
            <a:endParaRPr lang="en-US" sz="3600"/>
          </a:p>
        </p:txBody>
      </p:sp>
      <p:sp>
        <p:nvSpPr>
          <p:cNvPr id="3" name="Bullets 3"/>
          <p:cNvSpPr txBox="1"/>
          <p:nvPr/>
        </p:nvSpPr>
        <p:spPr>
          <a:xfrm>
            <a:off x="914400" y="1850000"/>
            <a:ext cx="10363200" cy="3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strict_similar_day plus LP remains the strongest fallback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Official NBEATSx smoke rows are out of DAM cap and should be quarantined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TFT rows are cleaner but still need value promotion</a:t>
            </a:r>
            <a:endParaRPr lang="en-US"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20000"/>
            <a:ext cx="109728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18313D"/>
                </a:solidFill>
              </a:rPr>
              <a:t>DFL and Decision Transformer</a:t>
            </a:r>
            <a:endParaRPr lang="en-US" sz="3600"/>
          </a:p>
        </p:txBody>
      </p:sp>
      <p:sp>
        <p:nvSpPr>
          <p:cNvPr id="3" name="Bullets 3"/>
          <p:cNvSpPr txBox="1"/>
          <p:nvPr/>
        </p:nvSpPr>
        <p:spPr>
          <a:xfrm>
            <a:off x="914400" y="1850000"/>
            <a:ext cx="10363200" cy="3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Schedule/Value Learner V2 has offline read-model promotion only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Decision Transformer is preview-only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Full differentiable DFL and market execution remain blocked</a:t>
            </a:r>
            <a:endParaRPr lang="en-US"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20000"/>
            <a:ext cx="109728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18313D"/>
                </a:solidFill>
              </a:rPr>
              <a:t>Regulatory fit</a:t>
            </a:r>
            <a:endParaRPr lang="en-US" sz="3600"/>
          </a:p>
        </p:txBody>
      </p:sp>
      <p:sp>
        <p:nvSpPr>
          <p:cNvPr id="3" name="Bullets 3"/>
          <p:cNvSpPr txBox="1"/>
          <p:nvPr/>
        </p:nvSpPr>
        <p:spPr>
          <a:xfrm>
            <a:off x="914400" y="1850000"/>
            <a:ext cx="10363200" cy="3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NEURC caps require venue-specific forecast sanity gates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EU electricity reform supports flexibility and market coupling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AI Act framing supports logging, human oversight, and deterministic safety boundaries</a:t>
            </a:r>
            <a:endParaRPr lang="en-US"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20000"/>
            <a:ext cx="109728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18313D"/>
                </a:solidFill>
              </a:rPr>
              <a:t>Immediate roadmap</a:t>
            </a:r>
            <a:endParaRPr lang="en-US" sz="3600"/>
          </a:p>
        </p:txBody>
      </p:sp>
      <p:sp>
        <p:nvSpPr>
          <p:cNvPr id="3" name="Bullets 3"/>
          <p:cNvSpPr txBox="1"/>
          <p:nvPr/>
        </p:nvSpPr>
        <p:spPr>
          <a:xfrm>
            <a:off x="914400" y="1850000"/>
            <a:ext cx="10363200" cy="3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Fix future synthetic telemetry handling with tests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Add forecast sanity gate/quarantine with tests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Investigate Dagster daemon heartbeat warnings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Add latest-common-panel gate</a:t>
            </a:r>
            <a:endParaRPr lang="en-US"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20000"/>
            <a:ext cx="109728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18313D"/>
                </a:solidFill>
              </a:rPr>
              <a:t>Defense language</a:t>
            </a:r>
            <a:endParaRPr lang="en-US" sz="3600"/>
          </a:p>
        </p:txBody>
      </p:sp>
      <p:sp>
        <p:nvSpPr>
          <p:cNvPr id="3" name="Bullets 3"/>
          <p:cNvSpPr txBox="1"/>
          <p:nvPr/>
        </p:nvSpPr>
        <p:spPr>
          <a:xfrm>
            <a:off x="914400" y="1850000"/>
            <a:ext cx="10363200" cy="3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Use: strict LP baseline, forecast evidence surface, offline DFL research lane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Avoid: live trading bot, deployed Decision Transformer, full DFL, production BESS controller</a:t>
            </a:r>
            <a:endParaRPr lang="en-US" sz="2500"/>
          </a:p>
          <a:p>
            <a:pPr marL="342900" indent="-171450">
              <a:buChar char="-"/>
            </a:pPr>
            <a:r>
              <a:rPr lang="en-US" sz="2500">
                <a:solidFill>
                  <a:srgbClr val="23343D"/>
                </a:solidFill>
              </a:rPr>
              <a:t>Keep market_execution_enabled=false visible until evidence changes</a:t>
            </a:r>
            <a:endParaRPr lang="en-US"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iew">
  <a:themeElements>
    <a:clrScheme name="Review">
      <a:dk1>
        <a:srgbClr val="172026"/>
      </a:dk1>
      <a:lt1>
        <a:srgbClr val="FFFFFF"/>
      </a:lt1>
      <a:dk2>
        <a:srgbClr val="18313D"/>
      </a:dk2>
      <a:lt2>
        <a:srgbClr val="F7F8F5"/>
      </a:lt2>
      <a:accent1>
        <a:srgbClr val="246B8F"/>
      </a:accent1>
      <a:accent2>
        <a:srgbClr val="2F7D57"/>
      </a:accent2>
      <a:accent3>
        <a:srgbClr val="B47618"/>
      </a:accent3>
      <a:accent4>
        <a:srgbClr val="B23B3B"/>
      </a:accent4>
      <a:accent5>
        <a:srgbClr val="62508F"/>
      </a:accent5>
      <a:accent6>
        <a:srgbClr val="5A6670"/>
      </a:accent6>
      <a:hlink>
        <a:srgbClr val="1F6388"/>
      </a:hlink>
      <a:folHlink>
        <a:srgbClr val="62508F"/>
      </a:folHlink>
    </a:clrScheme>
    <a:fontScheme name="Review">
      <a:majorFont>
        <a:latin typeface="Aptos Display"/>
      </a:majorFont>
      <a:minorFont>
        <a:latin typeface="Aptos"/>
      </a:minorFont>
    </a:fontScheme>
    <a:fmtScheme name="Review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