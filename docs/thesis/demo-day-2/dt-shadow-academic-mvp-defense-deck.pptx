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bfde1adf614f59" /><Relationship Type="http://schemas.openxmlformats.org/officeDocument/2006/relationships/extended-properties" Target="/docProps/app.xml" Id="R3a8f49bcd7dc439f" /><Relationship Type="http://schemas.openxmlformats.org/officeDocument/2006/relationships/officeDocument" Target="/ppt/presentation.xml" Id="R266bb791ce6c48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160f9e8bcc4ae7"/>
  </p:sldMasterIdLst>
  <p:notesMasterIdLst>
    <p:notesMasterId xmlns:r="http://schemas.openxmlformats.org/officeDocument/2006/relationships" r:id="R0b423d048f704d8f"/>
  </p:notesMasterIdLst>
  <p:sldIdLst>
    <p:sldId xmlns:r="http://schemas.openxmlformats.org/officeDocument/2006/relationships" id="256" r:id="Rd807111120674285"/>
    <p:sldId xmlns:r="http://schemas.openxmlformats.org/officeDocument/2006/relationships" id="257" r:id="R689741efa1c041d8"/>
    <p:sldId xmlns:r="http://schemas.openxmlformats.org/officeDocument/2006/relationships" id="258" r:id="Ra0e8678b5e7d4e48"/>
    <p:sldId xmlns:r="http://schemas.openxmlformats.org/officeDocument/2006/relationships" id="259" r:id="Ref00315b9d7c4bb1"/>
    <p:sldId xmlns:r="http://schemas.openxmlformats.org/officeDocument/2006/relationships" id="260" r:id="Rc81c8ea8b9ba4994"/>
    <p:sldId xmlns:r="http://schemas.openxmlformats.org/officeDocument/2006/relationships" id="261" r:id="R2d734bcf7e0d4f93"/>
    <p:sldId xmlns:r="http://schemas.openxmlformats.org/officeDocument/2006/relationships" id="262" r:id="R113bc18e1fe74450"/>
    <p:sldId xmlns:r="http://schemas.openxmlformats.org/officeDocument/2006/relationships" id="263" r:id="R64f71688385f4222"/>
    <p:sldId xmlns:r="http://schemas.openxmlformats.org/officeDocument/2006/relationships" id="264" r:id="R895e292d840646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60f9e8bcc4ae7" /><Relationship Type="http://schemas.openxmlformats.org/officeDocument/2006/relationships/theme" Target="/ppt/theme/theme1.xml" Id="R8cbc66958f514cc7" /><Relationship Type="http://schemas.openxmlformats.org/officeDocument/2006/relationships/notesMaster" Target="/ppt/notesMasters/notesMaster1.xml" Id="R0b423d048f704d8f" /><Relationship Type="http://schemas.openxmlformats.org/officeDocument/2006/relationships/presProps" Target="/ppt/presProps.xml" Id="Rd407670093744455" /><Relationship Type="http://schemas.openxmlformats.org/officeDocument/2006/relationships/viewProps" Target="/ppt/viewProps.xml" Id="Redf2f21affa842c5" /><Relationship Type="http://schemas.openxmlformats.org/officeDocument/2006/relationships/tableStyles" Target="/ppt/tableStyles.xml" Id="R246e7aebd4764168" /><Relationship Type="http://schemas.openxmlformats.org/officeDocument/2006/relationships/slide" Target="/ppt/slides/slide1.xml" Id="Rd807111120674285" /><Relationship Type="http://schemas.openxmlformats.org/officeDocument/2006/relationships/slide" Target="/ppt/slides/slide2.xml" Id="R689741efa1c041d8" /><Relationship Type="http://schemas.openxmlformats.org/officeDocument/2006/relationships/slide" Target="/ppt/slides/slide3.xml" Id="Ra0e8678b5e7d4e48" /><Relationship Type="http://schemas.openxmlformats.org/officeDocument/2006/relationships/slide" Target="/ppt/slides/slide4.xml" Id="Ref00315b9d7c4bb1" /><Relationship Type="http://schemas.openxmlformats.org/officeDocument/2006/relationships/slide" Target="/ppt/slides/slide5.xml" Id="Rc81c8ea8b9ba4994" /><Relationship Type="http://schemas.openxmlformats.org/officeDocument/2006/relationships/slide" Target="/ppt/slides/slide6.xml" Id="R2d734bcf7e0d4f93" /><Relationship Type="http://schemas.openxmlformats.org/officeDocument/2006/relationships/slide" Target="/ppt/slides/slide7.xml" Id="R113bc18e1fe74450" /><Relationship Type="http://schemas.openxmlformats.org/officeDocument/2006/relationships/slide" Target="/ppt/slides/slide8.xml" Id="R64f71688385f4222" /><Relationship Type="http://schemas.openxmlformats.org/officeDocument/2006/relationships/slide" Target="/ppt/slides/slide9.xml" Id="R895e292d8406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9cec710df744f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cb47438e734aad" /><Relationship Type="http://schemas.openxmlformats.org/officeDocument/2006/relationships/notesMaster" Target="/ppt/notesMasters/notesMaster1.xml" Id="R6fc42b235c3c4d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77777eb81849a5" /><Relationship Type="http://schemas.openxmlformats.org/officeDocument/2006/relationships/notesMaster" Target="/ppt/notesMasters/notesMaster1.xml" Id="Rdd1c1ab8294c49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c6d85229b74ffc" /><Relationship Type="http://schemas.openxmlformats.org/officeDocument/2006/relationships/notesMaster" Target="/ppt/notesMasters/notesMaster1.xml" Id="Rf33d1be6041a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5f1cc13ce246cc" /><Relationship Type="http://schemas.openxmlformats.org/officeDocument/2006/relationships/notesMaster" Target="/ppt/notesMasters/notesMaster1.xml" Id="R2b2dfd51348d4b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40643c19d54763" /><Relationship Type="http://schemas.openxmlformats.org/officeDocument/2006/relationships/notesMaster" Target="/ppt/notesMasters/notesMaster1.xml" Id="R3ce83688936444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fc739a61994473" /><Relationship Type="http://schemas.openxmlformats.org/officeDocument/2006/relationships/notesMaster" Target="/ppt/notesMasters/notesMaster1.xml" Id="R1c25dd78cbd94b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4eea392b3f4005" /><Relationship Type="http://schemas.openxmlformats.org/officeDocument/2006/relationships/notesMaster" Target="/ppt/notesMasters/notesMaster1.xml" Id="Rae07611cfdf644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fd86466faf41df" /><Relationship Type="http://schemas.openxmlformats.org/officeDocument/2006/relationships/notesMaster" Target="/ppt/notesMasters/notesMaster1.xml" Id="R276b858fddfe45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2cdd4b2a964da6" /><Relationship Type="http://schemas.openxmlformats.org/officeDocument/2006/relationships/notesMaster" Target="/ppt/notesMasters/notesMaster1.xml" Id="Re1cff1199296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eaa911efe4c5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a16905428ca42f0" /><Relationship Type="http://schemas.openxmlformats.org/officeDocument/2006/relationships/slideLayout" Target="/ppt/slideLayouts/slideLayout2.xml" Id="Re65c15f6dfbd42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5c15f6dfbd42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1d2a2e719428f" /><Relationship Type="http://schemas.openxmlformats.org/officeDocument/2006/relationships/notesSlide" Target="/ppt/notesSlides/notesSlide1.xml" Id="R08eca121008a40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4a4c0e53fc4268" /><Relationship Type="http://schemas.openxmlformats.org/officeDocument/2006/relationships/notesSlide" Target="/ppt/notesSlides/notesSlide2.xml" Id="Rc34006f2ea1c47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184de2c4040bd" /><Relationship Type="http://schemas.openxmlformats.org/officeDocument/2006/relationships/notesSlide" Target="/ppt/notesSlides/notesSlide3.xml" Id="R5f768f717e5b4c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6d015518c437b" /><Relationship Type="http://schemas.openxmlformats.org/officeDocument/2006/relationships/image" Target="/ppt/media/image.png" Id="Rc4f52b9270404c2c" /><Relationship Type="http://schemas.openxmlformats.org/officeDocument/2006/relationships/notesSlide" Target="/ppt/notesSlides/notesSlide4.xml" Id="R256b7ed589214f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9da15c3be4de8" /><Relationship Type="http://schemas.openxmlformats.org/officeDocument/2006/relationships/image" Target="/ppt/media/image2.png" Id="R792e43d455d74718" /><Relationship Type="http://schemas.openxmlformats.org/officeDocument/2006/relationships/notesSlide" Target="/ppt/notesSlides/notesSlide5.xml" Id="Rb3ddb133514f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9e39ed65d64fe4" /><Relationship Type="http://schemas.openxmlformats.org/officeDocument/2006/relationships/notesSlide" Target="/ppt/notesSlides/notesSlide6.xml" Id="R689fbb8a4e7a4f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875b8bde84004" /><Relationship Type="http://schemas.openxmlformats.org/officeDocument/2006/relationships/image" Target="/ppt/media/image3.png" Id="R2c8f4eaa1a0d4f4b" /><Relationship Type="http://schemas.openxmlformats.org/officeDocument/2006/relationships/notesSlide" Target="/ppt/notesSlides/notesSlide7.xml" Id="R3663548c493e4c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1c3aac9724e33" /><Relationship Type="http://schemas.openxmlformats.org/officeDocument/2006/relationships/notesSlide" Target="/ppt/notesSlides/notesSlide8.xml" Id="R608f80fafc884f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57c33f96634628" /><Relationship Type="http://schemas.openxmlformats.org/officeDocument/2006/relationships/notesSlide" Target="/ppt/notesSlides/notesSlide9.xml" Id="R9dc868ce3c6648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7FD2A-B1E1-400D-AF35-9EC00357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7BF06-4B55-4EAF-8A1C-A0EE20BE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370D1-8B9F-495C-95AB-4AC7DD6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D8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9D8FF"/>
                </a:solidFill>
                <a:latin typeface="Aptos"/>
                <a:ea typeface="Aptos"/>
                <a:cs typeface="Aptos"/>
              </a:rPr>
              <a:t>SMART ENERGY ARBITRAGE | DIPLOMA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6AE92-46B4-46CA-B714-1197E7D2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191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Credentialless Academic MVP with HF Decision Transformer shadow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D2BF8-6BC6-45BF-B065-A732838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8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6E8FF"/>
                </a:solidFill>
                <a:latin typeface="Aptos"/>
                <a:ea typeface="Aptos"/>
                <a:cs typeface="Aptos"/>
              </a:rPr>
              <a:t>The product boundary is DAM delivery-day operator preview. DT/LAVA is a research-shadow sequence-policy lane, not a promoted controller.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0F90B-C289-4146-97BD-F24400C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6271C-FB03-465E-99A7-77035777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8474D-610F-4863-8D97-7BEACF9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97,431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B73F9-E8CE-48EC-818B-EF7DF83A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research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FC62A-B4D8-4FBA-BD12-7A5E5BD3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chronological DT shadow train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1E963-C786-49AE-9084-6ECA65DE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E7AE6-4B7E-4B9F-B60F-AB2C4850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F5298-8B4D-42B7-B1B6-11620D2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0057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6940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A1777-5FF9-4D76-9605-41753BC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530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train sequences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D8BCC-DE79-482A-9F87-91689CC9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816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HF DecisionTransformerModel smoke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DAA63-4F9C-4AEB-BF19-62B1C569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69A23-3464-43E1-81E8-52CA8ED9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8B6A2-D754-4562-85B8-8B44D0BA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0057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FF222-1D5D-4493-9D89-033821E1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530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promotable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31177-69D1-4AE5-91BE-ED2EBA34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816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V13 receipts remain blocked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1A99F-4255-40EF-B006-EE613BFE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12395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55"/>
          </a:solidFill>
          <a:ln xmlns:a="http://schemas.openxmlformats.org/drawingml/2006/main" w="9525">
            <a:solidFill>
              <a:srgbClr val="356C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421C7-CA33-4C87-8445-3866346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71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E4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5C"/>
                </a:solidFill>
                <a:latin typeface="Aptos"/>
                <a:ea typeface="Aptos"/>
                <a:cs typeface="Aptos"/>
              </a:rPr>
              <a:t>Fixed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19E24-A733-4D36-9D08-098C9CD3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335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E8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8F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  <a:p xmlns:a="http://schemas.openxmlformats.org/drawingml/2006/main">
            <a:pPr algn="l">
              <a:defRPr sz="900" b="0">
                <a:solidFill>
                  <a:srgbClr val="D6E8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8FF"/>
                </a:solidFill>
                <a:latin typeface="Aptos"/>
                <a:ea typeface="Aptos"/>
                <a:cs typeface="Aptos"/>
              </a:rPr>
              <a:t>no ProposedBid</a:t>
            </a:r>
          </a:p>
          <a:p xmlns:a="http://schemas.openxmlformats.org/drawingml/2006/main">
            <a:pPr algn="l">
              <a:defRPr sz="900" b="0">
                <a:solidFill>
                  <a:srgbClr val="D6E8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8FF"/>
                </a:solidFill>
                <a:latin typeface="Aptos"/>
                <a:ea typeface="Aptos"/>
                <a:cs typeface="Aptos"/>
              </a:rPr>
              <a:t>no market order payload</a:t>
            </a:r>
          </a:p>
          <a:p xmlns:a="http://schemas.openxmlformats.org/drawingml/2006/main">
            <a:pPr algn="l">
              <a:defRPr sz="900" b="0">
                <a:solidFill>
                  <a:srgbClr val="D6E8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8FF"/>
                </a:solidFill>
                <a:latin typeface="Aptos"/>
                <a:ea typeface="Aptos"/>
                <a:cs typeface="Aptos"/>
              </a:rPr>
              <a:t>DT not promoted</a:t>
            </a:r>
          </a:p>
          <a:p xmlns:a="http://schemas.openxmlformats.org/drawingml/2006/main">
            <a:pPr algn="l">
              <a:defRPr sz="900" b="0">
                <a:solidFill>
                  <a:srgbClr val="D6E8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E8FF"/>
                </a:solidFill>
                <a:latin typeface="Aptos"/>
                <a:ea typeface="Aptos"/>
                <a:cs typeface="Aptos"/>
              </a:rPr>
              <a:t>V2+ remains 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80FC3-F119-45CF-AD23-542179B4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D38E81-F589-468C-A0E4-D5DB9E5C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Defense deck generated from local evidence packets | 2026-05-25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0C803-5EA3-41A1-9FB9-84A8F76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89203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F0865-964C-4BAE-9350-F3BFC757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590E4-72EC-4851-B515-765BF918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DBABC-1DFF-4A98-8859-7B0DA64D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C1EDC-2445-4A68-A481-6C8C77D2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8B1C9-D1FF-41DD-B42B-BD83D59C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The diploma MVP passes as operator preview, not as market submission.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75472-D0F3-4D61-894B-66AEEF6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F3C7B-3E18-4965-9893-3C467176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9F06F-7C2B-4E17-AFC6-DC8C7BC6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FAF26-5FE5-4A5C-9092-37304DC3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Academic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6B3B5-96F3-4168-8613-10271EC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credentialless thesis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2A595-B561-46DC-B095-2777DBF3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22AA6-C9A7-42BB-AE3B-7FF22D8F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33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6AFED-96D5-4729-8D00-AEC635FC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76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F96F0-E354-416D-8295-679DE1A8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Market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44D57-5CAE-43F9-BBC1-AA17AF3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 model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76325-52D1-4C8B-8A1F-5DA9E8F3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BB142-EACC-409B-B70E-3F3468DB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33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795F9-5033-48CB-B32D-BCF4EF1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76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70DCB-68CD-405D-AB04-4AFBFB50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DT promotion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4823F-4CF4-4FFF-8969-D2EF0DE9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575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research-shadow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DCDAC-36C9-4A1D-A279-CC1CCBE0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33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26964-A162-461C-8991-3A1079DD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33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23C49-FD0D-4D5B-8373-1D4AF6B5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76475"/>
            <a:ext cx="176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15473-B4B4-4A0A-A120-97183028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Receipt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ECD59-53F3-4541-8DF1-8F38F2A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market-submission claim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CB667-5C50-4CEE-AAFE-71A299E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6075A-D072-46F4-B6F5-D120DE07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8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8247"/>
                </a:solidFill>
                <a:latin typeface="Aptos"/>
                <a:ea typeface="Aptos"/>
                <a:cs typeface="Aptos"/>
              </a:rPr>
              <a:t>What is valid now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83FEE-0CB0-4136-B5BC-BDC9526D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DAM delivery-day recommendation preview for an operator, backed by source-governance and offline regret/value evidence.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45F11-FF96-42DE-8D7F-A912B111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B491A-CC66-4ECD-8D61-3DD50C68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What stays 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285271-38D6-481F-8EC1-F63A2CB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958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Live DAM/IDM bidding, SCMO/OREE receipt proof, ProposedBid emission, market order payloads, and deployed DT/LAVA control.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E54F29-E784-4197-9CF9-A373E05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FB9D5-063A-4F24-B795-894B0317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Academic MVP + DT Shadow evidence | preview only | market_execution_enabled=false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ABE4D1-95A7-4F3A-8529-E3FF7BFB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7864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2EBB2-C01D-47E0-A684-E9B758B4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68826-8DC9-48C1-8261-A39268E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1856E-A6BD-4B33-9243-FCF32C5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65690-51D2-48E3-B782-33887DD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5A2F2-0270-41C8-BB5A-D8E13450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V2+ stays the teacher/fallback while DT is evaluated as an offline challenger.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199CE-4945-4B51-988E-065E8A04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5C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5238B-12DE-4486-9274-8E65D14F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36D04-58AB-4A15-9A29-C565500A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Forecast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D4FF0-DCD9-4DBE-9726-7E871D05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calibrated NBEATSx/TFT coverage and DAM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EB5BA-3A83-435F-B17D-13CB221A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669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A6C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A07-FD70-4B2F-807C-A88A6D3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66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5ABFC-4B62-4F7A-8B8D-E0CCAAC4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81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Candidate schedules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3A9FD-08D8-4267-839E-FE0DBF2F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479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feasible LP schedule families with SOC/value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2EFB5-A76A-4A59-A188-76D56DD1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824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98A9B-1530-46E5-82C5-6F77EB78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4C126-052B-4774-896A-56ACBFE4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V2+ comparator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BD5E5-3C30-4764-9D13-B443F11B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teacher, default strategy, and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977B6-9A2B-4D2D-83CE-9DB87D6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669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D2507-2C5B-4DDE-B858-0C7EFAD9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66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C8350-729C-42DD-9795-E589768E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81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DT shadow lane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C01DB-D92E-436D-8B0A-1E0D5E73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479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candidate-index sequence policy, not raw market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8B5B3-AAAC-40B4-8DCC-772DDD4E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A52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C16C7-B681-4FBB-BBAC-2674D1C1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669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FD8C4-1DAA-46BA-A390-50AEC3DE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Strict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12B16-3A40-435B-82CE-08309893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33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LP/oracle regret, value, safety, rolling robustness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57EAF-4075-4277-B940-18E5DD8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8132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19FBC-06EE-4D56-AED3-D2AEE59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B5CA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3D4593-B115-430B-A31C-39571FB2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8132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78791-20B4-4271-9490-9446DDEE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B5CA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D3966-C8CF-40A9-974D-3445C8BA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8132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1C612-FE5B-4BF5-9A7F-E295256C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B5CA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CA7B8-49CE-4D59-89CA-6A96E1BD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8132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DABC36-C7DA-4FD0-8022-70D9135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B5CA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586665-E987-46A8-9A83-B710B773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B61DDF-1173-4A48-871A-0A5F783C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Policy 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76E460-7AC0-407D-BC74-BE7392A7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244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DT predicts candidate id / schedule family. The selected candidate is expanded into the same hourly charge/discharge/hold table used by the operator preview.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DCE5B-5443-4DC2-B7DF-816EC68B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86B9E2-4E16-4CBF-9BC6-4D5B59C0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Academic MVP + DT Shadow evidence | preview only | market_execution_enabled=false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112321-7736-441D-9185-BBED3CB8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7254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D9796B-9969-43B2-8CD6-85FAA179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60C9C-117D-4954-A8B1-EC6617B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409B9-5796-4D01-977D-183B505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BAD63-7F28-4F90-945F-96C325E6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GATE PASSPORT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97540-7A2F-4B1B-A898-F56273EF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Credentialless gates pass for preview and smoke evidence; source-readiness gates stay blocked.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52b9270404c2c"/>
          <a:stretch xmlns:a="http://schemas.openxmlformats.org/drawingml/2006/main"/>
        </p:blipFill>
        <p:spPr>
          <a:xfrm xmlns:a="http://schemas.openxmlformats.org/drawingml/2006/main">
            <a:off x="2540000" y="1638300"/>
            <a:ext cx="7112000" cy="426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211B7-142F-4CD2-992D-162D7718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4446F-EC24-47EF-AACD-F607E7E4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docs/thesis/demo-day-2/assets/academic-mvp-gate-passport.png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FC4DF-F66D-47A7-818D-EF3BF080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88386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E5FC2-8BB6-4E7F-9E7A-DB9A4A7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AA5C8-B36F-44E6-9CA7-40BD8F3E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63778-0CA3-4B6B-9B2D-8D77C458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35F5E-5966-4649-B748-38A0C59F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DT DATASET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00E9C-6AF3-4659-9B55-AD2984C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The transformer is trained on chronological candidate-policy sequences, not market commands.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e43d455d74718"/>
          <a:stretch xmlns:a="http://schemas.openxmlformats.org/drawingml/2006/main"/>
        </p:blipFill>
        <p:spPr>
          <a:xfrm xmlns:a="http://schemas.openxmlformats.org/drawingml/2006/main">
            <a:off x="952500" y="1657350"/>
            <a:ext cx="66675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B49BA-649B-4D02-BF6B-2979767E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94790-BBCC-4448-BF17-0F6B94C0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8B218-53B3-4AF8-8453-649C46FD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682E1-DC04-4B1D-9074-38C7092E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state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AA900-7A67-4CD0-B425-CDAC368B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forecast + SOC + tenant +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C55CC-C64D-42F9-A329-7174BA3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1C175-2F21-4D1A-9B38-CB2B8CF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7F937-3260-4EB2-AE70-757815E4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992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7300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CE418-3A2C-409C-B0FE-43E3EAAB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623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sequences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6F2AB-A621-4035-944B-1191BEA6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chronological delivery-time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93458-8315-4E44-9137-48174C16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89BFD-21EB-45DF-94FA-3C97A7C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62AA6-84A1-4ACB-B2F1-A9E3097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67225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C877B-8660-4A13-8E01-6B3963E0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eval sequences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7392B-C8CE-46FA-A517-33D3406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482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research-shadow holdout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9DFA7-6608-4972-8522-772121E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85C2B-08CC-4FC3-A467-D6DA022A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Action target: candidate_index_or_schedule_family; raw hourly BUY/SELL/HOLD is not the model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88098-E190-4B22-8F16-CD33D02F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36389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9EFBD-A63B-4C66-BC5C-39241FE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148C4-F268-4244-A59A-757DD4AA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65A9D-190E-419D-B01F-7E6A2857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A066D-1193-466F-B8C7-25EA0CFF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HF TRANSFORMER SMOKE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476C1-ADD1-4639-AA1A-2B198F1B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The HF-backed DecisionTransformerModel path runs, evaluates, and remains non-promoted.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5C22E-26E4-45FA-96DA-FE3D6779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D9DAD-C719-4D1D-80EA-7754ADB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79381-3663-4B92-A3F1-2E6D6F72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HF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351AD-CC56-40DB-9F86-D16AC3C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74F84-DB1E-4C0C-8E2E-79177EF7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huggingface_decision_transformer_model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F1208-A0D1-463C-B394-A532649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6F987-2891-4EB2-8C45-D74AAE92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90E0B-6684-49BF-8DBE-6A6EAD0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574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TRUE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36095-AF32-4429-9114-672D4A57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09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HF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097A4-8000-4F35-A320-B637D349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384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hf_decision_transformer_importable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8AEF4-08DE-42A2-8102-C8EA3BC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145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B5E06-BFDB-409C-9A2B-54521BE1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89438-0F05-463B-9F7E-B7D55A8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574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1.026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F9C95-5FAD-40EC-8CA8-61C9161A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9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train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631DF-CC0E-4ED3-9E0C-1CB3B80E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384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single smoke epoch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7F63A-DEA7-41D9-BB06-215A3923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0DB02-43A5-495E-81D8-3D5C0E03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DF01F-EC7A-4103-AF55-61079E0B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574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B0EDD-7980-4CA8-896E-B8F0334D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infeasible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18C87-D236-413E-8807-D97D4CE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deterministic safety projection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E3D93-081C-462F-A216-69370119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C6558-6ADC-46A2-9644-8990F3F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33E3AF-3C7A-40C7-B5F0-F34CCFFC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27DF5-68E3-4F58-BFC8-F5304E22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90975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0D5FC-716C-431C-99F4-354BDDCF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D67EB-804C-4692-8366-05D864A7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909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91E7BE-601F-4318-AB75-E6C42116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B54AA8-1133-4D54-B40F-B124790F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148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Chronological split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87025E-7363-436E-85C3-16EBAB9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C33C70-B25B-4692-8E2A-9F24E73E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14825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delivery-time split passes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5B6D83-E199-4CE0-B668-E03993C8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105925-8EB8-4E93-9495-A4CCE83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148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 for research shadow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8912B9-6C31-42D7-ACCE-0106572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FCB32E-6014-45E3-B2EA-0024AE3C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Promotion rows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D664A5-23C0-4337-BC50-B3002BC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5D1A65-9B0D-43ED-A854-717CAACE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38675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0 V13-permitted rows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0CC07C-CB68-4C2F-BBCF-AEC706E5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005908-4E40-4E90-8341-6B1D43A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386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block promotion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DADBAD-9075-41B5-972B-24CCA330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C53A3D-4EA3-4A83-B5C9-5FBABDB3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625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Market execution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7E27CD-630F-4D79-ABDF-0CE4D28D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768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40A8F9-9DE7-41C4-AE18-1173EAE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62525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E368E1-FF27-4656-A82A-708C7D89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BD7068-3447-46E2-8C5E-7AB101E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6252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block execution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DBD709-FB22-47F7-93A3-697F3D7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112C96-70C6-4EFA-A589-2F21282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V2+ role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BB822A-45F2-4E64-A13B-ECB9754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006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587AF9-DD38-4B55-8D96-1A2B741A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86375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teacher/comparator/fallback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DD097C-8965-43D1-99B6-EE105711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006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B388A9-2CFE-47A2-A2F0-E43E0BC5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863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keep default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4E7447-97D6-498C-9B26-71459FF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B45EF8-BF85-4BDE-A188-01C0443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Academic MVP + DT Shadow evidence | preview only | market_execution_enabled=false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FB994C-F578-4934-8166-2CA50E8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8704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49BAC-7C17-4701-8A83-29CC76EC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9BEF4-E70F-4F53-B984-B4079DE5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91C0B-3EB5-4F40-BB83-9F4D24CE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0B377-29C1-488E-861F-DAC84E7D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REGRET/VALUE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6E00A-F07A-4BAF-A17D-D6A70D8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DT is useful diagnostic evidence because it is scored against V2+, strict reference, and behavior cloning.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f4eaa1a0d4f4b"/>
          <a:stretch xmlns:a="http://schemas.openxmlformats.org/drawingml/2006/main"/>
        </p:blipFill>
        <p:spPr>
          <a:xfrm xmlns:a="http://schemas.openxmlformats.org/drawingml/2006/main">
            <a:off x="933450" y="1657350"/>
            <a:ext cx="66675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0C1C4-57EF-4602-B683-03D0EBBF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76400"/>
            <a:ext cx="27622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EFCCC-B2B8-45CD-8AD9-0397A898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Current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0D693-DC07-43E2-99BD-0635231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28247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28247"/>
                </a:solidFill>
                <a:latin typeface="Aptos"/>
                <a:ea typeface="Aptos"/>
                <a:cs typeface="Aptos"/>
              </a:rPr>
              <a:t>DT vs V2+ regret: -2.92 UAH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41970-74DA-4C92-BFAE-5F6B7190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86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DT vs strict regret: +76.20 UAH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4B0DC-56F4-47B4-812B-EE877DE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Interpretation: HF DT smoke slightly beats V2+/BC on this eval slice, but strict reference still wins. That means prototype works; promotion does not pass.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45109-A79D-439D-9314-E5FD51FD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28FFF-C863-4096-8498-1132B21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Primary metric is regret/value; accuracy remains secondary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B3A07-13C6-4702-90C0-28A7FC7F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83732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8D8F74-B8FF-4893-87C8-DD2EF48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026F3-8B2C-4F4C-BC2B-757B95B7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28898-F963-461D-8AFF-3868CD76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D3582-9C16-4512-A05A-ECB0BFE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OPERATOR SWITCH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1C657-8F4F-433B-A443-09738C86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The dashboard now separates default recommendation from manual DT/shadow inspection.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EECBE-3813-4653-AA61-07504319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0">
            <a:solidFill>
              <a:srgbClr val="ECFD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D9A71-F983-4790-ADF5-E5F20BE1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057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Best valid 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B9E6C-494F-4C38-9993-81A81A3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FF"/>
          </a:solidFill>
          <a:ln xmlns:a="http://schemas.openxmlformats.org/drawingml/2006/main" w="0">
            <a:solidFill>
              <a:srgbClr val="F4F0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A8CB3-A1F6-4929-BA1B-9980F808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145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C1D9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C1D95"/>
                </a:solidFill>
                <a:latin typeface="Aptos"/>
                <a:ea typeface="Aptos"/>
                <a:cs typeface="Aptos"/>
              </a:rPr>
              <a:t>DT Shadow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F2FEC-3888-43B6-B1A6-08BEA147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38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6F536-F899-48A1-90F4-06A821BC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145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Poland/TFT Shadow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6DC7D-7FA5-48B5-966B-149D0B8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383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FF7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6B5BE-316B-40B1-9BBF-84D94B88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DFL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35ABE-63C7-472D-9525-AF3FBA1C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2"/>
          </a:solidFill>
          <a:ln xmlns:a="http://schemas.openxmlformats.org/drawingml/2006/main" w="0">
            <a:solidFill>
              <a:srgbClr val="FEF3F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94D7F-58A1-4390-8B9D-92D2C3EC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145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991B1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91B1B"/>
                </a:solidFill>
                <a:latin typeface="Aptos"/>
                <a:ea typeface="Aptos"/>
                <a:cs typeface="Aptos"/>
              </a:rPr>
              <a:t>V13/DT/LAVA 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6A78A-9AE9-44F3-B480-BBEC3506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533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B9F0A-84EF-4E1E-8518-5252944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82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8247"/>
                </a:solidFill>
                <a:latin typeface="Aptos"/>
                <a:ea typeface="Aptos"/>
                <a:cs typeface="Aptos"/>
              </a:rPr>
              <a:t>Default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C1B55-5D5E-4C77-A103-63F9585A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schedule_value_learner_v2_plus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D2BCE-2651-4679-BD70-CE805AB8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Best honest/gate-passed strategy. V2+ remains teacher, comparator, and fallback.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39D51-8FB3-4D0E-BB8C-5B8A4196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45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4545"/>
                </a:solidFill>
                <a:latin typeface="Aptos"/>
                <a:ea typeface="Aptos"/>
                <a:cs typeface="Aptos"/>
              </a:rPr>
              <a:t>No DT default switch.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747A4-48A0-4896-94DF-D18A97EF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953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2D6B6-BE1D-41ED-BD7F-7812731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DT Shadow preview 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E2A2E-E24D-4FAB-9DF6-8906E76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88362-3ABC-4442-B9E3-324C431E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385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00914-6E6B-40F1-B879-145AB34C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528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613615-C035-43E3-B074-27597E5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85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F820F-5799-4645-88A7-1E11E47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7656CA-FE60-460E-89F0-D6E63E9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385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8B922-33D0-42EC-9278-36113088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528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3A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A051D-FCBA-4894-A14B-FA501E24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385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65F005-0D50-46F4-9675-8A966F6B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8FBE2-60FC-4DEF-9CEF-526D85D9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623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00:00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1F3CB-8AC2-4513-A42D-F7C6674A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6F3FC2-FAC8-40CA-B6DA-8FD8426D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623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809673-A3B4-4145-BB56-94DADBA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084073-1872-4108-AD45-90587885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623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61A32E-2C11-431A-8AFB-25D0F68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044498-46E5-488D-ADF1-14820C2B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623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114D17-A1EC-4938-B829-83ACFEF3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17AB6-7E26-4116-97D8-09DBE41B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481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01:00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EE5E23-44E5-4DE2-B667-8CAEFA58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62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53B4AF-2E68-483C-BF1B-85625E2D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discharge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73DDC2-1E05-4705-9BA1-5632811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624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AB7F78-16E7-45ED-9945-FB06EF63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481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0.080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62CEE4-C4A8-4A2E-958E-B93FA72E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624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6D0214-A601-49D4-B3CE-8C3799A2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481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D11C7C-F900-4EBD-8741-79481120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E9E8B0-BE7E-4FF0-B891-E8E7426B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338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04:00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EE89D6-9FB2-46C7-870B-81F01B50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BA36C9-94DF-4CDB-ADEC-C534799F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338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charge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59EA23-F6DA-48C6-922D-AC34A06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9AFEE1-41A2-4C2D-862D-DD189B8A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338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0.250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4CE848-E1FF-439A-8003-2A4397D0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481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E2EB0A-156F-4921-930D-482D4328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338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98DA98-2320-4EFB-8E6C-FEA98231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012D7C-854F-4441-B650-FF7FB8FD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96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06:00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AB434C-B021-4F57-B62D-2584CE90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339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F70720-5251-4A0F-8336-3B23E9F4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196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discharge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D16DB9-8C62-41B0-ADF6-23C93E54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339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4BA324-A2D6-4E2F-8619-682249F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96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0.182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AFBFA6-9D3B-4219-B512-1695F0A7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339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5715">
            <a:solidFill>
              <a:srgbClr val="D0D5DD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D53B77-822C-407D-BD39-E6E60241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196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FBDC40-BB11-40A2-8933-F1D41484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Selected family: frozen_v2_plus_fallback. This is still DT's selected candidate for this tenant snapshot.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81F4ED-100C-4CB4-895A-27CFA0DA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E07CF2-F6F3-42C0-BD34-2A8C6DB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Manual shadow preview endpoint: /dashboard/shadow-recommendation-preview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F4FFD6-85CF-4791-AB2C-255022FB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07614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26548-7643-409D-806C-FB7B75C7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BF167-7FAC-4CA4-B368-28BFF697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B4F8A-37F8-4EFB-9510-FF5D66C2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8B4BC-4E1D-4847-91CE-FE61B690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NEXT PROMOTION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33458-7B81-447B-82AD-C789570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81A3A"/>
                </a:solidFill>
                <a:latin typeface="Aptos Display"/>
                <a:ea typeface="Aptos Display"/>
                <a:cs typeface="Aptos Display"/>
              </a:rPr>
              <a:t>Move quickly toward real DFL/DT by promoting only through strict offline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B7948-C8E2-427E-B9F2-1AF907FD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25E29-C385-4207-ADB7-DB53B09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55F50-06C3-4D82-BFDE-85089F0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824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8247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259AF-4830-4B1E-BF52-34F20670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Freeze V2+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100DF-A94A-4C98-9CD9-54D3202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Keep V2+ as default teacher/comparator/fallback.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5AA8A-2405-43BF-8AE5-679EC509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956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81DD2-3DB5-4C35-86BB-5629CABC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28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124F6-3300-4CD5-AAF1-CCD2DB2B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764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8B6C0-7437-48ED-89E0-32D7A3AC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76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62FF6-32F4-4669-8678-92C4E3D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C478D-F63D-4CE7-8911-7353B190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Train challenger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4DEB1-EDF4-4C23-85F3-CDB55204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Candidate id or schedule-family DT on chronological splits.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87459-A8A7-418D-9D76-FC348C9F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871BB-90D5-4FE8-B6A6-44BD34EB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D1F6A-40CE-4311-9A79-A2FF906B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50912-85B2-4970-85C7-2CA533BD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79B27-BB8A-4EB3-BEBC-5AE8709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F488A-6144-4836-91A4-25E0FD9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Score through strict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400D1-709F-4887-8649-EA67935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623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LP/oracle regret and value vs V2+, strict, and BC.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7C378-1187-4A54-80AE-EE71C4BA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452E93-D480-403D-97A0-8FCFEB56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28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44657-4617-4B41-976B-964A893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B5F05B-1DD0-44BD-9E06-23A3647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FD3F9-1D77-4D81-B24F-7F8A7B8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A52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5A52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484A5-C1B7-4DC4-87DB-05330C72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Require robustness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35927-17BA-4F68-9264-4EA4B38B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623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Lower mean regret, no median degradation, 4/4 rolling windows.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050A96-5E6A-4115-93DB-F3EAD2C4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2D18A-9684-4F4D-8EEE-72ACF7D9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289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75C01B-01D3-4B5D-9162-997F627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764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B4CA6-5770-4FE1-BE31-EAB45A4C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764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4AA300-A503-4B17-8030-D8304344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64545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77F8FF-1EB5-413B-B043-33E986AB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Keep no-execution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E3505-053A-4F99-A0BE-299A19A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Zero safety violations and market_execution_enabled=false.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CC1529-F401-410F-82C2-D09B8AA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885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9C0501-8CD3-4B17-87E3-BBCF2EF2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6730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1A3A"/>
                </a:solidFill>
                <a:latin typeface="Aptos"/>
                <a:ea typeface="Aptos"/>
                <a:cs typeface="Aptos"/>
              </a:rPr>
              <a:t>SCMO credentials are not required for this academic promotion experiment.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84B199-8E73-4AC1-B90E-BC5CB600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53050"/>
            <a:ext cx="657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They only block market-submission-grade publication receipt readiness.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46DE0D-4F94-4D88-AB36-F5FC9AD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2A25EB-6EDE-476B-8C59-24BF91B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Next step: strict LP/oracle DT challenger benchmark, not market execution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0A58AC-611D-4D30-80CA-C49C779D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9306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2026-05-25T12:37:51.4030000Z</dcterms:created>
  <dcterms:modified xsi:type="dcterms:W3CDTF">2026-05-25T12:37:51.4030000Z</dcterms:modified>
</coreProperties>
</file>