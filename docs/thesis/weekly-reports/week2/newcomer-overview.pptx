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a164c99fe1d4864" /><Relationship Type="http://schemas.openxmlformats.org/officeDocument/2006/relationships/extended-properties" Target="/docProps/app.xml" Id="R8fcb7e4864ca4b5d" /><Relationship Type="http://schemas.openxmlformats.org/officeDocument/2006/relationships/officeDocument" Target="/ppt/presentation.xml" Id="R7bad47ebaada4ec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0c14eedff2a408f"/>
  </p:sldMasterIdLst>
  <p:notesMasterIdLst>
    <p:notesMasterId xmlns:r="http://schemas.openxmlformats.org/officeDocument/2006/relationships" r:id="Re8066916e26e48ed"/>
  </p:notesMasterIdLst>
  <p:sldIdLst>
    <p:sldId xmlns:r="http://schemas.openxmlformats.org/officeDocument/2006/relationships" id="256" r:id="R42c079449a8d4aa5"/>
    <p:sldId xmlns:r="http://schemas.openxmlformats.org/officeDocument/2006/relationships" id="257" r:id="R05ba0567937b46b1"/>
    <p:sldId xmlns:r="http://schemas.openxmlformats.org/officeDocument/2006/relationships" id="258" r:id="R50962e67c62f4ada"/>
    <p:sldId xmlns:r="http://schemas.openxmlformats.org/officeDocument/2006/relationships" id="259" r:id="Rfb12dfe2c3014bfe"/>
    <p:sldId xmlns:r="http://schemas.openxmlformats.org/officeDocument/2006/relationships" id="260" r:id="R325df7dd751b4edf"/>
    <p:sldId xmlns:r="http://schemas.openxmlformats.org/officeDocument/2006/relationships" id="261" r:id="Rf019f76cda794a60"/>
    <p:sldId xmlns:r="http://schemas.openxmlformats.org/officeDocument/2006/relationships" id="262" r:id="Rd5470c04b3944c83"/>
    <p:sldId xmlns:r="http://schemas.openxmlformats.org/officeDocument/2006/relationships" id="263" r:id="Re2b1067578b244d4"/>
    <p:sldId xmlns:r="http://schemas.openxmlformats.org/officeDocument/2006/relationships" id="264" r:id="R819fe93112e3499e"/>
    <p:sldId xmlns:r="http://schemas.openxmlformats.org/officeDocument/2006/relationships" id="265" r:id="R4f35dbdfc9444f30"/>
    <p:sldId xmlns:r="http://schemas.openxmlformats.org/officeDocument/2006/relationships" id="266" r:id="Rf1e8bc7a95654710"/>
    <p:sldId xmlns:r="http://schemas.openxmlformats.org/officeDocument/2006/relationships" id="267" r:id="Rc63944f0a3be43ce"/>
    <p:sldId xmlns:r="http://schemas.openxmlformats.org/officeDocument/2006/relationships" id="268" r:id="Rc0f2da36271e4977"/>
    <p:sldId xmlns:r="http://schemas.openxmlformats.org/officeDocument/2006/relationships" id="269" r:id="R93eb1610c197417b"/>
    <p:sldId xmlns:r="http://schemas.openxmlformats.org/officeDocument/2006/relationships" id="270" r:id="R4af62ac63a3a4a2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c14eedff2a408f" /><Relationship Type="http://schemas.openxmlformats.org/officeDocument/2006/relationships/theme" Target="/ppt/theme/theme1.xml" Id="R063af9e350594b44" /><Relationship Type="http://schemas.openxmlformats.org/officeDocument/2006/relationships/notesMaster" Target="/ppt/notesMasters/notesMaster1.xml" Id="Re8066916e26e48ed" /><Relationship Type="http://schemas.openxmlformats.org/officeDocument/2006/relationships/presProps" Target="/ppt/presProps.xml" Id="Rcf7e108a24744da5" /><Relationship Type="http://schemas.openxmlformats.org/officeDocument/2006/relationships/viewProps" Target="/ppt/viewProps.xml" Id="Re2ebcd7211514f1b" /><Relationship Type="http://schemas.openxmlformats.org/officeDocument/2006/relationships/tableStyles" Target="/ppt/tableStyles.xml" Id="R43f8803ebb9b472f" /><Relationship Type="http://schemas.openxmlformats.org/officeDocument/2006/relationships/slide" Target="/ppt/slides/slide1.xml" Id="R42c079449a8d4aa5" /><Relationship Type="http://schemas.openxmlformats.org/officeDocument/2006/relationships/slide" Target="/ppt/slides/slide2.xml" Id="R05ba0567937b46b1" /><Relationship Type="http://schemas.openxmlformats.org/officeDocument/2006/relationships/slide" Target="/ppt/slides/slide3.xml" Id="R50962e67c62f4ada" /><Relationship Type="http://schemas.openxmlformats.org/officeDocument/2006/relationships/slide" Target="/ppt/slides/slide4.xml" Id="Rfb12dfe2c3014bfe" /><Relationship Type="http://schemas.openxmlformats.org/officeDocument/2006/relationships/slide" Target="/ppt/slides/slide5.xml" Id="R325df7dd751b4edf" /><Relationship Type="http://schemas.openxmlformats.org/officeDocument/2006/relationships/slide" Target="/ppt/slides/slide6.xml" Id="Rf019f76cda794a60" /><Relationship Type="http://schemas.openxmlformats.org/officeDocument/2006/relationships/slide" Target="/ppt/slides/slide7.xml" Id="Rd5470c04b3944c83" /><Relationship Type="http://schemas.openxmlformats.org/officeDocument/2006/relationships/slide" Target="/ppt/slides/slide8.xml" Id="Re2b1067578b244d4" /><Relationship Type="http://schemas.openxmlformats.org/officeDocument/2006/relationships/slide" Target="/ppt/slides/slide9.xml" Id="R819fe93112e3499e" /><Relationship Type="http://schemas.openxmlformats.org/officeDocument/2006/relationships/slide" Target="/ppt/slides/slide10.xml" Id="R4f35dbdfc9444f30" /><Relationship Type="http://schemas.openxmlformats.org/officeDocument/2006/relationships/slide" Target="/ppt/slides/slide11.xml" Id="Rf1e8bc7a95654710" /><Relationship Type="http://schemas.openxmlformats.org/officeDocument/2006/relationships/slide" Target="/ppt/slides/slide12.xml" Id="Rc63944f0a3be43ce" /><Relationship Type="http://schemas.openxmlformats.org/officeDocument/2006/relationships/slide" Target="/ppt/slides/slide13.xml" Id="Rc0f2da36271e4977" /><Relationship Type="http://schemas.openxmlformats.org/officeDocument/2006/relationships/slide" Target="/ppt/slides/slide14.xml" Id="R93eb1610c197417b" /><Relationship Type="http://schemas.openxmlformats.org/officeDocument/2006/relationships/slide" Target="/ppt/slides/slide15.xml" Id="R4af62ac63a3a4a2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7c76d348f6ef40b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d84474d6e794136" /><Relationship Type="http://schemas.openxmlformats.org/officeDocument/2006/relationships/notesMaster" Target="/ppt/notesMasters/notesMaster1.xml" Id="Rf94ec41326b94cd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0fc43c666de4121" /><Relationship Type="http://schemas.openxmlformats.org/officeDocument/2006/relationships/notesMaster" Target="/ppt/notesMasters/notesMaster1.xml" Id="R5c7137e598074af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25f7accddc34669" /><Relationship Type="http://schemas.openxmlformats.org/officeDocument/2006/relationships/notesMaster" Target="/ppt/notesMasters/notesMaster1.xml" Id="R972d546f30b9484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7d6b8cbe0ab49a8" /><Relationship Type="http://schemas.openxmlformats.org/officeDocument/2006/relationships/notesMaster" Target="/ppt/notesMasters/notesMaster1.xml" Id="Rfee34fda8bce40b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eda1053fa634b6a" /><Relationship Type="http://schemas.openxmlformats.org/officeDocument/2006/relationships/notesMaster" Target="/ppt/notesMasters/notesMaster1.xml" Id="Rd5dc4cd9934b43d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07763f7bad64194" /><Relationship Type="http://schemas.openxmlformats.org/officeDocument/2006/relationships/notesMaster" Target="/ppt/notesMasters/notesMaster1.xml" Id="R69bc508122cb47d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05d93592cfa4b06" /><Relationship Type="http://schemas.openxmlformats.org/officeDocument/2006/relationships/notesMaster" Target="/ppt/notesMasters/notesMaster1.xml" Id="Rc24b2e13b2de43a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421ba3228a04023" /><Relationship Type="http://schemas.openxmlformats.org/officeDocument/2006/relationships/notesMaster" Target="/ppt/notesMasters/notesMaster1.xml" Id="R77e37eb9832e4ee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8466c7ed45143cb" /><Relationship Type="http://schemas.openxmlformats.org/officeDocument/2006/relationships/notesMaster" Target="/ppt/notesMasters/notesMaster1.xml" Id="R53a6f0547c06405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2bf5168e2f347c8" /><Relationship Type="http://schemas.openxmlformats.org/officeDocument/2006/relationships/notesMaster" Target="/ppt/notesMasters/notesMaster1.xml" Id="R461ec112d942484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3bfc795c622411e" /><Relationship Type="http://schemas.openxmlformats.org/officeDocument/2006/relationships/notesMaster" Target="/ppt/notesMasters/notesMaster1.xml" Id="R6fd6d2df89954bb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7e2ff481bf8428b" /><Relationship Type="http://schemas.openxmlformats.org/officeDocument/2006/relationships/notesMaster" Target="/ppt/notesMasters/notesMaster1.xml" Id="Re0e282db85be41d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af3993f34fa4084" /><Relationship Type="http://schemas.openxmlformats.org/officeDocument/2006/relationships/notesMaster" Target="/ppt/notesMasters/notesMaster1.xml" Id="Rac3ed23fa968485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aa0ec7cb06d4ff9" /><Relationship Type="http://schemas.openxmlformats.org/officeDocument/2006/relationships/notesMaster" Target="/ppt/notesMasters/notesMaster1.xml" Id="R612a850684544d9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e7228d91d124b88" /><Relationship Type="http://schemas.openxmlformats.org/officeDocument/2006/relationships/notesMaster" Target="/ppt/notesMasters/notesMaster1.xml" Id="R171add8704d0492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20a38a5b734954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636bc1b6ab07442a" /><Relationship Type="http://schemas.openxmlformats.org/officeDocument/2006/relationships/slideLayout" Target="/ppt/slideLayouts/slideLayout2.xml" Id="Rb1e68df0b56846e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1e68df0b56846e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a4e3bae4b3c46f5" /><Relationship Type="http://schemas.openxmlformats.org/officeDocument/2006/relationships/notesSlide" Target="/ppt/notesSlides/notesSlide1.xml" Id="R445043797e82414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3885325f6f0486f" /><Relationship Type="http://schemas.openxmlformats.org/officeDocument/2006/relationships/notesSlide" Target="/ppt/notesSlides/notesSlide2.xml" Id="Rf4cc8fba2f2e490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85d17ea86304ab4" /><Relationship Type="http://schemas.openxmlformats.org/officeDocument/2006/relationships/notesSlide" Target="/ppt/notesSlides/notesSlide3.xml" Id="R5185a50ce5f0488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204aa99e2b149ac" /><Relationship Type="http://schemas.openxmlformats.org/officeDocument/2006/relationships/notesSlide" Target="/ppt/notesSlides/notesSlide4.xml" Id="R83e8861358674f5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1aca01297924463" /><Relationship Type="http://schemas.openxmlformats.org/officeDocument/2006/relationships/notesSlide" Target="/ppt/notesSlides/notesSlide5.xml" Id="R2b97e2f1d3cd4a1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99a2b4b9e634d64" /><Relationship Type="http://schemas.openxmlformats.org/officeDocument/2006/relationships/notesSlide" Target="/ppt/notesSlides/notesSlide6.xml" Id="Rf8fa145a025b4d9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e84b4fb0dee4134" /><Relationship Type="http://schemas.openxmlformats.org/officeDocument/2006/relationships/notesSlide" Target="/ppt/notesSlides/notesSlide7.xml" Id="Re1cae3564012416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23773b1783146b4" /><Relationship Type="http://schemas.openxmlformats.org/officeDocument/2006/relationships/notesSlide" Target="/ppt/notesSlides/notesSlide8.xml" Id="R1d3f9d7fb02a4f1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124b1ed41584612" /><Relationship Type="http://schemas.openxmlformats.org/officeDocument/2006/relationships/notesSlide" Target="/ppt/notesSlides/notesSlide9.xml" Id="R9fb4d9d623674c2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762d703e0264467" /><Relationship Type="http://schemas.openxmlformats.org/officeDocument/2006/relationships/notesSlide" Target="/ppt/notesSlides/notesSlide10.xml" Id="Raddc67446c8e444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8667f7dabd04a21" /><Relationship Type="http://schemas.openxmlformats.org/officeDocument/2006/relationships/notesSlide" Target="/ppt/notesSlides/notesSlide11.xml" Id="Recd275566674479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fb5d5f825164889" /><Relationship Type="http://schemas.openxmlformats.org/officeDocument/2006/relationships/notesSlide" Target="/ppt/notesSlides/notesSlide12.xml" Id="Rc1a3713835a94e9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653487f96de4b4e" /><Relationship Type="http://schemas.openxmlformats.org/officeDocument/2006/relationships/notesSlide" Target="/ppt/notesSlides/notesSlide13.xml" Id="R51cdb16d6d56432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ade95d9bd2c47c6" /><Relationship Type="http://schemas.openxmlformats.org/officeDocument/2006/relationships/notesSlide" Target="/ppt/notesSlides/notesSlide14.xml" Id="R421dd99c784e465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5640f3f77164c67" /><Relationship Type="http://schemas.openxmlformats.org/officeDocument/2006/relationships/notesSlide" Target="/ppt/notesSlides/notesSlide15.xml" Id="R078fa809a0e6408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02E7C4A-2D01-4E7D-A7B1-9640D9A3B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639D72-1EB4-4AE4-B8F5-46E7AC48C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0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891B85-556E-4300-A1BB-2ED39C2ED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FFF295-7960-4F5C-8ADA-77972D1B9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29375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112F10-EB1C-4BDC-84DF-0FACF384F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6096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637083"/>
                </a:solidFill>
                <a:latin typeface="Aptos"/>
                <a:ea typeface="Aptos"/>
                <a:cs typeface="Aptos"/>
              </a:rPr>
              <a:t>NEWCOMER OVERVIEW / WEEK2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D959EE-FB53-4F3A-B9C1-41A2672C2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0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37083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26DC0E-F3AF-4941-9409-83F2DBD72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0"/>
            <a:ext cx="4210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0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812683-F139-4C9E-A1DD-17D52227D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0"/>
            <a:ext cx="1047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1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C4B608-0443-413D-B251-8D4B874E7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95350"/>
            <a:ext cx="5238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52238"/>
                </a:solidFill>
                <a:latin typeface="Aptos Display"/>
                <a:ea typeface="Aptos Display"/>
                <a:cs typeface="Aptos Display"/>
              </a:defRPr>
            </a:pPr>
            <a:r>
              <a:rPr sz="3900" b="1">
                <a:solidFill>
                  <a:srgbClr val="152238"/>
                </a:solidFill>
                <a:latin typeface="Aptos Display"/>
                <a:ea typeface="Aptos Display"/>
                <a:cs typeface="Aptos Display"/>
              </a:rPr>
              <a:t>Newcomer</a:t>
            </a:r>
          </a:p>
          <a:p xmlns:a="http://schemas.openxmlformats.org/drawingml/2006/main">
            <a:pPr algn="l">
              <a:defRPr sz="3900" b="1">
                <a:solidFill>
                  <a:srgbClr val="152238"/>
                </a:solidFill>
                <a:latin typeface="Aptos Display"/>
                <a:ea typeface="Aptos Display"/>
                <a:cs typeface="Aptos Display"/>
              </a:defRPr>
            </a:pPr>
            <a:r>
              <a:rPr sz="3900" b="1">
                <a:solidFill>
                  <a:srgbClr val="152238"/>
                </a:solidFill>
                <a:latin typeface="Aptos Display"/>
                <a:ea typeface="Aptos Display"/>
                <a:cs typeface="Aptos Display"/>
              </a:rPr>
              <a:t>overview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32D759-C6E6-4B70-94E1-9B3F6A9AC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52675"/>
            <a:ext cx="571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749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E7490"/>
                </a:solidFill>
                <a:latin typeface="Aptos"/>
                <a:ea typeface="Aptos"/>
                <a:cs typeface="Aptos"/>
              </a:rPr>
              <a:t>Smart Energy Arbitrage for BESS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6EDD54-2624-4E70-B0EB-05ED0989C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0"/>
            <a:ext cx="5905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A practical map of what the repository does, where the important files live, and what a newcomer should learn next.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5D708D-D489-410D-B271-66C2DBEED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0"/>
            <a:ext cx="5810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BC3131-0170-4247-9AE2-67AB18AD9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0"/>
            <a:ext cx="57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44FA2B-F561-4AE1-B67A-667FCE07C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67200"/>
            <a:ext cx="5429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52238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52238"/>
                </a:solidFill>
                <a:latin typeface="Aptos"/>
                <a:ea typeface="Aptos"/>
                <a:cs typeface="Aptos"/>
              </a:rPr>
              <a:t>Current system: recommendation preview, not live market execution.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B512FD-EEF0-47E2-A3B4-351B521EC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863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DFCDA3-9563-4C0C-93C2-73CFDA71F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19700"/>
            <a:ext cx="5734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5223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52238"/>
                </a:solidFill>
                <a:latin typeface="Aptos"/>
                <a:ea typeface="Aptos"/>
                <a:cs typeface="Aptos"/>
              </a:rPr>
              <a:t>Ukraine-focused BESS / hourly DAM baseline MVP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10C9BB-7D1F-4BCE-88ED-D77AC9445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483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EF86AC-E99A-442D-B9F2-2C6E12007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81650"/>
            <a:ext cx="5734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5223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52238"/>
                </a:solidFill>
                <a:latin typeface="Aptos"/>
                <a:ea typeface="Aptos"/>
                <a:cs typeface="Aptos"/>
              </a:rPr>
              <a:t>Backend, Dagster assets, FastAPI, Nuxt dashboard, thesis artifacts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4E19C7-E4DD-41A8-AE43-9B82CDD4A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87630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DC68AB-AE65-430C-AAB9-47FF9D844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028700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4448A6-2EE4-4C32-ACB6-9F011835C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9144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Data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2760AB-FB07-41EE-8175-3E9B05827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257300"/>
            <a:ext cx="2000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9D4E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9D4E4"/>
                </a:solidFill>
                <a:latin typeface="Aptos"/>
                <a:ea typeface="Aptos"/>
                <a:cs typeface="Aptos"/>
              </a:rPr>
              <a:t>tenant, weather, market, telemetry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3052AC-D9B1-42C2-A381-7E5A62D43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543050"/>
            <a:ext cx="19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77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67E9BC-F83D-4A94-9C8F-C3645EDA4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01930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C74898-EDEF-4E3F-8B19-770F0E698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171700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2B0639D-7299-41C4-91A6-CC1A22197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0574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Forecast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2DC5CC2-34C2-4854-A330-AFACF5504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400300"/>
            <a:ext cx="2000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9D4E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9D4E4"/>
                </a:solidFill>
                <a:latin typeface="Aptos"/>
                <a:ea typeface="Aptos"/>
                <a:cs typeface="Aptos"/>
              </a:rPr>
              <a:t>strict similar-day plus research candidates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FB8301B-FBB4-443C-815B-0D38D1152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86050"/>
            <a:ext cx="19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77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47904FD-412A-4207-A1D0-5FC1290D8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16230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1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38DA02E-4206-4CEC-97C0-98D39F27A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314700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6BF6D8A-16CE-45CE-A49E-81073FB8B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2004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Optimize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8761F65-194C-441C-B559-2C6248AD7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543300"/>
            <a:ext cx="2000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9D4E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9D4E4"/>
                </a:solidFill>
                <a:latin typeface="Aptos"/>
                <a:ea typeface="Aptos"/>
                <a:cs typeface="Aptos"/>
              </a:rPr>
              <a:t>LP baseline with SOC and degradation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8971A14-2402-4B1F-82A4-9F9D8C216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829050"/>
            <a:ext cx="19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77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A31E7D9-1B4F-4BB3-8CEE-FDA61B53F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30530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5B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1F32DD6-7ED1-4B8C-93ED-DA21AFFEA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457700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C1ACC3D-FD99-4631-A6B4-7F67A2E9A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3434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Preview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D61C13B-E860-4852-A1D2-8EB74CD95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686300"/>
            <a:ext cx="2000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9D4E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9D4E4"/>
                </a:solidFill>
                <a:latin typeface="Aptos"/>
                <a:ea typeface="Aptos"/>
                <a:cs typeface="Aptos"/>
              </a:rPr>
              <a:t>API read models and operator dashboard</a:t>
            </a:r>
          </a:p>
        </p:txBody>
      </p:sp>
    </p:spTree>
    <p:extLst>
      <p:ext uri="{BB962C8B-B14F-4D97-AF65-F5344CB8AC3E}">
        <p14:creationId xmlns:p14="http://schemas.microsoft.com/office/powerpoint/2010/main" val="197629277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92C6F62-49A2-414A-8A59-5E7EBA88D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C4DFB3-BBDF-4B4C-9947-13642227F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0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0B76B3-E8E7-402A-A383-71101A1F1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8A1561-C816-4FE7-B287-5C966B599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29375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F01992-214D-4718-8DEC-58875D871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6096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637083"/>
                </a:solidFill>
                <a:latin typeface="Aptos"/>
                <a:ea typeface="Aptos"/>
                <a:cs typeface="Aptos"/>
              </a:rPr>
              <a:t>NEWCOMER OVERVIEW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7D2811-F2DB-4056-A0A4-6CC8D6726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0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37083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B108C2-29D9-4673-9E96-6CFD2F2EC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76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kicker-Mental model">
            <a:extLst xmlns:a="http://schemas.openxmlformats.org/drawingml/2006/main">
              <a:ext uri="{FF2B5EF4-FFF2-40B4-BE49-F238E27FC236}">
                <a16:creationId xmlns:a16="http://schemas.microsoft.com/office/drawing/2014/main" id="{2B0B75D3-6B97-45BE-A6F4-0FFF0F3E8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637083"/>
                </a:solidFill>
                <a:latin typeface="Aptos"/>
                <a:ea typeface="Aptos"/>
                <a:cs typeface="Aptos"/>
              </a:rPr>
              <a:t>M E N T A L   M O D E 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2B8781-D287-403A-AA9B-A9875D449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8572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2238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52238"/>
                </a:solidFill>
                <a:latin typeface="Aptos Display"/>
                <a:ea typeface="Aptos Display"/>
                <a:cs typeface="Aptos Display"/>
              </a:rPr>
              <a:t>The repo is an operator-preview pipeline, not a live trading bot.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2DEDF3-BBD3-4598-B93C-4FB324FB4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A newcomer should first understand the path from tenant context to a safe operator-facing recommendation.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4DDD2C-D40C-4953-ACB9-A16EDDB1A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19375"/>
            <a:ext cx="14859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CC1959-39E1-4240-BF08-B04C7B529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19375"/>
            <a:ext cx="14859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315246-6163-485F-8292-0E3B465A9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71775"/>
            <a:ext cx="1219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52238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52238"/>
                </a:solidFill>
                <a:latin typeface="Aptos"/>
                <a:ea typeface="Aptos"/>
                <a:cs typeface="Aptos"/>
              </a:rPr>
              <a:t>Resolve tenant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F1BA68-6149-4426-8DE0-6B75588D0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38475"/>
            <a:ext cx="1219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location, timezone, battery defaults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ECF1CE-4D46-4FF9-9822-34A018651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190875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E85FE1-B8EA-4E31-870A-D9537A76C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619375"/>
            <a:ext cx="14859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614D66-6CA3-41E0-B107-4BC07721D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619375"/>
            <a:ext cx="14859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C414B9-6B26-43D1-8633-F532B4FD7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771775"/>
            <a:ext cx="1219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52238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52238"/>
                </a:solidFill>
                <a:latin typeface="Aptos"/>
                <a:ea typeface="Aptos"/>
                <a:cs typeface="Aptos"/>
              </a:rPr>
              <a:t>Ingest data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BB85EA-8CDA-4DF9-9034-C9981E48B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038475"/>
            <a:ext cx="1219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market, weather, telemetry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A2B9C6-38AE-4CF8-9568-8A9AAA610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190875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0736FF-2FC9-4F8E-8C4A-061F7BA50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619375"/>
            <a:ext cx="14859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3FE75A-881E-46A3-9108-1A78F5494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619375"/>
            <a:ext cx="14859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B9BF73-2E60-4FF1-8431-61F486623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771775"/>
            <a:ext cx="1219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52238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52238"/>
                </a:solidFill>
                <a:latin typeface="Aptos"/>
                <a:ea typeface="Aptos"/>
                <a:cs typeface="Aptos"/>
              </a:rPr>
              <a:t>Build forecast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7C35A3-E139-4320-B801-B6A9435AA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038475"/>
            <a:ext cx="1219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Level 1 strict similar-day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BA1957-8E19-49F5-A891-633694BEE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190875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DD7079-E4DD-41A0-82AF-2DA390B7A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619375"/>
            <a:ext cx="14859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D71F630-0AEE-42DE-9B25-D2C7D583F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619375"/>
            <a:ext cx="14859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1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A4BFFD9-3959-4CDB-8268-9A322DF47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771775"/>
            <a:ext cx="1219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52238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52238"/>
                </a:solidFill>
                <a:latin typeface="Aptos"/>
                <a:ea typeface="Aptos"/>
                <a:cs typeface="Aptos"/>
              </a:rPr>
              <a:t>Optimize plan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2BB62A0-7FF3-494D-B032-FC6BCCFB3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038475"/>
            <a:ext cx="1219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deterministic LP baseline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5F0090A-27EE-405B-A66A-394D69162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190875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4C5BFA5-7F03-4B13-AB58-7804C1546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619375"/>
            <a:ext cx="14859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72DD67C-E597-4E68-A329-06E2AC180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619375"/>
            <a:ext cx="14859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5B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E479583-B484-4667-BC53-0B2F3585D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771775"/>
            <a:ext cx="1219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52238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52238"/>
                </a:solidFill>
                <a:latin typeface="Aptos"/>
                <a:ea typeface="Aptos"/>
                <a:cs typeface="Aptos"/>
              </a:rPr>
              <a:t>Check battery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0B4C3DC-F627-4B54-80C4-9324BBD83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038475"/>
            <a:ext cx="1219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SOC, power, wear cost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2A671CA-95F5-4389-81B9-78A6F53FF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190875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0353586-B92E-4DEC-81CA-E1B17C719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619375"/>
            <a:ext cx="14859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03A5211-25BD-4AA7-AB3F-4D66010CC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619375"/>
            <a:ext cx="14859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CD41310-D64C-4B20-9114-30501AE99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771775"/>
            <a:ext cx="1219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52238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52238"/>
                </a:solidFill>
                <a:latin typeface="Aptos"/>
                <a:ea typeface="Aptos"/>
                <a:cs typeface="Aptos"/>
              </a:rPr>
              <a:t>Show preview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84949B4-6EBA-4B6B-B4E9-0A0B901DF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038475"/>
            <a:ext cx="1219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FastAPI + Nuxt read models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B31C237-963F-4951-841E-0980C0952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19600"/>
            <a:ext cx="9715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A13C747-0DF6-40BD-92BE-1242A5CB5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19600"/>
            <a:ext cx="57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9E482E9-EFD2-47E7-B022-A06781ED9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91050"/>
            <a:ext cx="933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223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52238"/>
                </a:solidFill>
                <a:latin typeface="Aptos"/>
                <a:ea typeface="Aptos"/>
                <a:cs typeface="Aptos"/>
              </a:rPr>
              <a:t>Keep three ideas separate: market intent, market clearing, and physical dispatch.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44F2E87-34D3-4C65-95EF-3E20988C0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524500"/>
            <a:ext cx="2571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D9DED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74C4B9C-1BBF-4FFA-BEAF-7D3B6BDD8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581650"/>
            <a:ext cx="2381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2F855A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2F855A"/>
                </a:solidFill>
                <a:latin typeface="Aptos"/>
                <a:ea typeface="Aptos"/>
                <a:cs typeface="Aptos"/>
              </a:rPr>
              <a:t>Implemented now: recommendation preview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86C5059-BFD5-4880-83B8-2B5406DE9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524500"/>
            <a:ext cx="3619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5FF"/>
          </a:solidFill>
          <a:ln xmlns:a="http://schemas.openxmlformats.org/drawingml/2006/main" w="9525">
            <a:solidFill>
              <a:srgbClr val="D9DED8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F20BC91-01BF-4A45-9166-21F45E771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581650"/>
            <a:ext cx="3429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6D5BD0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6D5BD0"/>
                </a:solidFill>
                <a:latin typeface="Aptos"/>
                <a:ea typeface="Aptos"/>
                <a:cs typeface="Aptos"/>
              </a:rPr>
              <a:t>Future: Proposed Bid / Cleared Trade / Dispatch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33275B5-1DFE-4BD1-90AD-D5EC271A0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52450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4DA"/>
          </a:solidFill>
          <a:ln xmlns:a="http://schemas.openxmlformats.org/drawingml/2006/main" w="9525">
            <a:solidFill>
              <a:srgbClr val="D9DED8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F7161C9-1F9F-4B7C-A8F3-85F78A700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581650"/>
            <a:ext cx="2190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C2410C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C2410C"/>
                </a:solidFill>
                <a:latin typeface="Aptos"/>
                <a:ea typeface="Aptos"/>
                <a:cs typeface="Aptos"/>
              </a:rPr>
              <a:t>Do not overclaim current scope</a:t>
            </a:r>
          </a:p>
        </p:txBody>
      </p:sp>
    </p:spTree>
    <p:extLst>
      <p:ext uri="{BB962C8B-B14F-4D97-AF65-F5344CB8AC3E}">
        <p14:creationId xmlns:p14="http://schemas.microsoft.com/office/powerpoint/2010/main" val="149341336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288A5FF-E59D-402E-B404-53460C9BE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927A85-21F8-43F8-B93D-CCA2819F0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0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9D9D25-1A6F-43FB-8B85-6BDB8F256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D141C1-C644-4274-9CA8-5F25AF2A3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29375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872747-6F79-4CF5-B240-0F5355A93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6096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637083"/>
                </a:solidFill>
                <a:latin typeface="Aptos"/>
                <a:ea typeface="Aptos"/>
                <a:cs typeface="Aptos"/>
              </a:rPr>
              <a:t>NEWCOMER OVERVIEW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FD6392-EFB3-4864-8E5A-7AA63CBC5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0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37083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F585D1-5A7E-49C9-930D-D5F83640B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76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kicker-Architecture">
            <a:extLst xmlns:a="http://schemas.openxmlformats.org/drawingml/2006/main">
              <a:ext uri="{FF2B5EF4-FFF2-40B4-BE49-F238E27FC236}">
                <a16:creationId xmlns:a16="http://schemas.microsoft.com/office/drawing/2014/main" id="{402C49CB-0335-434B-A765-5DADA9E73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637083"/>
                </a:solidFill>
                <a:latin typeface="Aptos"/>
                <a:ea typeface="Aptos"/>
                <a:cs typeface="Aptos"/>
              </a:rPr>
              <a:t>A R C H I T E C T U R 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DC44FA-CECA-4347-9C6B-DA1D1C14A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8572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2238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52238"/>
                </a:solidFill>
                <a:latin typeface="Aptos Display"/>
                <a:ea typeface="Aptos Display"/>
                <a:cs typeface="Aptos Display"/>
              </a:rPr>
              <a:t>Dagster assets make the system readable as lineage, not scripts.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7CBFBE-348E-41D1-BADC-BA0AC3A59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The medallion layers show how raw signals become a baseline strategy and dashboard read models.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7233A9-3B1C-4011-ABF7-0ECF3644E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00300"/>
            <a:ext cx="142875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881C5F-5DC1-4671-85DA-88EA05D98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00300"/>
            <a:ext cx="5715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B16978-0D30-4904-880A-FBBE3EB25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43200"/>
            <a:ext cx="876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52238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52238"/>
                </a:solidFill>
                <a:latin typeface="Aptos Display"/>
                <a:ea typeface="Aptos Display"/>
                <a:cs typeface="Aptos Display"/>
              </a:rPr>
              <a:t>Tenant</a:t>
            </a:r>
          </a:p>
          <a:p xmlns:a="http://schemas.openxmlformats.org/drawingml/2006/main">
            <a:pPr algn="ctr">
              <a:defRPr sz="1650" b="1">
                <a:solidFill>
                  <a:srgbClr val="152238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52238"/>
                </a:solidFill>
                <a:latin typeface="Aptos Display"/>
                <a:ea typeface="Aptos Display"/>
                <a:cs typeface="Aptos Display"/>
              </a:rPr>
              <a:t>registry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D810FE-F065-4B06-9945-43EB05DBD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914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37083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637083"/>
                </a:solidFill>
                <a:latin typeface="Aptos Mono"/>
                <a:ea typeface="Aptos Mono"/>
                <a:cs typeface="Aptos Mono"/>
              </a:rPr>
              <a:t>simulations/</a:t>
            </a:r>
          </a:p>
          <a:p xmlns:a="http://schemas.openxmlformats.org/drawingml/2006/main">
            <a:pPr algn="ctr">
              <a:defRPr sz="900" b="0">
                <a:solidFill>
                  <a:srgbClr val="637083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637083"/>
                </a:solidFill>
                <a:latin typeface="Aptos Mono"/>
                <a:ea typeface="Aptos Mono"/>
                <a:cs typeface="Aptos Mono"/>
              </a:rPr>
              <a:t>tenants.yml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27B397-DAFE-4A01-B24C-058087683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209800"/>
            <a:ext cx="2000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4F6D99-216D-439D-9754-B73CBE256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209800"/>
            <a:ext cx="571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3B0713-BB9C-47B1-BD3C-40CC8E706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476500"/>
            <a:ext cx="1543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E7490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0E7490"/>
                </a:solidFill>
                <a:latin typeface="Aptos Display"/>
                <a:ea typeface="Aptos Display"/>
                <a:cs typeface="Aptos Display"/>
              </a:rPr>
              <a:t>Bronze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1CC10D-1871-4A33-92D4-515CC832B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086100"/>
            <a:ext cx="1524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5223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52238"/>
                </a:solidFill>
                <a:latin typeface="Aptos"/>
                <a:ea typeface="Aptos"/>
                <a:cs typeface="Aptos"/>
              </a:rPr>
              <a:t>weather / market</a:t>
            </a:r>
          </a:p>
          <a:p xmlns:a="http://schemas.openxmlformats.org/drawingml/2006/main">
            <a:pPr algn="ctr">
              <a:defRPr sz="1275" b="1">
                <a:solidFill>
                  <a:srgbClr val="15223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52238"/>
                </a:solidFill>
                <a:latin typeface="Aptos"/>
                <a:ea typeface="Aptos"/>
                <a:cs typeface="Aptos"/>
              </a:rPr>
              <a:t>ingestion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1E5B3F-DE3F-46BD-A8F9-35AD68B4D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752850"/>
            <a:ext cx="1428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source metadata</a:t>
            </a:r>
          </a:p>
          <a:p xmlns:a="http://schemas.openxmlformats.org/drawingml/2006/main">
            <a:pPr algn="ctr">
              <a:defRPr sz="975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synthetic fallback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9D7D23-F343-4BF9-8604-B5CCC2F79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400425"/>
            <a:ext cx="476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F774D6-9716-47F8-8620-627E10B26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209800"/>
            <a:ext cx="2000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09C0E0-69EB-4C33-8D24-369D016FB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209800"/>
            <a:ext cx="571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5ACB2F-473D-41FE-B4F1-7DE37656B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476500"/>
            <a:ext cx="1543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F855A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2F855A"/>
                </a:solidFill>
                <a:latin typeface="Aptos Display"/>
                <a:ea typeface="Aptos Display"/>
                <a:cs typeface="Aptos Display"/>
              </a:rPr>
              <a:t>Silver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3F2D49-B4FF-4700-80B7-94714BB81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086100"/>
            <a:ext cx="1524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5223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52238"/>
                </a:solidFill>
                <a:latin typeface="Aptos"/>
                <a:ea typeface="Aptos"/>
                <a:cs typeface="Aptos"/>
              </a:rPr>
              <a:t>features and</a:t>
            </a:r>
          </a:p>
          <a:p xmlns:a="http://schemas.openxmlformats.org/drawingml/2006/main">
            <a:pPr algn="ctr">
              <a:defRPr sz="1275" b="1">
                <a:solidFill>
                  <a:srgbClr val="15223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52238"/>
                </a:solidFill>
                <a:latin typeface="Aptos"/>
                <a:ea typeface="Aptos"/>
                <a:cs typeface="Aptos"/>
              </a:rPr>
              <a:t>forecast candidates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B32E20-0E14-4797-A673-2C259C12A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752850"/>
            <a:ext cx="1428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NBEATSx-style</a:t>
            </a:r>
          </a:p>
          <a:p xmlns:a="http://schemas.openxmlformats.org/drawingml/2006/main">
            <a:pPr algn="ctr">
              <a:defRPr sz="975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TFT-style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CFFB98-1169-4B27-A3AB-DFA24B5FE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00425"/>
            <a:ext cx="476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CA5336D-8586-4DD4-9C91-C3250DE5D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09800"/>
            <a:ext cx="2000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DB5AAAF-5813-422F-885B-A26CBACA8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09800"/>
            <a:ext cx="571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1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EEEC1DF-0620-4072-80B9-7CE1D5788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476500"/>
            <a:ext cx="1543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D99100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D99100"/>
                </a:solidFill>
                <a:latin typeface="Aptos Display"/>
                <a:ea typeface="Aptos Display"/>
                <a:cs typeface="Aptos Display"/>
              </a:rPr>
              <a:t>Gold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141499C-2B29-4A42-90D8-3B3DC2008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086100"/>
            <a:ext cx="1524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5223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52238"/>
                </a:solidFill>
                <a:latin typeface="Aptos"/>
                <a:ea typeface="Aptos"/>
                <a:cs typeface="Aptos"/>
              </a:rPr>
              <a:t>baseline LP and</a:t>
            </a:r>
          </a:p>
          <a:p xmlns:a="http://schemas.openxmlformats.org/drawingml/2006/main">
            <a:pPr algn="ctr">
              <a:defRPr sz="1275" b="1">
                <a:solidFill>
                  <a:srgbClr val="15223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52238"/>
                </a:solidFill>
                <a:latin typeface="Aptos"/>
                <a:ea typeface="Aptos"/>
                <a:cs typeface="Aptos"/>
              </a:rPr>
              <a:t>simulated trades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00EEC32-A734-4418-B129-6D7DD17F9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752850"/>
            <a:ext cx="1428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regret-aware</a:t>
            </a:r>
          </a:p>
          <a:p xmlns:a="http://schemas.openxmlformats.org/drawingml/2006/main">
            <a:pPr algn="ctr">
              <a:defRPr sz="975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evaluation path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FDD0ABA-3664-4277-B699-286BDD860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400425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DE1179D-0883-4C0A-93D4-4F147B8B6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209800"/>
            <a:ext cx="16002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02D"/>
          </a:solidFill>
          <a:ln xmlns:a="http://schemas.openxmlformats.org/drawingml/2006/main" w="9525">
            <a:solidFill>
              <a:srgbClr val="16202D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BB47E6E-30D6-411F-8C67-24A735B55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209800"/>
            <a:ext cx="571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5B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B6C3EEC-3DBC-4D40-91A5-DA35F3C16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476500"/>
            <a:ext cx="1219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Resource</a:t>
            </a:r>
          </a:p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stores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D6CD737-56E5-427C-9AEF-946808EC8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219450"/>
            <a:ext cx="11239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CFD7E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FD7E6"/>
                </a:solidFill>
                <a:latin typeface="Aptos"/>
                <a:ea typeface="Aptos"/>
                <a:cs typeface="Aptos"/>
              </a:rPr>
              <a:t>Postgres / in-memory / null adapters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F921AB5-16DC-4466-BE24-4742C7A3C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943350"/>
            <a:ext cx="11239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FFF0C2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FF0C2"/>
                </a:solidFill>
                <a:latin typeface="Aptos"/>
                <a:ea typeface="Aptos"/>
                <a:cs typeface="Aptos"/>
              </a:rPr>
              <a:t>FastAPI + Nuxt read models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D03DCB7-8863-4F86-9F8D-CEC8F7ED3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143500"/>
            <a:ext cx="7620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AF6BA5E-F84F-4CDE-8A36-A6CEE1661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143500"/>
            <a:ext cx="571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10E819B-6E71-4CEB-9434-90617F755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314950"/>
            <a:ext cx="723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223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52238"/>
                </a:solidFill>
                <a:latin typeface="Aptos"/>
                <a:ea typeface="Aptos"/>
                <a:cs typeface="Aptos"/>
              </a:rPr>
              <a:t>Key engineering habit: change assets by contract, not by side effect.</a:t>
            </a:r>
          </a:p>
        </p:txBody>
      </p:sp>
    </p:spTree>
    <p:extLst>
      <p:ext uri="{BB962C8B-B14F-4D97-AF65-F5344CB8AC3E}">
        <p14:creationId xmlns:p14="http://schemas.microsoft.com/office/powerpoint/2010/main" val="80820818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3471289-6A73-4F35-8EF0-6217C6DAA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05F22F-C99A-4076-9C4D-C6F0CE9F7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0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AD9991-9382-47FB-A6E0-B8C3910A9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52235C-9686-47EA-BC8C-F1EE54952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29375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0CAB7C-1122-478F-8C3F-43A91510E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6096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637083"/>
                </a:solidFill>
                <a:latin typeface="Aptos"/>
                <a:ea typeface="Aptos"/>
                <a:cs typeface="Aptos"/>
              </a:rPr>
              <a:t>NEWCOMER OVERVIEW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127CB1-C881-4973-90B0-31BA41230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0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37083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538C33-6AC7-47B5-8683-77987094B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76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kicker-Repository map">
            <a:extLst xmlns:a="http://schemas.openxmlformats.org/drawingml/2006/main">
              <a:ext uri="{FF2B5EF4-FFF2-40B4-BE49-F238E27FC236}">
                <a16:creationId xmlns:a16="http://schemas.microsoft.com/office/drawing/2014/main" id="{D703D693-DBB6-4CC2-9DEA-D3C69EA3C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637083"/>
                </a:solidFill>
                <a:latin typeface="Aptos"/>
                <a:ea typeface="Aptos"/>
                <a:cs typeface="Aptos"/>
              </a:rPr>
              <a:t>R E P O S I T O R Y   M A 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B60D64-2ECE-4BB1-9613-BBE44DFCD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8572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2238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52238"/>
                </a:solidFill>
                <a:latin typeface="Aptos Display"/>
                <a:ea typeface="Aptos Display"/>
                <a:cs typeface="Aptos Display"/>
              </a:rPr>
              <a:t>Read the repository by responsibility before reading it by filename.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1A2D0E-BC9E-412F-A823-3F8B2D463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Most newcomer confusion disappears when each folder is tied to the role it plays in the MVP loop.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FA48E4-7AA4-4A0D-967A-EB1CB2D3A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09800"/>
            <a:ext cx="190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637083"/>
                </a:solidFill>
                <a:latin typeface="Aptos"/>
                <a:ea typeface="Aptos"/>
                <a:cs typeface="Aptos"/>
              </a:rPr>
              <a:t>PATH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F9CD2B-26FA-4667-9D3B-0B1B6100C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2098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637083"/>
                </a:solidFill>
                <a:latin typeface="Aptos"/>
                <a:ea typeface="Aptos"/>
                <a:cs typeface="Aptos"/>
              </a:rPr>
              <a:t>RESPONSIBILITY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8291D6-0810-4CDF-99CC-DF3C995F1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20980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637083"/>
                </a:solidFill>
                <a:latin typeface="Aptos"/>
                <a:ea typeface="Aptos"/>
                <a:cs typeface="Aptos"/>
              </a:rPr>
              <a:t>WHY A NEWCOMER CARES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E37364-98EA-42FC-A527-55CE3D656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38400"/>
            <a:ext cx="10706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3D33C2-2AFC-40EA-9457-936D21271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38400"/>
            <a:ext cx="47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85D14A-04A6-4C5D-BAA2-6D42853A1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43175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52238"/>
                </a:solidFill>
                <a:latin typeface="Aptos Mono"/>
                <a:ea typeface="Aptos Mono"/>
                <a:cs typeface="Aptos Mono"/>
              </a:defRPr>
            </a:pPr>
            <a:r>
              <a:rPr sz="863" b="1">
                <a:solidFill>
                  <a:srgbClr val="152238"/>
                </a:solidFill>
                <a:latin typeface="Aptos Mono"/>
                <a:ea typeface="Aptos Mono"/>
                <a:cs typeface="Aptos Mono"/>
              </a:rPr>
              <a:t>src/smart_arbitrage/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3192FF-47B3-46C1-B16B-0EC24D357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543175"/>
            <a:ext cx="30003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5223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52238"/>
                </a:solidFill>
                <a:latin typeface="Aptos"/>
                <a:ea typeface="Aptos"/>
                <a:cs typeface="Aptos"/>
              </a:rPr>
              <a:t>Python package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174813-6BF8-4C76-B589-646CEB3D4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543175"/>
            <a:ext cx="48482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assets, solver, schemas, stores, telemetry, training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FF8352-EFA2-42F1-94E9-25D1E5ABB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24175"/>
            <a:ext cx="10706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7D7DFE-AF98-4C2D-848B-45137EB78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24175"/>
            <a:ext cx="47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810253-FAD7-43C4-BE19-EFAB63F95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52238"/>
                </a:solidFill>
                <a:latin typeface="Aptos Mono"/>
                <a:ea typeface="Aptos Mono"/>
                <a:cs typeface="Aptos Mono"/>
              </a:defRPr>
            </a:pPr>
            <a:r>
              <a:rPr sz="863" b="1">
                <a:solidFill>
                  <a:srgbClr val="152238"/>
                </a:solidFill>
                <a:latin typeface="Aptos Mono"/>
                <a:ea typeface="Aptos Mono"/>
                <a:cs typeface="Aptos Mono"/>
              </a:rPr>
              <a:t>api/main.py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98ACA5-DFF0-49DE-AA7A-61A650F9B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028950"/>
            <a:ext cx="30003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5223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52238"/>
                </a:solidFill>
                <a:latin typeface="Aptos"/>
                <a:ea typeface="Aptos"/>
                <a:cs typeface="Aptos"/>
              </a:rPr>
              <a:t>FastAPI control plane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8551AE-52BE-425E-BB61-D0D6C98DC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028950"/>
            <a:ext cx="48482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dashboard-owned contracts and demo endpoints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140546-F321-41C5-9550-395B801F4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09950"/>
            <a:ext cx="10706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8F2E10-F80C-405F-B460-5C71803BD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09950"/>
            <a:ext cx="47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1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FA127D5-25F7-46C5-9D65-65E4A4252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14725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52238"/>
                </a:solidFill>
                <a:latin typeface="Aptos Mono"/>
                <a:ea typeface="Aptos Mono"/>
                <a:cs typeface="Aptos Mono"/>
              </a:defRPr>
            </a:pPr>
            <a:r>
              <a:rPr sz="863" b="1">
                <a:solidFill>
                  <a:srgbClr val="152238"/>
                </a:solidFill>
                <a:latin typeface="Aptos Mono"/>
                <a:ea typeface="Aptos Mono"/>
                <a:cs typeface="Aptos Mono"/>
              </a:rPr>
              <a:t>dashboard/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88ED93A-24DD-4CD1-BB43-CDD5ADFEB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514725"/>
            <a:ext cx="30003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5223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52238"/>
                </a:solidFill>
                <a:latin typeface="Aptos"/>
                <a:ea typeface="Aptos"/>
                <a:cs typeface="Aptos"/>
              </a:rPr>
              <a:t>Nuxt operator UI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62DEB3D-0E47-447E-8413-6AB520F15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14725"/>
            <a:ext cx="48482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same-origin proxy and operator-facing surfaces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C5B18D6-F6EB-42BE-A902-F59C48DF7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95725"/>
            <a:ext cx="10706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F1E8F52-3D24-43C9-A923-D3D1292AC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95725"/>
            <a:ext cx="47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5B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D5C1903-0C29-40C2-8706-2B09568D1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52238"/>
                </a:solidFill>
                <a:latin typeface="Aptos Mono"/>
                <a:ea typeface="Aptos Mono"/>
                <a:cs typeface="Aptos Mono"/>
              </a:defRPr>
            </a:pPr>
            <a:r>
              <a:rPr sz="863" b="1">
                <a:solidFill>
                  <a:srgbClr val="152238"/>
                </a:solidFill>
                <a:latin typeface="Aptos Mono"/>
                <a:ea typeface="Aptos Mono"/>
                <a:cs typeface="Aptos Mono"/>
              </a:rPr>
              <a:t>simulations/tenants.yml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DE613D0-A876-4DF0-9FFA-38D67D4A3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000500"/>
            <a:ext cx="30003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5223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52238"/>
                </a:solidFill>
                <a:latin typeface="Aptos"/>
                <a:ea typeface="Aptos"/>
                <a:cs typeface="Aptos"/>
              </a:rPr>
              <a:t>Tenant registry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E34DC44-0322-4873-9CE8-C188B0626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00500"/>
            <a:ext cx="48482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canonical battery and location defaults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7A6E995-C239-46FD-BE27-782025384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0"/>
            <a:ext cx="10706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A1FCC85-1800-417D-A2A4-5F3467B23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0"/>
            <a:ext cx="47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5998F9B-92BA-4684-9954-1FD6305D9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86275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52238"/>
                </a:solidFill>
                <a:latin typeface="Aptos Mono"/>
                <a:ea typeface="Aptos Mono"/>
                <a:cs typeface="Aptos Mono"/>
              </a:defRPr>
            </a:pPr>
            <a:r>
              <a:rPr sz="863" b="1">
                <a:solidFill>
                  <a:srgbClr val="152238"/>
                </a:solidFill>
                <a:latin typeface="Aptos Mono"/>
                <a:ea typeface="Aptos Mono"/>
                <a:cs typeface="Aptos Mono"/>
              </a:rPr>
              <a:t>docs/technical/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0726D26-BFC1-4E89-9599-13C4C3C97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486275"/>
            <a:ext cx="30003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5223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52238"/>
                </a:solidFill>
                <a:latin typeface="Aptos"/>
                <a:ea typeface="Aptos"/>
                <a:cs typeface="Aptos"/>
              </a:rPr>
              <a:t>Architecture docs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BDC9407-46B4-4818-B11F-C980A7B37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486275"/>
            <a:ext cx="48482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API, PRD, issues, and demo readiness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EE74DD6-30E5-4752-A614-F1A3497DD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67275"/>
            <a:ext cx="10706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E57CD91-0EE2-408D-A7CF-B94E3C90A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67275"/>
            <a:ext cx="47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D29FFA7-8FEF-4B47-98B5-7AE4468F5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72050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52238"/>
                </a:solidFill>
                <a:latin typeface="Aptos Mono"/>
                <a:ea typeface="Aptos Mono"/>
                <a:cs typeface="Aptos Mono"/>
              </a:defRPr>
            </a:pPr>
            <a:r>
              <a:rPr sz="863" b="1">
                <a:solidFill>
                  <a:srgbClr val="152238"/>
                </a:solidFill>
                <a:latin typeface="Aptos Mono"/>
                <a:ea typeface="Aptos Mono"/>
                <a:cs typeface="Aptos Mono"/>
              </a:rPr>
              <a:t>docs/thesis/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5F7D5B2-3BC4-49EA-8815-99C543909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972050"/>
            <a:ext cx="30003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5223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52238"/>
                </a:solidFill>
                <a:latin typeface="Aptos"/>
                <a:ea typeface="Aptos"/>
                <a:cs typeface="Aptos"/>
              </a:rPr>
              <a:t>Academic trail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0C3CB55-260A-4BF9-B7D7-72AF4CAFD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972050"/>
            <a:ext cx="48482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chapters, sources, weekly reports, decks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3CE8E89-FBAB-484C-AD26-F117E7D50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53050"/>
            <a:ext cx="10706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325EDB4-7AA7-4906-978C-B233F9347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53050"/>
            <a:ext cx="47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1470706-2698-417C-9C44-7C4004A5C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57825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52238"/>
                </a:solidFill>
                <a:latin typeface="Aptos Mono"/>
                <a:ea typeface="Aptos Mono"/>
                <a:cs typeface="Aptos Mono"/>
              </a:defRPr>
            </a:pPr>
            <a:r>
              <a:rPr sz="863" b="1">
                <a:solidFill>
                  <a:srgbClr val="152238"/>
                </a:solidFill>
                <a:latin typeface="Aptos Mono"/>
                <a:ea typeface="Aptos Mono"/>
                <a:cs typeface="Aptos Mono"/>
              </a:rPr>
              <a:t>docker-compose.yaml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8145CB5-F901-49A7-9EF2-96F02AFCA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457825"/>
            <a:ext cx="30003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5223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52238"/>
                </a:solidFill>
                <a:latin typeface="Aptos"/>
                <a:ea typeface="Aptos"/>
                <a:cs typeface="Aptos"/>
              </a:rPr>
              <a:t>Local stack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309EB3C-C37E-43E1-A05D-AC14E5F8C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457825"/>
            <a:ext cx="48482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Postgres, MQTT, MLflow, API, Dagster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995E501-0E71-43B1-82E2-54196F502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962650"/>
            <a:ext cx="7524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02D"/>
          </a:solidFill>
          <a:ln xmlns:a="http://schemas.openxmlformats.org/drawingml/2006/main" w="9525">
            <a:solidFill>
              <a:srgbClr val="16202D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78FC782-B3EF-40EC-A9A9-4CC5B87F1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962650"/>
            <a:ext cx="57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1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F5164EE-FA21-4163-B4C9-D8842798E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6134100"/>
            <a:ext cx="7143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First stop: CONTEXT.md. It defines the words the code is allowed to use.</a:t>
            </a:r>
          </a:p>
        </p:txBody>
      </p:sp>
    </p:spTree>
    <p:extLst>
      <p:ext uri="{BB962C8B-B14F-4D97-AF65-F5344CB8AC3E}">
        <p14:creationId xmlns:p14="http://schemas.microsoft.com/office/powerpoint/2010/main" val="144441100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B1E12E2-B4A9-4850-8DA2-5692F33CE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C0CAE0-503D-4F77-8FB4-D355324FA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0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3D8A42-D5E5-4C1A-B744-4B2B07691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AAA70E-FAE0-44B8-91CD-AEEA3E114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29375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44FB00-1E88-4304-A159-47104BC85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6096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637083"/>
                </a:solidFill>
                <a:latin typeface="Aptos"/>
                <a:ea typeface="Aptos"/>
                <a:cs typeface="Aptos"/>
              </a:rPr>
              <a:t>NEWCOMER OVERVIEW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BD8EFF-5BC0-4344-8B85-BF839239B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0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37083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1D3EE0-2818-4965-A594-66CD388CA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76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kicker-Domain boundary">
            <a:extLst xmlns:a="http://schemas.openxmlformats.org/drawingml/2006/main">
              <a:ext uri="{FF2B5EF4-FFF2-40B4-BE49-F238E27FC236}">
                <a16:creationId xmlns:a16="http://schemas.microsoft.com/office/drawing/2014/main" id="{D708ED65-D8B8-4547-A3AB-A2DF11719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637083"/>
                </a:solidFill>
                <a:latin typeface="Aptos"/>
                <a:ea typeface="Aptos"/>
                <a:cs typeface="Aptos"/>
              </a:rPr>
              <a:t>D O M A I N   B O U N D A R 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69195E-B9C4-49F2-8C8E-ADF9C5D0F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8572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2238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52238"/>
                </a:solidFill>
                <a:latin typeface="Aptos Display"/>
                <a:ea typeface="Aptos Display"/>
                <a:cs typeface="Aptos Display"/>
              </a:rPr>
              <a:t>The safest codebase changes respect the market-to-physics boundary.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9205E8-411A-4140-ABF9-4EF69CA65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CONTEXT.md separates intent, clearing, and dispatch so the MVP does not accidentally claim execution semantics.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F25CA7-D422-4BB4-872A-C40705092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10191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5FF"/>
          </a:solidFill>
          <a:ln xmlns:a="http://schemas.openxmlformats.org/drawingml/2006/main" w="9525">
            <a:solidFill>
              <a:srgbClr val="D9DED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6CA2CC-F505-4B7D-BF92-604736633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5270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6D5BD0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6D5BD0"/>
                </a:solidFill>
                <a:latin typeface="Aptos Display"/>
                <a:ea typeface="Aptos Display"/>
                <a:cs typeface="Aptos Display"/>
              </a:rPr>
              <a:t>Market intent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CB3D39-E9FA-4179-BFED-69168A7F2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543175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223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52238"/>
                </a:solidFill>
                <a:latin typeface="Aptos"/>
                <a:ea typeface="Aptos"/>
                <a:cs typeface="Aptos"/>
              </a:rPr>
              <a:t>Proposed Bid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D5B16C-E030-472E-A430-19F42155A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543175"/>
            <a:ext cx="2190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223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52238"/>
                </a:solidFill>
                <a:latin typeface="Aptos"/>
                <a:ea typeface="Aptos"/>
                <a:cs typeface="Aptos"/>
              </a:rPr>
              <a:t>Bid Curve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29DD92-C9FA-4AC6-9C83-46C61AB93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43175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223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52238"/>
                </a:solidFill>
                <a:latin typeface="Aptos"/>
                <a:ea typeface="Aptos"/>
                <a:cs typeface="Aptos"/>
              </a:rPr>
              <a:t>Bid Gatekeeper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955B58-23BF-4EEF-9EBF-CAE01D459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10191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C2"/>
          </a:solidFill>
          <a:ln xmlns:a="http://schemas.openxmlformats.org/drawingml/2006/main" w="9525">
            <a:solidFill>
              <a:srgbClr val="D9DED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6DAFAD-E722-4D3E-A30B-840994FF5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0520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99100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D99100"/>
                </a:solidFill>
                <a:latin typeface="Aptos Display"/>
                <a:ea typeface="Aptos Display"/>
                <a:cs typeface="Aptos Display"/>
              </a:rPr>
              <a:t>Market result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2566B0-1747-42B1-800F-874D988A1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495675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223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52238"/>
                </a:solidFill>
                <a:latin typeface="Aptos"/>
                <a:ea typeface="Aptos"/>
                <a:cs typeface="Aptos"/>
              </a:rPr>
              <a:t>Cleared Trade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B3C0F4-D9C7-4BCC-9D2E-AD7614B5A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495675"/>
            <a:ext cx="2190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223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52238"/>
                </a:solidFill>
                <a:latin typeface="Aptos"/>
                <a:ea typeface="Aptos"/>
                <a:cs typeface="Aptos"/>
              </a:rPr>
              <a:t>Uniform Settlement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40D8AD-9024-40AC-AE28-BE8011043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95675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223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52238"/>
                </a:solidFill>
                <a:latin typeface="Aptos"/>
                <a:ea typeface="Aptos"/>
                <a:cs typeface="Aptos"/>
              </a:rPr>
              <a:t>Allocation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42FA91-0812-4E3B-9D8C-6E605B6FC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0"/>
            <a:ext cx="10191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4DA"/>
          </a:solidFill>
          <a:ln xmlns:a="http://schemas.openxmlformats.org/drawingml/2006/main" w="9525">
            <a:solidFill>
              <a:srgbClr val="D9DE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98AE5F-5BAF-4247-B3B1-5341F05A1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5770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C2410C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C2410C"/>
                </a:solidFill>
                <a:latin typeface="Aptos Display"/>
                <a:ea typeface="Aptos Display"/>
                <a:cs typeface="Aptos Display"/>
              </a:rPr>
              <a:t>Physical execution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021AB3-B931-455C-9579-3FC94FA5D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448175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223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52238"/>
                </a:solidFill>
                <a:latin typeface="Aptos"/>
                <a:ea typeface="Aptos"/>
                <a:cs typeface="Aptos"/>
              </a:rPr>
              <a:t>Dispatch Command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8C3025-16BD-4782-82AA-AFCF5521A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448175"/>
            <a:ext cx="2190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223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52238"/>
                </a:solidFill>
                <a:latin typeface="Aptos"/>
                <a:ea typeface="Aptos"/>
                <a:cs typeface="Aptos"/>
              </a:rPr>
              <a:t>Battery Telemetry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B6F783A-AD07-4CC1-A3EE-DCACE6178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48175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223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52238"/>
                </a:solidFill>
                <a:latin typeface="Aptos"/>
                <a:ea typeface="Aptos"/>
                <a:cs typeface="Aptos"/>
              </a:rPr>
              <a:t>HOLD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39E2E28-ADAE-4527-A0D6-E8C827D95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286375"/>
            <a:ext cx="771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F855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E1B32CA-CF12-41C8-96C0-17E43EE78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286375"/>
            <a:ext cx="571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B17B411-B784-4106-BF8C-DC8B4FC81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5476875"/>
            <a:ext cx="7105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5223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2238"/>
                </a:solidFill>
                <a:latin typeface="Aptos"/>
                <a:ea typeface="Aptos"/>
                <a:cs typeface="Aptos"/>
              </a:rPr>
              <a:t>Current MVP lives before those execution claims: baseline recommendation preview + projected battery state preview.</a:t>
            </a:r>
          </a:p>
        </p:txBody>
      </p:sp>
    </p:spTree>
    <p:extLst>
      <p:ext uri="{BB962C8B-B14F-4D97-AF65-F5344CB8AC3E}">
        <p14:creationId xmlns:p14="http://schemas.microsoft.com/office/powerpoint/2010/main" val="107935700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C15360B-9501-412A-9BFC-587272249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26F1B8-D6B3-483B-A9A9-B117B51AB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0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C8F6FC-0E4B-455C-BC08-875ABFE54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25995E-25FE-4350-98C0-A0912946C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29375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C48749-174C-41D6-8DC9-E92A031A5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6096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637083"/>
                </a:solidFill>
                <a:latin typeface="Aptos"/>
                <a:ea typeface="Aptos"/>
                <a:cs typeface="Aptos"/>
              </a:rPr>
              <a:t>NEWCOMER OVERVIEW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1F7B0C-775D-41B0-BA30-0FFE1C0B8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0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37083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EC838D-C9BB-4010-90C4-D814CE0C5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76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kicker-MVP data flow">
            <a:extLst xmlns:a="http://schemas.openxmlformats.org/drawingml/2006/main">
              <a:ext uri="{FF2B5EF4-FFF2-40B4-BE49-F238E27FC236}">
                <a16:creationId xmlns:a16="http://schemas.microsoft.com/office/drawing/2014/main" id="{D6725EB3-3457-4A28-9C13-E25DD44F5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637083"/>
                </a:solidFill>
                <a:latin typeface="Aptos"/>
                <a:ea typeface="Aptos"/>
                <a:cs typeface="Aptos"/>
              </a:rPr>
              <a:t>M V P   D A T A   F L O 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DB0F76-8DA7-4A4A-BCD9-4223A5EA9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8572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2238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52238"/>
                </a:solidFill>
                <a:latin typeface="Aptos Display"/>
                <a:ea typeface="Aptos Display"/>
                <a:cs typeface="Aptos Display"/>
              </a:rPr>
              <a:t>The current demo path is narrow enough to test and explain end to end.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C80D35-2C77-41C2-A103-B6C5BF7C6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Level 1 scope is hourly DAM baseline, not full multi-market bidding.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AEEFA0-ED42-4E74-BBE8-3A8744C4E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533650"/>
            <a:ext cx="2857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A10873-0209-4189-A6C7-3CCE0BAE6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419350"/>
            <a:ext cx="4953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A9FFFF-1F47-471E-9457-50E41E00B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505075"/>
            <a:ext cx="495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D605AC-2DBA-4DD5-A731-EB45A2FE9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362200"/>
            <a:ext cx="2428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152238"/>
                </a:solidFill>
                <a:latin typeface="Aptos"/>
                <a:ea typeface="Aptos"/>
                <a:cs typeface="Aptos"/>
              </a:defRPr>
            </a:pPr>
            <a:r>
              <a:rPr sz="1238" b="1">
                <a:solidFill>
                  <a:srgbClr val="152238"/>
                </a:solidFill>
                <a:latin typeface="Aptos"/>
                <a:ea typeface="Aptos"/>
                <a:cs typeface="Aptos"/>
              </a:rPr>
              <a:t>Tenant registry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5F58D5-0C8F-4479-96BB-CAD0EC2A9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381250"/>
            <a:ext cx="3333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location, timezone, battery defaults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F9D1CB-17AC-488C-B6A7-60C742C9F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343150"/>
            <a:ext cx="266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52238"/>
                </a:solidFill>
                <a:latin typeface="Aptos Mono"/>
                <a:ea typeface="Aptos Mono"/>
                <a:cs typeface="Aptos Mono"/>
              </a:defRPr>
            </a:pPr>
            <a:r>
              <a:rPr sz="840" b="0">
                <a:solidFill>
                  <a:srgbClr val="152238"/>
                </a:solidFill>
                <a:latin typeface="Aptos Mono"/>
                <a:ea typeface="Aptos Mono"/>
                <a:cs typeface="Aptos Mono"/>
              </a:rPr>
              <a:t>simulations/tenants.yml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F43CDC-01D9-44E5-960B-C132E4D23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943225"/>
            <a:ext cx="4953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FB366B-A900-4268-9244-7A4CB414D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028950"/>
            <a:ext cx="495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DE8C5C-0C15-44C4-AEEF-FC3E89846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886075"/>
            <a:ext cx="2428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152238"/>
                </a:solidFill>
                <a:latin typeface="Aptos"/>
                <a:ea typeface="Aptos"/>
                <a:cs typeface="Aptos"/>
              </a:defRPr>
            </a:pPr>
            <a:r>
              <a:rPr sz="1238" b="1">
                <a:solidFill>
                  <a:srgbClr val="152238"/>
                </a:solidFill>
                <a:latin typeface="Aptos"/>
                <a:ea typeface="Aptos"/>
                <a:cs typeface="Aptos"/>
              </a:rPr>
              <a:t>Bronze inputs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DDD08B-6241-4954-829F-94554E299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905125"/>
            <a:ext cx="3333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weather, market, telemetry with provenance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BC01C8-05CA-4B28-8939-89E477588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67025"/>
            <a:ext cx="266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52238"/>
                </a:solidFill>
                <a:latin typeface="Aptos Mono"/>
                <a:ea typeface="Aptos Mono"/>
                <a:cs typeface="Aptos Mono"/>
              </a:defRPr>
            </a:pPr>
            <a:r>
              <a:rPr sz="840" b="0">
                <a:solidFill>
                  <a:srgbClr val="152238"/>
                </a:solidFill>
                <a:latin typeface="Aptos Mono"/>
                <a:ea typeface="Aptos Mono"/>
                <a:cs typeface="Aptos Mono"/>
              </a:rPr>
              <a:t>assets/bronze + telemetry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E1A095-3C99-4DCE-940F-303CF2CDC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467100"/>
            <a:ext cx="4953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39AF22-5319-4C5C-AEA1-CE6420400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552825"/>
            <a:ext cx="495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78A906-E0C6-414B-A307-EAD42519A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409950"/>
            <a:ext cx="2428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152238"/>
                </a:solidFill>
                <a:latin typeface="Aptos"/>
                <a:ea typeface="Aptos"/>
                <a:cs typeface="Aptos"/>
              </a:defRPr>
            </a:pPr>
            <a:r>
              <a:rPr sz="1238" b="1">
                <a:solidFill>
                  <a:srgbClr val="152238"/>
                </a:solidFill>
                <a:latin typeface="Aptos"/>
                <a:ea typeface="Aptos"/>
                <a:cs typeface="Aptos"/>
              </a:rPr>
              <a:t>Forecast input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A15755-9189-4F3A-B4C4-8E597B21A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429000"/>
            <a:ext cx="3333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strict similar-day Level 1 baseline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2BDC7A7-FB1C-438A-8C9B-02AA24E56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390900"/>
            <a:ext cx="266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52238"/>
                </a:solidFill>
                <a:latin typeface="Aptos Mono"/>
                <a:ea typeface="Aptos Mono"/>
                <a:cs typeface="Aptos Mono"/>
              </a:defRPr>
            </a:pPr>
            <a:r>
              <a:rPr sz="840" b="0">
                <a:solidFill>
                  <a:srgbClr val="152238"/>
                </a:solidFill>
                <a:latin typeface="Aptos Mono"/>
                <a:ea typeface="Aptos Mono"/>
                <a:cs typeface="Aptos Mono"/>
              </a:rPr>
              <a:t>forecasting / silver assets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10A8826-F3FE-4821-9B75-86CD5F057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990975"/>
            <a:ext cx="4953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1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8C48120-73D3-4D60-90DE-9B52E0265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076700"/>
            <a:ext cx="495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82E4D96-DD3B-40D8-8236-468B29968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933825"/>
            <a:ext cx="2428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152238"/>
                </a:solidFill>
                <a:latin typeface="Aptos"/>
                <a:ea typeface="Aptos"/>
                <a:cs typeface="Aptos"/>
              </a:defRPr>
            </a:pPr>
            <a:r>
              <a:rPr sz="1238" b="1">
                <a:solidFill>
                  <a:srgbClr val="152238"/>
                </a:solidFill>
                <a:latin typeface="Aptos"/>
                <a:ea typeface="Aptos"/>
                <a:cs typeface="Aptos"/>
              </a:rPr>
              <a:t>LP baseline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DF984AD-B962-4A47-A1CF-FD4644103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952875"/>
            <a:ext cx="3333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charge, discharge, SOC variables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2210C4B-5629-4646-8D0D-4E6878583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914775"/>
            <a:ext cx="266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52238"/>
                </a:solidFill>
                <a:latin typeface="Aptos Mono"/>
                <a:ea typeface="Aptos Mono"/>
                <a:cs typeface="Aptos Mono"/>
              </a:defRPr>
            </a:pPr>
            <a:r>
              <a:rPr sz="840" b="0">
                <a:solidFill>
                  <a:srgbClr val="152238"/>
                </a:solidFill>
                <a:latin typeface="Aptos Mono"/>
                <a:ea typeface="Aptos Mono"/>
                <a:cs typeface="Aptos Mono"/>
              </a:rPr>
              <a:t>assets/gold/baseline_solver.py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0368110-DAF9-4B6B-92CB-50889E1F5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514850"/>
            <a:ext cx="4953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5B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5F7555B-9ECE-48D1-B22C-76BB29F3D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600575"/>
            <a:ext cx="495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148C292-D206-4DAE-B1A7-CCA4A0E2C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4457700"/>
            <a:ext cx="2428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152238"/>
                </a:solidFill>
                <a:latin typeface="Aptos"/>
                <a:ea typeface="Aptos"/>
                <a:cs typeface="Aptos"/>
              </a:defRPr>
            </a:pPr>
            <a:r>
              <a:rPr sz="1238" b="1">
                <a:solidFill>
                  <a:srgbClr val="152238"/>
                </a:solidFill>
                <a:latin typeface="Aptos"/>
                <a:ea typeface="Aptos"/>
                <a:cs typeface="Aptos"/>
              </a:rPr>
              <a:t>Battery preview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C4B6AE6-CB0F-49EE-B8CB-7B85A4175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476750"/>
            <a:ext cx="3333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SOC, limits, throughput, degradation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81D67CF-7811-4D97-9412-D01B8E55F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38650"/>
            <a:ext cx="266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52238"/>
                </a:solidFill>
                <a:latin typeface="Aptos Mono"/>
                <a:ea typeface="Aptos Mono"/>
                <a:cs typeface="Aptos Mono"/>
              </a:defRPr>
            </a:pPr>
            <a:r>
              <a:rPr sz="840" b="0">
                <a:solidFill>
                  <a:srgbClr val="152238"/>
                </a:solidFill>
                <a:latin typeface="Aptos Mono"/>
                <a:ea typeface="Aptos Mono"/>
                <a:cs typeface="Aptos Mono"/>
              </a:rPr>
              <a:t>optimization/projected_battery_state.py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DAD6640-E74B-4AE5-BB68-D627420A9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038725"/>
            <a:ext cx="4953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34FBDF7-EADD-4239-A4FC-96D80F379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124450"/>
            <a:ext cx="495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63DC389-73F4-45E8-A2DB-02669D5FB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4981575"/>
            <a:ext cx="2428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152238"/>
                </a:solidFill>
                <a:latin typeface="Aptos"/>
                <a:ea typeface="Aptos"/>
                <a:cs typeface="Aptos"/>
              </a:defRPr>
            </a:pPr>
            <a:r>
              <a:rPr sz="1238" b="1">
                <a:solidFill>
                  <a:srgbClr val="152238"/>
                </a:solidFill>
                <a:latin typeface="Aptos"/>
                <a:ea typeface="Aptos"/>
                <a:cs typeface="Aptos"/>
              </a:rPr>
              <a:t>Read models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866D17F-9670-4763-A59A-2C6005BE0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000625"/>
            <a:ext cx="3333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persisted or in-memory stores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BBACC05-064A-4B19-9B64-5DDB923E2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962525"/>
            <a:ext cx="266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52238"/>
                </a:solidFill>
                <a:latin typeface="Aptos Mono"/>
                <a:ea typeface="Aptos Mono"/>
                <a:cs typeface="Aptos Mono"/>
              </a:defRPr>
            </a:pPr>
            <a:r>
              <a:rPr sz="840" b="0">
                <a:solidFill>
                  <a:srgbClr val="152238"/>
                </a:solidFill>
                <a:latin typeface="Aptos Mono"/>
                <a:ea typeface="Aptos Mono"/>
                <a:cs typeface="Aptos Mono"/>
              </a:rPr>
              <a:t>resources/*_store.py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47C530E-159A-4100-BFA6-F34D311A6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562600"/>
            <a:ext cx="4953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FCF59CC-4636-4E85-BF22-4A7253287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648325"/>
            <a:ext cx="495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8945A43-3920-4C52-AFC3-137B96463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5505450"/>
            <a:ext cx="2428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152238"/>
                </a:solidFill>
                <a:latin typeface="Aptos"/>
                <a:ea typeface="Aptos"/>
                <a:cs typeface="Aptos"/>
              </a:defRPr>
            </a:pPr>
            <a:r>
              <a:rPr sz="1238" b="1">
                <a:solidFill>
                  <a:srgbClr val="152238"/>
                </a:solidFill>
                <a:latin typeface="Aptos"/>
                <a:ea typeface="Aptos"/>
                <a:cs typeface="Aptos"/>
              </a:rPr>
              <a:t>Operator surface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2BCD147-7DC3-4FD2-AB6A-CABDD784A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524500"/>
            <a:ext cx="3333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FastAPI contracts and Nuxt dashboard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3E24318-BC46-48D0-B654-65D9C2EF0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5486400"/>
            <a:ext cx="266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52238"/>
                </a:solidFill>
                <a:latin typeface="Aptos Mono"/>
                <a:ea typeface="Aptos Mono"/>
                <a:cs typeface="Aptos Mono"/>
              </a:defRPr>
            </a:pPr>
            <a:r>
              <a:rPr sz="840" b="0">
                <a:solidFill>
                  <a:srgbClr val="152238"/>
                </a:solidFill>
                <a:latin typeface="Aptos Mono"/>
                <a:ea typeface="Aptos Mono"/>
                <a:cs typeface="Aptos Mono"/>
              </a:rPr>
              <a:t>api/main.py + dashboard/</a:t>
            </a:r>
          </a:p>
        </p:txBody>
      </p:sp>
    </p:spTree>
    <p:extLst>
      <p:ext uri="{BB962C8B-B14F-4D97-AF65-F5344CB8AC3E}">
        <p14:creationId xmlns:p14="http://schemas.microsoft.com/office/powerpoint/2010/main" val="35813837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16E9290-8247-4B18-A2DA-C20CA01C9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1878E3-C02F-4EF3-A8E2-9D3F6A1FE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0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213A42-601F-4201-A89F-E39AAB27C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61AE9D-5916-4B31-AD09-38910F70B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29375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4318B5-2C95-4BD2-8E71-5C53B3954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6096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637083"/>
                </a:solidFill>
                <a:latin typeface="Aptos"/>
                <a:ea typeface="Aptos"/>
                <a:cs typeface="Aptos"/>
              </a:rPr>
              <a:t>NEWCOMER OVERVIEW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79CF4E-01B2-4134-A338-3B30F816A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0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37083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D8026A-99C0-4037-AECE-811E42C0A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76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kicker-Baseline solver">
            <a:extLst xmlns:a="http://schemas.openxmlformats.org/drawingml/2006/main">
              <a:ext uri="{FF2B5EF4-FFF2-40B4-BE49-F238E27FC236}">
                <a16:creationId xmlns:a16="http://schemas.microsoft.com/office/drawing/2014/main" id="{8A145786-64E6-40C7-90F9-BE764DF4E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637083"/>
                </a:solidFill>
                <a:latin typeface="Aptos"/>
                <a:ea typeface="Aptos"/>
                <a:cs typeface="Aptos"/>
              </a:rPr>
              <a:t>B A S E L I N E   S O L V E 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299DA7-7E95-4CA3-80C8-B7B05F521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8572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2238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52238"/>
                </a:solidFill>
                <a:latin typeface="Aptos Display"/>
                <a:ea typeface="Aptos Display"/>
                <a:cs typeface="Aptos Display"/>
              </a:rPr>
              <a:t>The LP baseline is the reliable anchor future DFL must beat.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7936BC-C8E3-4108-A637-10E30EA4D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It is deliberately deterministic: easy to inspect, test, and compare against learned strategies later.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E9E169-0DDB-4B87-BA13-A91AF5417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495300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02D"/>
          </a:solidFill>
          <a:ln xmlns:a="http://schemas.openxmlformats.org/drawingml/2006/main" w="9525">
            <a:solidFill>
              <a:srgbClr val="16202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B60F1A-1DB6-4851-8879-E18543ED5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5715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3E401D-92D2-41FF-83ED-0140ACCF0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2890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Objective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C28151-7B1B-49C1-9B65-495AE80FF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19450"/>
            <a:ext cx="1219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0C2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FFF0C2"/>
                </a:solidFill>
                <a:latin typeface="Aptos Mono"/>
                <a:ea typeface="Aptos Mono"/>
                <a:cs typeface="Aptos Mono"/>
              </a:rPr>
              <a:t>maximize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B20711-F668-485C-A3CD-9F4074323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57600"/>
            <a:ext cx="3771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market value - degradation penalty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631DDF-926C-4DA0-B399-743B92C83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243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C9D4E4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C9D4E4"/>
                </a:solidFill>
                <a:latin typeface="Aptos"/>
                <a:ea typeface="Aptos"/>
                <a:cs typeface="Aptos"/>
              </a:rPr>
              <a:t>rolling horizon commits only the first step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C027A0-A659-411D-B371-7379270E3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76500"/>
            <a:ext cx="14287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537F0A-F10B-49CF-B5C0-B9E8069C2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76500"/>
            <a:ext cx="571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ED67B4-A564-4924-8CD7-8FAE9E5F9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705100"/>
            <a:ext cx="1123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E7490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0E7490"/>
                </a:solidFill>
                <a:latin typeface="Aptos Display"/>
                <a:ea typeface="Aptos Display"/>
                <a:cs typeface="Aptos Display"/>
              </a:rPr>
              <a:t>Inputs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24B28A-E00B-4148-9E38-6351BD182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219450"/>
            <a:ext cx="10858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5223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52238"/>
                </a:solidFill>
                <a:latin typeface="Aptos"/>
                <a:ea typeface="Aptos"/>
                <a:cs typeface="Aptos"/>
              </a:rPr>
              <a:t>hourly DAM prices</a:t>
            </a:r>
          </a:p>
          <a:p xmlns:a="http://schemas.openxmlformats.org/drawingml/2006/main">
            <a:pPr algn="ctr">
              <a:defRPr sz="975" b="0">
                <a:solidFill>
                  <a:srgbClr val="15223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52238"/>
                </a:solidFill>
                <a:latin typeface="Aptos"/>
                <a:ea typeface="Aptos"/>
                <a:cs typeface="Aptos"/>
              </a:rPr>
              <a:t>Level 1 forecast</a:t>
            </a:r>
          </a:p>
          <a:p xmlns:a="http://schemas.openxmlformats.org/drawingml/2006/main">
            <a:pPr algn="ctr">
              <a:defRPr sz="975" b="0">
                <a:solidFill>
                  <a:srgbClr val="15223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52238"/>
                </a:solidFill>
                <a:latin typeface="Aptos"/>
                <a:ea typeface="Aptos"/>
                <a:cs typeface="Aptos"/>
              </a:rPr>
              <a:t>battery defaults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E2F956-7CFA-418C-8E95-5D844AA93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76500"/>
            <a:ext cx="14287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054676-2CDC-4358-9EB2-CCB7F5721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76500"/>
            <a:ext cx="571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E673A9-104F-4F3B-A59F-5B65B3851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705100"/>
            <a:ext cx="1123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2410C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C2410C"/>
                </a:solidFill>
                <a:latin typeface="Aptos Display"/>
                <a:ea typeface="Aptos Display"/>
                <a:cs typeface="Aptos Display"/>
              </a:rPr>
              <a:t>Constraints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FADD42-14AF-4D57-AB50-1A1F523E7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219450"/>
            <a:ext cx="10858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5223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52238"/>
                </a:solidFill>
                <a:latin typeface="Aptos"/>
                <a:ea typeface="Aptos"/>
                <a:cs typeface="Aptos"/>
              </a:rPr>
              <a:t>SOC min/max</a:t>
            </a:r>
          </a:p>
          <a:p xmlns:a="http://schemas.openxmlformats.org/drawingml/2006/main">
            <a:pPr algn="ctr">
              <a:defRPr sz="975" b="0">
                <a:solidFill>
                  <a:srgbClr val="15223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52238"/>
                </a:solidFill>
                <a:latin typeface="Aptos"/>
                <a:ea typeface="Aptos"/>
                <a:cs typeface="Aptos"/>
              </a:rPr>
              <a:t>max power</a:t>
            </a:r>
          </a:p>
          <a:p xmlns:a="http://schemas.openxmlformats.org/drawingml/2006/main">
            <a:pPr algn="ctr">
              <a:defRPr sz="975" b="0">
                <a:solidFill>
                  <a:srgbClr val="15223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52238"/>
                </a:solidFill>
                <a:latin typeface="Aptos"/>
                <a:ea typeface="Aptos"/>
                <a:cs typeface="Aptos"/>
              </a:rPr>
              <a:t>charge/discharge balance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095A87-90C2-412F-AE1B-0D5F1498D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76500"/>
            <a:ext cx="14287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8F8E237-4C57-4ED0-9849-ACEAA4445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76500"/>
            <a:ext cx="571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5E7F93E-DB42-44F6-89D1-0370AD05D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705100"/>
            <a:ext cx="1123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F855A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2F855A"/>
                </a:solidFill>
                <a:latin typeface="Aptos Display"/>
                <a:ea typeface="Aptos Display"/>
                <a:cs typeface="Aptos Display"/>
              </a:rPr>
              <a:t>Output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8EEF7C1-AB5E-4732-B3F2-7EADC12D8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219450"/>
            <a:ext cx="10858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5223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52238"/>
                </a:solidFill>
                <a:latin typeface="Aptos"/>
                <a:ea typeface="Aptos"/>
                <a:cs typeface="Aptos"/>
              </a:rPr>
              <a:t>signed MW preview</a:t>
            </a:r>
          </a:p>
          <a:p xmlns:a="http://schemas.openxmlformats.org/drawingml/2006/main">
            <a:pPr algn="ctr">
              <a:defRPr sz="975" b="0">
                <a:solidFill>
                  <a:srgbClr val="15223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52238"/>
                </a:solidFill>
                <a:latin typeface="Aptos"/>
                <a:ea typeface="Aptos"/>
                <a:cs typeface="Aptos"/>
              </a:rPr>
              <a:t>projected SOC</a:t>
            </a:r>
          </a:p>
          <a:p xmlns:a="http://schemas.openxmlformats.org/drawingml/2006/main">
            <a:pPr algn="ctr">
              <a:defRPr sz="975" b="0">
                <a:solidFill>
                  <a:srgbClr val="15223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52238"/>
                </a:solidFill>
                <a:latin typeface="Aptos"/>
                <a:ea typeface="Aptos"/>
                <a:cs typeface="Aptos"/>
              </a:rPr>
              <a:t>UAH economics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1A16DF9-B698-4E57-9FAE-9CECE0D6F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524500"/>
            <a:ext cx="8039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9B4CB9B-B25E-4432-B2DC-2D6BDEF0B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524500"/>
            <a:ext cx="57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1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0C66667-2821-4A1F-AE2C-F8A37C6CD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695950"/>
            <a:ext cx="7658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223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52238"/>
                </a:solidFill>
                <a:latin typeface="Aptos"/>
                <a:ea typeface="Aptos"/>
                <a:cs typeface="Aptos"/>
              </a:rPr>
              <a:t>Why it matters: it is the control group for regret-aware research, not a throwaway fallback.</a:t>
            </a:r>
          </a:p>
        </p:txBody>
      </p:sp>
    </p:spTree>
    <p:extLst>
      <p:ext uri="{BB962C8B-B14F-4D97-AF65-F5344CB8AC3E}">
        <p14:creationId xmlns:p14="http://schemas.microsoft.com/office/powerpoint/2010/main" val="82466861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ECA61BE-E4C8-44AA-B56A-77895B099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534759-B364-48AA-B587-4F55DA466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0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0B0A4F-2A4F-4167-B7B3-4AF777814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307982-70D1-4576-886C-3ADF870F7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29375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52B8BB-2F74-45AD-A56B-63F4CA670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6096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637083"/>
                </a:solidFill>
                <a:latin typeface="Aptos"/>
                <a:ea typeface="Aptos"/>
                <a:cs typeface="Aptos"/>
              </a:rPr>
              <a:t>NEWCOMER OVERVIEW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59F1AE-E828-4E2D-96B2-763030DA8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0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37083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C440E6-C028-4AEE-BC19-349B0F898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76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kicker-Battery economics">
            <a:extLst xmlns:a="http://schemas.openxmlformats.org/drawingml/2006/main">
              <a:ext uri="{FF2B5EF4-FFF2-40B4-BE49-F238E27FC236}">
                <a16:creationId xmlns:a16="http://schemas.microsoft.com/office/drawing/2014/main" id="{5E4CC535-FFC3-4ADC-94C3-C0E069DF1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637083"/>
                </a:solidFill>
                <a:latin typeface="Aptos"/>
                <a:ea typeface="Aptos"/>
                <a:cs typeface="Aptos"/>
              </a:rPr>
              <a:t>B A T T E R Y   E C O N O M I C 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FC6390-4496-416F-89F6-02FA88030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8572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2238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52238"/>
                </a:solidFill>
                <a:latin typeface="Aptos Display"/>
                <a:ea typeface="Aptos Display"/>
                <a:cs typeface="Aptos Display"/>
              </a:rPr>
              <a:t>Battery wear is priced into the preview instead of hidden after the fact.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8D3BD9-1837-4E99-A770-FA0AFE1A7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The current battery layer is a feasibility-and-economics preview model, not a full electrochemical digital twin.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ED602D-FA91-4C9D-B905-782BF6546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28875"/>
            <a:ext cx="31432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A4BA98-41B2-4305-9559-72F2090E4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28875"/>
            <a:ext cx="571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A374D6-E7B8-4396-8C77-33EBCAB85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0510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F855A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2F855A"/>
                </a:solidFill>
                <a:latin typeface="Aptos Display"/>
                <a:ea typeface="Aptos Display"/>
                <a:cs typeface="Aptos Display"/>
              </a:rPr>
              <a:t>SOC envelope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06476C-713B-49DD-85A8-2980DF2AB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42900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0"/>
          </a:solidFill>
          <a:ln xmlns:a="http://schemas.openxmlformats.org/drawingml/2006/main" w="9525">
            <a:solidFill>
              <a:srgbClr val="D9DED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E758D3-1F74-4FB8-BBCD-D8C0C242F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429000"/>
            <a:ext cx="1885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713BA3-6F10-4A42-9B2A-033641EC4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86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37083"/>
                </a:solidFill>
                <a:latin typeface="Aptos"/>
                <a:ea typeface="Aptos"/>
                <a:cs typeface="Aptos"/>
              </a:rPr>
              <a:t>5%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EDF31F-44FC-4F13-85D8-30856B168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486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37083"/>
                </a:solidFill>
                <a:latin typeface="Aptos"/>
                <a:ea typeface="Aptos"/>
                <a:cs typeface="Aptos"/>
              </a:rPr>
              <a:t>95%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B9A436-F947-4896-91E7-737CBCC29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71950"/>
            <a:ext cx="228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floor and ceiling enforced before a recommendation is trusted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FCE3D5-D00A-4486-9804-BFC4DBDB1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628900"/>
            <a:ext cx="17526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D58A15-46C9-4BD9-8967-D286F608D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990850"/>
            <a:ext cx="1409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D99100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D99100"/>
                </a:solidFill>
                <a:latin typeface="Aptos Display"/>
                <a:ea typeface="Aptos Display"/>
                <a:cs typeface="Aptos Display"/>
              </a:rPr>
              <a:t>842.2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BD8FE4-7471-4F52-92C1-100D43CA4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562350"/>
            <a:ext cx="1333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223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52238"/>
                </a:solidFill>
                <a:latin typeface="Aptos"/>
                <a:ea typeface="Aptos"/>
                <a:cs typeface="Aptos"/>
              </a:rPr>
              <a:t>UAH/MWh throughput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0E6234-C691-48D0-9533-5D0F7C976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628900"/>
            <a:ext cx="17526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EE4A62-1DA0-4515-B4B5-89C25186B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990850"/>
            <a:ext cx="1409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C2410C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C2410C"/>
                </a:solidFill>
                <a:latin typeface="Aptos Display"/>
                <a:ea typeface="Aptos Display"/>
                <a:cs typeface="Aptos Display"/>
              </a:rPr>
              <a:t>16,843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9A8C30-6E68-4158-B340-05D8600C4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562350"/>
            <a:ext cx="1333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223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52238"/>
                </a:solidFill>
                <a:latin typeface="Aptos"/>
                <a:ea typeface="Aptos"/>
                <a:cs typeface="Aptos"/>
              </a:rPr>
              <a:t>UAH per full cycle proxy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529E764-FD10-4042-905D-65FC36E57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628900"/>
            <a:ext cx="17526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4F12F1F-805A-4B12-A6FB-9106C293D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990850"/>
            <a:ext cx="1409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0E7490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0E7490"/>
                </a:solidFill>
                <a:latin typeface="Aptos Display"/>
                <a:ea typeface="Aptos Display"/>
                <a:cs typeface="Aptos Display"/>
              </a:rPr>
              <a:t>10 MWh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A8D5250-8917-4F97-A1A7-CBADCEBEC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562350"/>
            <a:ext cx="1333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223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52238"/>
                </a:solidFill>
                <a:latin typeface="Aptos"/>
                <a:ea typeface="Aptos"/>
                <a:cs typeface="Aptos"/>
              </a:rPr>
              <a:t>demo battery capacity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967395C-020F-4818-89B3-3373BA9E5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895850"/>
            <a:ext cx="64579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02D"/>
          </a:solidFill>
          <a:ln xmlns:a="http://schemas.openxmlformats.org/drawingml/2006/main" w="9525">
            <a:solidFill>
              <a:srgbClr val="16202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D3ACBC5-F9D9-478F-BD8F-5D8D0B4DB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895850"/>
            <a:ext cx="57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57437B7-419C-4AD6-87C8-C81A3C10E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067300"/>
            <a:ext cx="6076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This is enough for baseline optimization and operator demo claims, but not enough for full digital-twin claims.</a:t>
            </a:r>
          </a:p>
        </p:txBody>
      </p:sp>
    </p:spTree>
    <p:extLst>
      <p:ext uri="{BB962C8B-B14F-4D97-AF65-F5344CB8AC3E}">
        <p14:creationId xmlns:p14="http://schemas.microsoft.com/office/powerpoint/2010/main" val="207184454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64D3BD9-1A5E-454F-9E1A-A81A24835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5ADB6F-5948-4571-BBC9-69B0ECD99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0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3598D4-7830-40DE-AAE3-5C10F3B89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03D927-247F-4A0C-8560-9840F9C0A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29375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5A1873-92A0-40D9-A2AE-FFAA8B41E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6096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637083"/>
                </a:solidFill>
                <a:latin typeface="Aptos"/>
                <a:ea typeface="Aptos"/>
                <a:cs typeface="Aptos"/>
              </a:rPr>
              <a:t>NEWCOMER OVERVIEW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B21CE6-D9BC-4CF8-A1F4-ADE7D370B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0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37083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FE87FE-349D-445E-A86E-861D933E7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76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kicker-Control plane">
            <a:extLst xmlns:a="http://schemas.openxmlformats.org/drawingml/2006/main">
              <a:ext uri="{FF2B5EF4-FFF2-40B4-BE49-F238E27FC236}">
                <a16:creationId xmlns:a16="http://schemas.microsoft.com/office/drawing/2014/main" id="{26BF077F-8D88-48BF-893E-4357EFDAE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637083"/>
                </a:solidFill>
                <a:latin typeface="Aptos"/>
                <a:ea typeface="Aptos"/>
                <a:cs typeface="Aptos"/>
              </a:rPr>
              <a:t>C O N T R O L   P L A N 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82A43E-BCDF-4F5D-9C39-1C9925D7D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8572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2238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52238"/>
                </a:solidFill>
                <a:latin typeface="Aptos Display"/>
                <a:ea typeface="Aptos Display"/>
                <a:cs typeface="Aptos Display"/>
              </a:rPr>
              <a:t>FastAPI owns the contracts the dashboard is allowed to read.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B67AFB-9F6F-44A9-AC00-A3BAD2F6F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Start debugging at /docs, then trace each endpoint back to api/main.py and resource stores.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695A02-4372-4DC9-8E30-2CD496535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4762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E6381C-0E42-4F68-B401-788262BB3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571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2CD127-571D-4659-A124-A08B96984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14600"/>
            <a:ext cx="1790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7490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E7490"/>
                </a:solidFill>
                <a:latin typeface="Aptos Display"/>
                <a:ea typeface="Aptos Display"/>
                <a:cs typeface="Aptos Display"/>
              </a:rPr>
              <a:t>Health and tenants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48C7F4-441E-493F-B64B-0D71006EA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574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52238"/>
                </a:solidFill>
                <a:latin typeface="Aptos Mono"/>
                <a:ea typeface="Aptos Mono"/>
                <a:cs typeface="Aptos Mono"/>
              </a:defRPr>
            </a:pPr>
            <a:r>
              <a:rPr sz="810" b="0">
                <a:solidFill>
                  <a:srgbClr val="152238"/>
                </a:solidFill>
                <a:latin typeface="Aptos Mono"/>
                <a:ea typeface="Aptos Mono"/>
                <a:cs typeface="Aptos Mono"/>
              </a:rPr>
              <a:t>GET /health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303B27-5097-483F-A6E6-D2A2F2267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7432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52238"/>
                </a:solidFill>
                <a:latin typeface="Aptos Mono"/>
                <a:ea typeface="Aptos Mono"/>
                <a:cs typeface="Aptos Mono"/>
              </a:defRPr>
            </a:pPr>
            <a:r>
              <a:rPr sz="810" b="0">
                <a:solidFill>
                  <a:srgbClr val="152238"/>
                </a:solidFill>
                <a:latin typeface="Aptos Mono"/>
                <a:ea typeface="Aptos Mono"/>
                <a:cs typeface="Aptos Mono"/>
              </a:rPr>
              <a:t>GET /tenants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C5C86C-9A11-4911-AEA1-9A132DBB3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305050"/>
            <a:ext cx="4762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16B1CA-21AE-4CE6-BF4B-86C93E106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305050"/>
            <a:ext cx="571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3195DE-1472-4C5A-ACDC-181271AFD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514600"/>
            <a:ext cx="1790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855A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2F855A"/>
                </a:solidFill>
                <a:latin typeface="Aptos Display"/>
                <a:ea typeface="Aptos Display"/>
                <a:cs typeface="Aptos Display"/>
              </a:rPr>
              <a:t>Weather control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D8032B-4618-41CF-9387-9B84981FB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574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52238"/>
                </a:solidFill>
                <a:latin typeface="Aptos Mono"/>
                <a:ea typeface="Aptos Mono"/>
                <a:cs typeface="Aptos Mono"/>
              </a:defRPr>
            </a:pPr>
            <a:r>
              <a:rPr sz="810" b="0">
                <a:solidFill>
                  <a:srgbClr val="152238"/>
                </a:solidFill>
                <a:latin typeface="Aptos Mono"/>
                <a:ea typeface="Aptos Mono"/>
                <a:cs typeface="Aptos Mono"/>
              </a:rPr>
              <a:t>POST /weather/run-config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7D03DF-431F-418D-BF7A-8B730F049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7432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52238"/>
                </a:solidFill>
                <a:latin typeface="Aptos Mono"/>
                <a:ea typeface="Aptos Mono"/>
                <a:cs typeface="Aptos Mono"/>
              </a:defRPr>
            </a:pPr>
            <a:r>
              <a:rPr sz="810" b="0">
                <a:solidFill>
                  <a:srgbClr val="152238"/>
                </a:solidFill>
                <a:latin typeface="Aptos Mono"/>
                <a:ea typeface="Aptos Mono"/>
                <a:cs typeface="Aptos Mono"/>
              </a:rPr>
              <a:t>POST /weather/materialize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7B2C03-7482-4130-8100-84A110216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4762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CC61E1-E2EC-46AB-93F7-78C1BD8AB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571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1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AD22AA-511A-4F8E-A278-4B6612DA8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57650"/>
            <a:ext cx="1790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99100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D99100"/>
                </a:solidFill>
                <a:latin typeface="Aptos Display"/>
                <a:ea typeface="Aptos Display"/>
                <a:cs typeface="Aptos Display"/>
              </a:rPr>
              <a:t>Signal preview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6F148D-028B-4436-860C-8520F27F6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0005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52238"/>
                </a:solidFill>
                <a:latin typeface="Aptos Mono"/>
                <a:ea typeface="Aptos Mono"/>
                <a:cs typeface="Aptos Mono"/>
              </a:defRPr>
            </a:pPr>
            <a:r>
              <a:rPr sz="810" b="0">
                <a:solidFill>
                  <a:srgbClr val="152238"/>
                </a:solidFill>
                <a:latin typeface="Aptos Mono"/>
                <a:ea typeface="Aptos Mono"/>
                <a:cs typeface="Aptos Mono"/>
              </a:rPr>
              <a:t>GET /dashboard/signal-preview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C96BEA-3271-4998-B7D2-9DE47A849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2862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52238"/>
                </a:solidFill>
                <a:latin typeface="Aptos Mono"/>
                <a:ea typeface="Aptos Mono"/>
                <a:cs typeface="Aptos Mono"/>
              </a:defRPr>
            </a:pPr>
            <a:r>
              <a:rPr sz="810" b="0">
                <a:solidFill>
                  <a:srgbClr val="152238"/>
                </a:solidFill>
                <a:latin typeface="Aptos Mono"/>
                <a:ea typeface="Aptos Mono"/>
                <a:cs typeface="Aptos Mono"/>
              </a:rPr>
              <a:t>GET /dashboard/operator-status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C323DD-E123-4C03-A790-F9992D670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848100"/>
            <a:ext cx="4762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1845C10-6431-433A-B1DC-D51DCBDF1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848100"/>
            <a:ext cx="571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5B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FC452E-1A90-4697-B2BE-33D225F50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57650"/>
            <a:ext cx="1790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D5BD0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6D5BD0"/>
                </a:solidFill>
                <a:latin typeface="Aptos Display"/>
                <a:ea typeface="Aptos Display"/>
                <a:cs typeface="Aptos Display"/>
              </a:rPr>
              <a:t>Battery and baseline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03206C5-B44E-4FB3-88DA-9D5E8EEEF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0005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52238"/>
                </a:solidFill>
                <a:latin typeface="Aptos Mono"/>
                <a:ea typeface="Aptos Mono"/>
                <a:cs typeface="Aptos Mono"/>
              </a:defRPr>
            </a:pPr>
            <a:r>
              <a:rPr sz="810" b="0">
                <a:solidFill>
                  <a:srgbClr val="152238"/>
                </a:solidFill>
                <a:latin typeface="Aptos Mono"/>
                <a:ea typeface="Aptos Mono"/>
                <a:cs typeface="Aptos Mono"/>
              </a:rPr>
              <a:t>POST /dashboard/projected-battery-state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7C62353-C8FC-422E-99F4-36AA89AE0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2862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52238"/>
                </a:solidFill>
                <a:latin typeface="Aptos Mono"/>
                <a:ea typeface="Aptos Mono"/>
                <a:cs typeface="Aptos Mono"/>
              </a:defRPr>
            </a:pPr>
            <a:r>
              <a:rPr sz="810" b="0">
                <a:solidFill>
                  <a:srgbClr val="152238"/>
                </a:solidFill>
                <a:latin typeface="Aptos Mono"/>
                <a:ea typeface="Aptos Mono"/>
                <a:cs typeface="Aptos Mono"/>
              </a:rPr>
              <a:t>GET /dashboard/baseline-lp-preview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D010007-6421-4410-B7F3-4363365A5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5720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52238"/>
                </a:solidFill>
                <a:latin typeface="Aptos Mono"/>
                <a:ea typeface="Aptos Mono"/>
                <a:cs typeface="Aptos Mono"/>
              </a:defRPr>
            </a:pPr>
            <a:r>
              <a:rPr sz="810" b="0">
                <a:solidFill>
                  <a:srgbClr val="152238"/>
                </a:solidFill>
                <a:latin typeface="Aptos Mono"/>
                <a:ea typeface="Aptos Mono"/>
                <a:cs typeface="Aptos Mono"/>
              </a:rPr>
              <a:t>GET /dashboard/battery-state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EDA319E-FC1B-4CDC-9ED4-6DD9F6737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600700"/>
            <a:ext cx="7810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D5616B6-78DC-4EF7-957F-1830AE6D2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600700"/>
            <a:ext cx="57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5C0A084-99DE-49E0-BE4C-49FDE40E1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772150"/>
            <a:ext cx="742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223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52238"/>
                </a:solidFill>
                <a:latin typeface="Aptos"/>
                <a:ea typeface="Aptos"/>
                <a:cs typeface="Aptos"/>
              </a:rPr>
              <a:t>Backend-owned read models keep strategy logic out of the UI and make demo behavior repeatable.</a:t>
            </a:r>
          </a:p>
        </p:txBody>
      </p:sp>
    </p:spTree>
    <p:extLst>
      <p:ext uri="{BB962C8B-B14F-4D97-AF65-F5344CB8AC3E}">
        <p14:creationId xmlns:p14="http://schemas.microsoft.com/office/powerpoint/2010/main" val="46747894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C6036B8-A1CB-4453-B004-96FD8D805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257AF9-5DA2-48D9-996E-AA4A83686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0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266557-CC33-4685-A929-5B009CDB2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AE436B-7630-40EF-9234-4C0D12C9F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29375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458254-C927-4991-91C1-3EE03DAAA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6096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637083"/>
                </a:solidFill>
                <a:latin typeface="Aptos"/>
                <a:ea typeface="Aptos"/>
                <a:cs typeface="Aptos"/>
              </a:rPr>
              <a:t>NEWCOMER OVERVIEW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A94CD7-18F0-4BDC-96E9-0B6424021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0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37083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BFF1C1-9606-437D-B70C-6AD4CE6E6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76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kicker-Dashboard flow">
            <a:extLst xmlns:a="http://schemas.openxmlformats.org/drawingml/2006/main">
              <a:ext uri="{FF2B5EF4-FFF2-40B4-BE49-F238E27FC236}">
                <a16:creationId xmlns:a16="http://schemas.microsoft.com/office/drawing/2014/main" id="{AB2A48B6-53D4-4091-9831-1D125A4C5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637083"/>
                </a:solidFill>
                <a:latin typeface="Aptos"/>
                <a:ea typeface="Aptos"/>
                <a:cs typeface="Aptos"/>
              </a:rPr>
              <a:t>D A S H B O A R D   F L O 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F73784-06FC-4DF4-BD94-1F2C208EA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8572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2238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52238"/>
                </a:solidFill>
                <a:latin typeface="Aptos Display"/>
                <a:ea typeface="Aptos Display"/>
                <a:cs typeface="Aptos Display"/>
              </a:rPr>
              <a:t>Nuxt is the operator surface; it should not become the strategy engine.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25E258-4283-4499-A03E-3A2F0A171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The dashboard composes read models, proxies requests same-origin, and renders decision state for review.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C781D6-0422-4FB2-A9A0-1752083D8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16192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9C292A-87A5-4650-AF12-00023CE2E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161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7245F9-3647-4BA2-BD9B-DFFA278A2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47950"/>
            <a:ext cx="1352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52238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52238"/>
                </a:solidFill>
                <a:latin typeface="Aptos"/>
                <a:ea typeface="Aptos"/>
                <a:cs typeface="Aptos"/>
              </a:rPr>
              <a:t>operator.vue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D8A2EC-2400-43D9-BE12-2CA5527F1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14650"/>
            <a:ext cx="13525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page composition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F11899-C7AE-4862-9C79-8542CC780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990850"/>
            <a:ext cx="457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20A5E3-5B98-438C-A274-86378EAA3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495550"/>
            <a:ext cx="16192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F6852E-BEF6-4332-9613-67CB01430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495550"/>
            <a:ext cx="161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04D7A8-ECD9-44D4-885F-77F8A0F02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647950"/>
            <a:ext cx="1352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52238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52238"/>
                </a:solidFill>
                <a:latin typeface="Aptos"/>
                <a:ea typeface="Aptos"/>
                <a:cs typeface="Aptos"/>
              </a:rPr>
              <a:t>composables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B5D459-7AAE-4F49-86A0-47A05020A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914650"/>
            <a:ext cx="13525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load tenants, signal, baseline, weather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120838-E940-4951-B5A9-7506FD909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990850"/>
            <a:ext cx="457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2FE9B4-17AE-445E-8633-277D07F1E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495550"/>
            <a:ext cx="16192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8FFF9C-97EE-4F5C-BD84-68C4D8B44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495550"/>
            <a:ext cx="161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1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6F92FF-B3DA-4174-879B-69E05618C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647950"/>
            <a:ext cx="1352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52238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52238"/>
                </a:solidFill>
                <a:latin typeface="Aptos"/>
                <a:ea typeface="Aptos"/>
                <a:cs typeface="Aptos"/>
              </a:rPr>
              <a:t>Nuxt server routes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F0577A-5D51-4877-BA81-EF3DFE1AC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914650"/>
            <a:ext cx="13525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same-origin proxy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05FFDA-F79E-4130-A31F-763BFCB4A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990850"/>
            <a:ext cx="457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B9F14F6-538D-41EE-89EA-328C379C8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495550"/>
            <a:ext cx="16192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D016D93-193C-4103-99E2-857493BB1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495550"/>
            <a:ext cx="161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5B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CC6FFBB-EDDA-4E03-96B3-1A7FC8A3E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647950"/>
            <a:ext cx="1352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52238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52238"/>
                </a:solidFill>
                <a:latin typeface="Aptos"/>
                <a:ea typeface="Aptos"/>
                <a:cs typeface="Aptos"/>
              </a:rPr>
              <a:t>FastAPI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02AC1F4-00D5-41EA-98A5-C4CDF2F0C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914650"/>
            <a:ext cx="13525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control-plane contracts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08AC171-3831-41BF-AB60-0C8E59DEC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990850"/>
            <a:ext cx="457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FFF6C14-97C4-4DAC-97EA-BC21F9456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495550"/>
            <a:ext cx="16192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3375AAF-5ADF-4558-9A4D-A32EDA772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495550"/>
            <a:ext cx="161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B581AA8-4464-4F7B-AA71-8F71E2BF4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647950"/>
            <a:ext cx="1352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52238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52238"/>
                </a:solidFill>
                <a:latin typeface="Aptos"/>
                <a:ea typeface="Aptos"/>
                <a:cs typeface="Aptos"/>
              </a:rPr>
              <a:t>stores/assets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E320471-1516-4982-AEB1-E6527235D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914650"/>
            <a:ext cx="13525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backend-owned state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D76A19E-4013-47EE-9422-7431E5FCB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00550"/>
            <a:ext cx="92964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FEF62B5-2D28-40C6-B16A-B9C793EA4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62915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4F7"/>
          </a:solidFill>
          <a:ln xmlns:a="http://schemas.openxmlformats.org/drawingml/2006/main" w="9525">
            <a:solidFill>
              <a:srgbClr val="D9DED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174E0A2-482E-47C2-B1D9-79181AB28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686300"/>
            <a:ext cx="2190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0E7490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0E7490"/>
                </a:solidFill>
                <a:latin typeface="Aptos"/>
                <a:ea typeface="Aptos"/>
                <a:cs typeface="Aptos"/>
              </a:rPr>
              <a:t>Market signal hero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93254BC-A83A-421A-9417-211CED710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62915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D9DED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09A6D14-3175-474F-9F47-92909DC89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686300"/>
            <a:ext cx="2190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2F855A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2F855A"/>
                </a:solidFill>
                <a:latin typeface="Aptos"/>
                <a:ea typeface="Aptos"/>
                <a:cs typeface="Aptos"/>
              </a:rPr>
              <a:t>Baseline schedule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4F29802-0762-4E7F-A932-6C732AD53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62915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C2"/>
          </a:solidFill>
          <a:ln xmlns:a="http://schemas.openxmlformats.org/drawingml/2006/main" w="9525">
            <a:solidFill>
              <a:srgbClr val="D9DED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6AB7B59-4222-4256-80ED-897403C53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686300"/>
            <a:ext cx="2190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D99100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D99100"/>
                </a:solidFill>
                <a:latin typeface="Aptos"/>
                <a:ea typeface="Aptos"/>
                <a:cs typeface="Aptos"/>
              </a:rPr>
              <a:t>SOC and battery panel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4BC52BB-C46B-4F71-97C4-83786DA38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02920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4F7"/>
          </a:solidFill>
          <a:ln xmlns:a="http://schemas.openxmlformats.org/drawingml/2006/main" w="9525">
            <a:solidFill>
              <a:srgbClr val="D9DED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6CE97B1-D099-4575-8AB1-3C106257A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086350"/>
            <a:ext cx="2190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0E7490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0E7490"/>
                </a:solidFill>
                <a:latin typeface="Aptos"/>
                <a:ea typeface="Aptos"/>
                <a:cs typeface="Aptos"/>
              </a:rPr>
              <a:t>Gatekeeper status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D00FA53-0F1F-4CCB-90CA-C15C80FFD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502920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D9DED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F11C3EF-1B5A-471B-BA54-452A3CD1A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086350"/>
            <a:ext cx="2190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2F855A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2F855A"/>
                </a:solidFill>
                <a:latin typeface="Aptos"/>
                <a:ea typeface="Aptos"/>
                <a:cs typeface="Aptos"/>
              </a:rPr>
              <a:t>Weather controls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4369962-CF5D-4760-B082-8B8B59309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502920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C2"/>
          </a:solidFill>
          <a:ln xmlns:a="http://schemas.openxmlformats.org/drawingml/2006/main" w="9525">
            <a:solidFill>
              <a:srgbClr val="D9DED8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0F3ADF3-C2D2-4C91-A17F-5AAE485BC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5086350"/>
            <a:ext cx="2190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D99100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D99100"/>
                </a:solidFill>
                <a:latin typeface="Aptos"/>
                <a:ea typeface="Aptos"/>
                <a:cs typeface="Aptos"/>
              </a:rPr>
              <a:t>Right rail notes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2D7C275-9FBC-4539-9BFD-156F60696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810250"/>
            <a:ext cx="6953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02D"/>
          </a:solidFill>
          <a:ln xmlns:a="http://schemas.openxmlformats.org/drawingml/2006/main" w="9525">
            <a:solidFill>
              <a:srgbClr val="16202D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F32903F-84FA-45BF-95D1-736980816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810250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1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7F9F2D5-2CB1-4A21-A4C1-22E954C95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5981700"/>
            <a:ext cx="6572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If a request fails, check both sides: the Nuxt proxy route and the FastAPI endpoint.</a:t>
            </a:r>
          </a:p>
        </p:txBody>
      </p:sp>
    </p:spTree>
    <p:extLst>
      <p:ext uri="{BB962C8B-B14F-4D97-AF65-F5344CB8AC3E}">
        <p14:creationId xmlns:p14="http://schemas.microsoft.com/office/powerpoint/2010/main" val="212505503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3CDC6AE-D0D7-428B-B009-D1FA15F27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9BEA3B-9992-46BE-81BB-3850A2B30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0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59F10E-7BB9-43C4-8FD9-DF0945F6D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1A265F-1F23-4FC5-AD46-02BED70D5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29375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955D67-4284-488A-8FBD-49E675DB7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6096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637083"/>
                </a:solidFill>
                <a:latin typeface="Aptos"/>
                <a:ea typeface="Aptos"/>
                <a:cs typeface="Aptos"/>
              </a:rPr>
              <a:t>NEWCOMER OVERVIEW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DE05EC-C512-43AC-869B-51DCDFEC4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0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37083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82F795-85A2-4FF1-8E44-3001FAFA9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76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kicker-Local stack">
            <a:extLst xmlns:a="http://schemas.openxmlformats.org/drawingml/2006/main">
              <a:ext uri="{FF2B5EF4-FFF2-40B4-BE49-F238E27FC236}">
                <a16:creationId xmlns:a16="http://schemas.microsoft.com/office/drawing/2014/main" id="{F48544DD-26B4-43C8-8428-8D53B1305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637083"/>
                </a:solidFill>
                <a:latin typeface="Aptos"/>
                <a:ea typeface="Aptos"/>
                <a:cs typeface="Aptos"/>
              </a:rPr>
              <a:t>L O C A L   S T A C 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A110F9-A34D-4F6C-9F47-4F4EF59D0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8572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2238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52238"/>
                </a:solidFill>
                <a:latin typeface="Aptos Display"/>
                <a:ea typeface="Aptos Display"/>
                <a:cs typeface="Aptos Display"/>
              </a:rPr>
              <a:t>The project can run lightweight for tests or full-stack for demos.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D90B5E-DB5D-427C-9DBC-43AA4B28D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That split is intentional: it keeps small tests fast while preserving a realistic MLOps path.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219C0C-BAAA-4522-9316-FCAD39CDA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38400"/>
            <a:ext cx="47625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94D653-862F-4A7F-986C-B52864127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38400"/>
            <a:ext cx="571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B9AE61-D7A8-47BE-B5CD-7F2CDD81F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00350"/>
            <a:ext cx="3714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F855A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2F855A"/>
                </a:solidFill>
                <a:latin typeface="Aptos Display"/>
                <a:ea typeface="Aptos Display"/>
                <a:cs typeface="Aptos Display"/>
              </a:rPr>
              <a:t>Without DSNs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973C15-997D-4FC7-92C5-6E9CC2B9A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4956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A4EE00-2FA7-4C2A-8481-9D551AF1D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29000"/>
            <a:ext cx="3162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5223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52238"/>
                </a:solidFill>
                <a:latin typeface="Aptos"/>
                <a:ea typeface="Aptos"/>
                <a:cs typeface="Aptos"/>
              </a:rPr>
              <a:t>stores fall back to null or in-memory adapters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0541B1-06BD-412B-A765-B22CB1A12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100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3E14A5-6D38-488E-B0A5-57516A3DC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943350"/>
            <a:ext cx="3162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5223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52238"/>
                </a:solidFill>
                <a:latin typeface="Aptos"/>
                <a:ea typeface="Aptos"/>
                <a:cs typeface="Aptos"/>
              </a:rPr>
              <a:t>good for local demos and isolated tests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2FF1E8-88A1-44DF-AE19-0EF9D7C30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243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E2E085-9A4B-4EA5-BDAE-22A6FD3D4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57700"/>
            <a:ext cx="3162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5223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52238"/>
                </a:solidFill>
                <a:latin typeface="Aptos"/>
                <a:ea typeface="Aptos"/>
                <a:cs typeface="Aptos"/>
              </a:rPr>
              <a:t>lower startup cost, fewer moving parts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96A813-E4A9-4B83-83D6-5AF5B2694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438400"/>
            <a:ext cx="47625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02D"/>
          </a:solidFill>
          <a:ln xmlns:a="http://schemas.openxmlformats.org/drawingml/2006/main" w="9525">
            <a:solidFill>
              <a:srgbClr val="16202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804D78-0CF8-4265-8F56-F2BAEF992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438400"/>
            <a:ext cx="571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792475-34DF-4185-8885-A15DAADF1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800350"/>
            <a:ext cx="3714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Docker Compose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DCC043-9BEE-4874-A872-7CE05A58D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42900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D9DE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A8A3AD-08A5-41A0-AF5D-A122553D0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486150"/>
            <a:ext cx="1238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2F855A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2F855A"/>
                </a:solidFill>
                <a:latin typeface="Aptos"/>
                <a:ea typeface="Aptos"/>
                <a:cs typeface="Aptos"/>
              </a:rPr>
              <a:t>Postgres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C27ACCD-34EC-4C1F-BBFF-28CA565FB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42900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C2"/>
          </a:solidFill>
          <a:ln xmlns:a="http://schemas.openxmlformats.org/drawingml/2006/main" w="9525">
            <a:solidFill>
              <a:srgbClr val="D9DE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6A0E767-BE84-4CCB-8B90-6865014F2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486150"/>
            <a:ext cx="1238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D99100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D99100"/>
                </a:solidFill>
                <a:latin typeface="Aptos"/>
                <a:ea typeface="Aptos"/>
                <a:cs typeface="Aptos"/>
              </a:rPr>
              <a:t>MQTT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4EA679B-CDAB-4916-A521-848DF3B5D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88620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5FF"/>
          </a:solidFill>
          <a:ln xmlns:a="http://schemas.openxmlformats.org/drawingml/2006/main" w="9525">
            <a:solidFill>
              <a:srgbClr val="D9DED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EB52D19-D69F-427E-A5B6-D062E1460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943350"/>
            <a:ext cx="1238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6D5BD0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6D5BD0"/>
                </a:solidFill>
                <a:latin typeface="Aptos"/>
                <a:ea typeface="Aptos"/>
                <a:cs typeface="Aptos"/>
              </a:rPr>
              <a:t>MLflow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94C81BD-86F9-4F45-BB8C-AADF9EC62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88620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4F7"/>
          </a:solidFill>
          <a:ln xmlns:a="http://schemas.openxmlformats.org/drawingml/2006/main" w="9525">
            <a:solidFill>
              <a:srgbClr val="D9DED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62748F7-1509-4D8A-8325-7B1F98B55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943350"/>
            <a:ext cx="1238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0E7490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0E7490"/>
                </a:solidFill>
                <a:latin typeface="Aptos"/>
                <a:ea typeface="Aptos"/>
                <a:cs typeface="Aptos"/>
              </a:rPr>
              <a:t>Dagster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0387BCB-5555-4C48-8B87-DD9778A99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34340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4F7"/>
          </a:solidFill>
          <a:ln xmlns:a="http://schemas.openxmlformats.org/drawingml/2006/main" w="9525">
            <a:solidFill>
              <a:srgbClr val="D9DED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32F2257-8C51-4909-B660-950C11AD9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400550"/>
            <a:ext cx="1238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0E7490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0E7490"/>
                </a:solidFill>
                <a:latin typeface="Aptos"/>
                <a:ea typeface="Aptos"/>
                <a:cs typeface="Aptos"/>
              </a:rPr>
              <a:t>FastAPI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55134CD-B88A-4339-B647-0EE048A03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581650"/>
            <a:ext cx="7620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DAE5875-1405-465F-88BF-DAD7355CC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581650"/>
            <a:ext cx="571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1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814BDB3-22DF-441E-AC7B-DB550A363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75310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223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52238"/>
                </a:solidFill>
                <a:latin typeface="Aptos"/>
                <a:ea typeface="Aptos"/>
                <a:cs typeface="Aptos"/>
              </a:rPr>
              <a:t>Rule of thumb: tests should not need the full stack; supervisor demos usually benefit from it.</a:t>
            </a:r>
          </a:p>
        </p:txBody>
      </p:sp>
    </p:spTree>
    <p:extLst>
      <p:ext uri="{BB962C8B-B14F-4D97-AF65-F5344CB8AC3E}">
        <p14:creationId xmlns:p14="http://schemas.microsoft.com/office/powerpoint/2010/main" val="677931417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829B7B7-B0F2-48AA-9E97-202C00ED3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AB5715-6D1F-4701-A313-45F857C2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0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5FD3EF-9CAC-4D0B-8BB5-924E36718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522341-AA6F-43E4-95F2-03D0CC2A4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29375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8A633E-0CB9-464A-83A5-3F0618DA8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6096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637083"/>
                </a:solidFill>
                <a:latin typeface="Aptos"/>
                <a:ea typeface="Aptos"/>
                <a:cs typeface="Aptos"/>
              </a:rPr>
              <a:t>NEWCOMER OVERVIEW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3A3006-5317-4C7F-BC28-7B0FE95F8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0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37083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37826C-6E36-4F62-A99F-6BA2E8719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76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kicker-Scope boundary">
            <a:extLst xmlns:a="http://schemas.openxmlformats.org/drawingml/2006/main">
              <a:ext uri="{FF2B5EF4-FFF2-40B4-BE49-F238E27FC236}">
                <a16:creationId xmlns:a16="http://schemas.microsoft.com/office/drawing/2014/main" id="{2F06C112-5694-4437-AC69-C88C4E0C4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637083"/>
                </a:solidFill>
                <a:latin typeface="Aptos"/>
                <a:ea typeface="Aptos"/>
                <a:cs typeface="Aptos"/>
              </a:rPr>
              <a:t>S C O P E   B O U N D A R 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437F4C-6088-4342-BDFD-5DE6F1BED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8572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2238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52238"/>
                </a:solidFill>
                <a:latin typeface="Aptos Display"/>
                <a:ea typeface="Aptos Display"/>
                <a:cs typeface="Aptos Display"/>
              </a:rPr>
              <a:t>Implemented MVP and planned research must stay visibly separate.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A58F25-36A2-4A93-9DCB-51EE331D9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This boundary protects the thesis narrative and keeps the demo credible.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7DAC2E-774F-4304-B682-279007B69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49053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D9DED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A51FDB-9562-403C-A98C-5EFB5A347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1750"/>
            <a:ext cx="400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F855A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2F855A"/>
                </a:solidFill>
                <a:latin typeface="Aptos Display"/>
                <a:ea typeface="Aptos Display"/>
                <a:cs typeface="Aptos Display"/>
              </a:rPr>
              <a:t>Implemented / demo-ready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1B2895-C03F-4413-85FB-E74E85F8E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480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E1464A-6A1D-4E03-B23F-A24AD5BD7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181350"/>
            <a:ext cx="3448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52238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52238"/>
                </a:solidFill>
                <a:latin typeface="Aptos"/>
                <a:ea typeface="Aptos"/>
                <a:cs typeface="Aptos"/>
              </a:rPr>
              <a:t>tenant-aware weather control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F32984-4F5D-47BC-8873-11F273346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6290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046C5B-5DF4-47FC-A70E-A81A8B8E3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562350"/>
            <a:ext cx="3448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52238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52238"/>
                </a:solidFill>
                <a:latin typeface="Aptos"/>
                <a:ea typeface="Aptos"/>
                <a:cs typeface="Aptos"/>
              </a:rPr>
              <a:t>baseline LP recommendation preview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47EF8E-F987-44B1-B36A-78B80907A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100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03D5C7-AC3D-4D87-9853-AF7FADCE7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943350"/>
            <a:ext cx="3448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52238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52238"/>
                </a:solidFill>
                <a:latin typeface="Aptos"/>
                <a:ea typeface="Aptos"/>
                <a:cs typeface="Aptos"/>
              </a:rPr>
              <a:t>projected SOC and UAH economics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DBA265-A17E-4F93-B3C8-72E6F9913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3910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54DA66-6917-469B-8AC6-0678BC083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324350"/>
            <a:ext cx="3448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52238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52238"/>
                </a:solidFill>
                <a:latin typeface="Aptos"/>
                <a:ea typeface="Aptos"/>
                <a:cs typeface="Aptos"/>
              </a:rPr>
              <a:t>operator dashboard surface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D82F5F-6790-492D-8597-A57640C4F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7720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D2A6CE-E432-4F0E-B164-E328D4A66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705350"/>
            <a:ext cx="3448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52238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52238"/>
                </a:solidFill>
                <a:latin typeface="Aptos"/>
                <a:ea typeface="Aptos"/>
                <a:cs typeface="Aptos"/>
              </a:rPr>
              <a:t>Dagster/API/persistence hooks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C474D9-2BAB-489B-81A1-BA542D388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247900"/>
            <a:ext cx="49053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5FF"/>
          </a:solidFill>
          <a:ln xmlns:a="http://schemas.openxmlformats.org/drawingml/2006/main" w="9525">
            <a:solidFill>
              <a:srgbClr val="D9DE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49FA93-925A-409E-8D7D-CF6382001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571750"/>
            <a:ext cx="400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6D5BD0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6D5BD0"/>
                </a:solidFill>
                <a:latin typeface="Aptos Display"/>
                <a:ea typeface="Aptos Display"/>
                <a:cs typeface="Aptos Display"/>
              </a:rPr>
              <a:t>Planned research direction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2D7702-E509-4AE6-9212-32936A0B8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2480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E9FCA4D-F300-4C1E-B132-3DBC1A920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181350"/>
            <a:ext cx="3448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52238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52238"/>
                </a:solidFill>
                <a:latin typeface="Aptos"/>
                <a:ea typeface="Aptos"/>
                <a:cs typeface="Aptos"/>
              </a:rPr>
              <a:t>NBEATSx / TFT comparison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ABE3A7F-891B-4433-86AA-1B1FBD105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6290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A10FA87-7276-4DED-97FE-28D457208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562350"/>
            <a:ext cx="3448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52238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52238"/>
                </a:solidFill>
                <a:latin typeface="Aptos"/>
                <a:ea typeface="Aptos"/>
                <a:cs typeface="Aptos"/>
              </a:rPr>
              <a:t>Decision-Focused Learning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B8E55A9-4342-4639-9CF9-D4B6E324B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0100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358620C-ACD1-45E0-A75B-E951A9C6C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943350"/>
            <a:ext cx="3448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52238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52238"/>
                </a:solidFill>
                <a:latin typeface="Aptos"/>
                <a:ea typeface="Aptos"/>
                <a:cs typeface="Aptos"/>
              </a:rPr>
              <a:t>differentiable or surrogate clearing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494E9B6-1A1E-4C66-9655-2E4670C61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3910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E5B6C92-9C94-4814-8CEB-B163A99E1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324350"/>
            <a:ext cx="3448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52238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52238"/>
                </a:solidFill>
                <a:latin typeface="Aptos"/>
                <a:ea typeface="Aptos"/>
                <a:cs typeface="Aptos"/>
              </a:rPr>
              <a:t>learned strategy layer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9191204-7206-4C04-8764-68C535669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7720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DD80BBC-021A-45A9-B729-FA9CFDC22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705350"/>
            <a:ext cx="3448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52238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52238"/>
                </a:solidFill>
                <a:latin typeface="Aptos"/>
                <a:ea typeface="Aptos"/>
                <a:cs typeface="Aptos"/>
              </a:rPr>
              <a:t>deeper digital twin and wider markets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FD27BF0-5974-4161-A999-78F03EB38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5810250"/>
            <a:ext cx="5029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02D"/>
          </a:solidFill>
          <a:ln xmlns:a="http://schemas.openxmlformats.org/drawingml/2006/main" w="9525">
            <a:solidFill>
              <a:srgbClr val="16202D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910587E-3F74-4548-8B0E-0AC36CE1D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5810250"/>
            <a:ext cx="57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3CC19F0-EF34-4260-AB98-EA4ABCFAD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5981700"/>
            <a:ext cx="4648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Do not present planned DFL as already implemented.</a:t>
            </a:r>
          </a:p>
        </p:txBody>
      </p:sp>
    </p:spTree>
    <p:extLst>
      <p:ext uri="{BB962C8B-B14F-4D97-AF65-F5344CB8AC3E}">
        <p14:creationId xmlns:p14="http://schemas.microsoft.com/office/powerpoint/2010/main" val="1559209235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2F28219-9563-4B88-A0C7-19C4A1C5C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E1EE00-CD85-49D0-B79E-682E15521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0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70AA11-C90A-4811-A552-36DE59439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13D1CA-6AD3-407E-BB00-01A66B0B3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29375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FD366D-CE58-454F-BB27-5885174C4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6096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637083"/>
                </a:solidFill>
                <a:latin typeface="Aptos"/>
                <a:ea typeface="Aptos"/>
                <a:cs typeface="Aptos"/>
              </a:rPr>
              <a:t>NEWCOMER OVERVIEW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243B05-B7E1-4C8C-98CA-C3F4DFCC5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0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37083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EBE911-279D-436E-9AB0-9F66FD54E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76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kicker-Reading order">
            <a:extLst xmlns:a="http://schemas.openxmlformats.org/drawingml/2006/main">
              <a:ext uri="{FF2B5EF4-FFF2-40B4-BE49-F238E27FC236}">
                <a16:creationId xmlns:a16="http://schemas.microsoft.com/office/drawing/2014/main" id="{E40379B6-5566-4BF8-AF53-52D26452F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637083"/>
                </a:solidFill>
                <a:latin typeface="Aptos"/>
                <a:ea typeface="Aptos"/>
                <a:cs typeface="Aptos"/>
              </a:rPr>
              <a:t>R E A D I N G   O R D E 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40934A-B476-4B51-9A3D-14E8FA37A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8572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2238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52238"/>
                </a:solidFill>
                <a:latin typeface="Aptos Display"/>
                <a:ea typeface="Aptos Display"/>
                <a:cs typeface="Aptos Display"/>
              </a:rPr>
              <a:t>A newcomer should walk the codebase in this order.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724BD7-5108-42E2-A8A0-A82DFC0AE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The path starts with language and ends with the operator page that ties the MVP together.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765FB3-F43A-4665-B974-91B7F0302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66950"/>
            <a:ext cx="30289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28F76E-02F9-4716-AD3A-1AE10941E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384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612325-A5CB-4B22-9F77-6123F2281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24125"/>
            <a:ext cx="323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56D56E-C25D-4BEC-9AA0-F90014151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409825"/>
            <a:ext cx="2171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152238"/>
                </a:solidFill>
                <a:latin typeface="Aptos Mono"/>
                <a:ea typeface="Aptos Mono"/>
                <a:cs typeface="Aptos Mono"/>
              </a:defRPr>
            </a:pPr>
            <a:r>
              <a:rPr sz="720" b="0">
                <a:solidFill>
                  <a:srgbClr val="152238"/>
                </a:solidFill>
                <a:latin typeface="Aptos Mono"/>
                <a:ea typeface="Aptos Mono"/>
                <a:cs typeface="Aptos Mono"/>
              </a:rPr>
              <a:t>CONTEXT.md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1AA6BD-4709-4E58-9D62-3CD7A3B8E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676525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domain vocabulary and boundaries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FFC157-6D30-4CF2-90C0-948D015F7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266950"/>
            <a:ext cx="30289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5C489B-6A70-4E76-8D80-D9CE931C5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384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573893-B7A0-4851-A069-56A1FBD5F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524125"/>
            <a:ext cx="323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BBA8DD-FA2B-41A6-BB2D-BE77AD3E4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409825"/>
            <a:ext cx="2171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152238"/>
                </a:solidFill>
                <a:latin typeface="Aptos Mono"/>
                <a:ea typeface="Aptos Mono"/>
                <a:cs typeface="Aptos Mono"/>
              </a:defRPr>
            </a:pPr>
            <a:r>
              <a:rPr sz="720" b="0">
                <a:solidFill>
                  <a:srgbClr val="152238"/>
                </a:solidFill>
                <a:latin typeface="Aptos Mono"/>
                <a:ea typeface="Aptos Mono"/>
                <a:cs typeface="Aptos Mono"/>
              </a:rPr>
              <a:t>pyproject.toml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C25DF7-83EF-4C3F-A59C-15630AEDF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676525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Python stack and Dagster config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DB4994-74B4-4C61-BD17-E6EAE2D65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266950"/>
            <a:ext cx="30289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13FB4F-5DFB-483E-A1B4-4D8F77931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384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2F2D62-1AA3-41B0-A7BB-200B4908C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24125"/>
            <a:ext cx="323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CA83E6-3239-4FBE-8A46-FD0A10B15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409825"/>
            <a:ext cx="2171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152238"/>
                </a:solidFill>
                <a:latin typeface="Aptos Mono"/>
                <a:ea typeface="Aptos Mono"/>
                <a:cs typeface="Aptos Mono"/>
              </a:defRPr>
            </a:pPr>
            <a:r>
              <a:rPr sz="720" b="0">
                <a:solidFill>
                  <a:srgbClr val="152238"/>
                </a:solidFill>
                <a:latin typeface="Aptos Mono"/>
                <a:ea typeface="Aptos Mono"/>
                <a:cs typeface="Aptos Mono"/>
              </a:rPr>
              <a:t>simulations/tenants.yml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0B6535E-025D-4401-8C86-007E17D3F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676525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tenant and battery defaults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FED74DE-CDCC-4A9F-BEE5-FDA28D991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52800"/>
            <a:ext cx="30289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1186D6E-998E-40D9-BED7-12C2444BA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242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8174A38-D531-4403-978F-1BFBFF541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09975"/>
            <a:ext cx="323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FE569DA-CA65-4272-A6E3-C108F0DA9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495675"/>
            <a:ext cx="2171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152238"/>
                </a:solidFill>
                <a:latin typeface="Aptos Mono"/>
                <a:ea typeface="Aptos Mono"/>
                <a:cs typeface="Aptos Mono"/>
              </a:defRPr>
            </a:pPr>
            <a:r>
              <a:rPr sz="720" b="0">
                <a:solidFill>
                  <a:srgbClr val="152238"/>
                </a:solidFill>
                <a:latin typeface="Aptos Mono"/>
                <a:ea typeface="Aptos Mono"/>
                <a:cs typeface="Aptos Mono"/>
              </a:rPr>
              <a:t>defs/__init__.py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36F3A8F-D05E-4A2A-9763-C82AD5489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762375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Dagster entrypoint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6838E74-641C-4D9A-A963-3097DFB4A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352800"/>
            <a:ext cx="30289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0D55978-6F39-40F4-9BB6-A9D49C4E1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5242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24390A3-134C-4999-BBD6-34A39ACCE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609975"/>
            <a:ext cx="323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5172E9A-D479-489A-9132-A986EA043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495675"/>
            <a:ext cx="2171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152238"/>
                </a:solidFill>
                <a:latin typeface="Aptos Mono"/>
                <a:ea typeface="Aptos Mono"/>
                <a:cs typeface="Aptos Mono"/>
              </a:defRPr>
            </a:pPr>
            <a:r>
              <a:rPr sz="720" b="0">
                <a:solidFill>
                  <a:srgbClr val="152238"/>
                </a:solidFill>
                <a:latin typeface="Aptos Mono"/>
                <a:ea typeface="Aptos Mono"/>
                <a:cs typeface="Aptos Mono"/>
              </a:rPr>
              <a:t>assets/bronze/market_weather.py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F9158B3-1DB5-410F-B7C1-D4DC8A987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762375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Bronze ingestion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7B49A1E-C0A3-4F75-BF2E-AC145DD72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352800"/>
            <a:ext cx="30289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D049F1A-CC12-40F6-AE27-84886BFDA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242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0F9DB9E-9C3B-4895-848F-44E001DF7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09975"/>
            <a:ext cx="323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83CA759-AD55-49B3-BF2A-C9B8D17E3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495675"/>
            <a:ext cx="2171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152238"/>
                </a:solidFill>
                <a:latin typeface="Aptos Mono"/>
                <a:ea typeface="Aptos Mono"/>
                <a:cs typeface="Aptos Mono"/>
              </a:defRPr>
            </a:pPr>
            <a:r>
              <a:rPr sz="720" b="0">
                <a:solidFill>
                  <a:srgbClr val="152238"/>
                </a:solidFill>
                <a:latin typeface="Aptos Mono"/>
                <a:ea typeface="Aptos Mono"/>
                <a:cs typeface="Aptos Mono"/>
              </a:rPr>
              <a:t>assets/gold/baseline_solver.py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01A7C01-0247-4436-9389-53D6DA3A4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762375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LP baseline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D12AF3E-0A04-45F5-8858-1F4C3C3AF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38650"/>
            <a:ext cx="30289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81676C0-1F99-435C-A892-9F23C97F3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101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1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8779D6F-4263-4AED-902C-8A899BC17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95825"/>
            <a:ext cx="323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E62AA7A-9E79-435D-A637-6261D0DE1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581525"/>
            <a:ext cx="2171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152238"/>
                </a:solidFill>
                <a:latin typeface="Aptos Mono"/>
                <a:ea typeface="Aptos Mono"/>
                <a:cs typeface="Aptos Mono"/>
              </a:defRPr>
            </a:pPr>
            <a:r>
              <a:rPr sz="720" b="0">
                <a:solidFill>
                  <a:srgbClr val="152238"/>
                </a:solidFill>
                <a:latin typeface="Aptos Mono"/>
                <a:ea typeface="Aptos Mono"/>
                <a:cs typeface="Aptos Mono"/>
              </a:rPr>
              <a:t>optimization/projected_battery_state.py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C0BE8BE-5A7F-40E1-885F-38A9D1B31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48225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feasibility simulation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6E7DEDA-68E6-411B-935C-35C29EE36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438650"/>
            <a:ext cx="30289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8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41F93DD-A85E-4DC7-8FBC-D905DA348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6101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1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243C64F-CAA0-4CA2-998A-CEEFB0B71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695825"/>
            <a:ext cx="323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FD8405C-7D9F-4CEC-955C-690527623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581525"/>
            <a:ext cx="2171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152238"/>
                </a:solidFill>
                <a:latin typeface="Aptos Mono"/>
                <a:ea typeface="Aptos Mono"/>
                <a:cs typeface="Aptos Mono"/>
              </a:defRPr>
            </a:pPr>
            <a:r>
              <a:rPr sz="720" b="0">
                <a:solidFill>
                  <a:srgbClr val="152238"/>
                </a:solidFill>
                <a:latin typeface="Aptos Mono"/>
                <a:ea typeface="Aptos Mono"/>
                <a:cs typeface="Aptos Mono"/>
              </a:rPr>
              <a:t>api/main.py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4B4A183-08D0-44A3-B0B2-A619F6968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848225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API contracts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7707B11-6732-4994-9669-3E234E0E7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438650"/>
            <a:ext cx="30289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8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A0C0716-1650-428A-85CF-85DB046E3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6101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1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54BC512-26CF-41F4-A4F8-FC173FA16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695825"/>
            <a:ext cx="323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CCE4F8B-5C5A-4653-B66A-D34C82D5D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581525"/>
            <a:ext cx="2171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152238"/>
                </a:solidFill>
                <a:latin typeface="Aptos Mono"/>
                <a:ea typeface="Aptos Mono"/>
                <a:cs typeface="Aptos Mono"/>
              </a:defRPr>
            </a:pPr>
            <a:r>
              <a:rPr sz="720" b="0">
                <a:solidFill>
                  <a:srgbClr val="152238"/>
                </a:solidFill>
                <a:latin typeface="Aptos Mono"/>
                <a:ea typeface="Aptos Mono"/>
                <a:cs typeface="Aptos Mono"/>
              </a:rPr>
              <a:t>dashboard/app/pages/operator.vue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C27414B-98DD-452F-8FDA-8D75401D0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848225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dashboard composition</a:t>
            </a:r>
          </a:p>
        </p:txBody>
      </p:sp>
    </p:spTree>
    <p:extLst>
      <p:ext uri="{BB962C8B-B14F-4D97-AF65-F5344CB8AC3E}">
        <p14:creationId xmlns:p14="http://schemas.microsoft.com/office/powerpoint/2010/main" val="537059752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BA0A6A8-6056-4AAD-BAC1-4F1B37502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B43D88-C181-4B4F-93FC-84A049E53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0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560A32-5A89-4B26-8D49-FB8D5B9CD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DA9B00-8AC2-4389-BDFA-B69AEF9C6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29375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BE1F5D-2542-46BD-A275-95AC637EF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6096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637083"/>
                </a:solidFill>
                <a:latin typeface="Aptos"/>
                <a:ea typeface="Aptos"/>
                <a:cs typeface="Aptos"/>
              </a:rPr>
              <a:t>NEWCOMER OVERVIEW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9B2D46-8963-417F-955E-3F23A64B7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0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37083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9CAE88-D503-454C-B510-3F5E71F64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76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kicker-First contribution loop">
            <a:extLst xmlns:a="http://schemas.openxmlformats.org/drawingml/2006/main">
              <a:ext uri="{FF2B5EF4-FFF2-40B4-BE49-F238E27FC236}">
                <a16:creationId xmlns:a16="http://schemas.microsoft.com/office/drawing/2014/main" id="{7495D7F9-D848-4379-8ABB-937B3EF8B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637083"/>
                </a:solidFill>
                <a:latin typeface="Aptos"/>
                <a:ea typeface="Aptos"/>
                <a:cs typeface="Aptos"/>
              </a:rPr>
              <a:t>F I R S T   C O N T R I B U T I O N   L O O 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4121DA-9DB0-4AB5-A2E6-7D9BEF645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8572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2238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52238"/>
                </a:solidFill>
                <a:latin typeface="Aptos Display"/>
                <a:ea typeface="Aptos Display"/>
                <a:cs typeface="Aptos Display"/>
              </a:rPr>
              <a:t>The safest first contribution is narrow, tested, and documented.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34A06E-49E6-41F7-A0D2-0D00F27E9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Use vertical slices: one observable behavior from data or API through the operator surface.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7A2A85-64A9-4EB6-9F73-C273C2927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53365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45F349-16C1-4118-8CE6-B7333E97F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724150"/>
            <a:ext cx="685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B08727-5998-46BA-AA00-013086673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3300"/>
            <a:ext cx="1638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52238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52238"/>
                </a:solidFill>
                <a:latin typeface="Aptos Display"/>
                <a:ea typeface="Aptos Display"/>
                <a:cs typeface="Aptos Display"/>
              </a:rPr>
              <a:t>Read context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94C6C4-D229-4F09-85A9-77CB57638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43350"/>
            <a:ext cx="1790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confirm vocabulary and scope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ACA6AC-8FA2-45C9-AA91-36507117A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867025"/>
            <a:ext cx="1885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6DD4B7-B2DE-46E5-AB05-BA6561EFB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53365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E38FA9-B417-4AC4-9D69-83B891B56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724150"/>
            <a:ext cx="685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D0F4D0-8975-4F24-9BD5-7411EBE4E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543300"/>
            <a:ext cx="1638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52238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52238"/>
                </a:solidFill>
                <a:latin typeface="Aptos Display"/>
                <a:ea typeface="Aptos Display"/>
                <a:cs typeface="Aptos Display"/>
              </a:rPr>
              <a:t>Write the test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44EE5D-7AF8-40AC-BEAF-313663711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943350"/>
            <a:ext cx="1790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RED before production code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73CFAB-15D8-4E6F-8378-FF33C0666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867025"/>
            <a:ext cx="1885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F70FFD-8C86-4A29-AE3F-1667C759A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3365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5BDEA5-1821-4D62-8660-DB8EF1BE9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724150"/>
            <a:ext cx="685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11119E-11AF-4EA2-8DF7-2975C6027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543300"/>
            <a:ext cx="1638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52238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52238"/>
                </a:solidFill>
                <a:latin typeface="Aptos Display"/>
                <a:ea typeface="Aptos Display"/>
                <a:cs typeface="Aptos Display"/>
              </a:rPr>
              <a:t>Make it pass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946DAB-ECC2-42F0-A0D6-0FAD1EBCD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943350"/>
            <a:ext cx="1790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smallest code change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F4903A-369D-4ADE-A600-D2617527C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867025"/>
            <a:ext cx="1885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E15904C-A49E-452E-9BA6-293D6D7BA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53365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1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EBEBB74-71E3-459C-95D2-1A7C58492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724150"/>
            <a:ext cx="685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DDDFD96-EC47-4269-99FD-60A07D7F7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543300"/>
            <a:ext cx="1638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52238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52238"/>
                </a:solidFill>
                <a:latin typeface="Aptos Display"/>
                <a:ea typeface="Aptos Display"/>
                <a:cs typeface="Aptos Display"/>
              </a:rPr>
              <a:t>Verify + document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25A847F-C0A6-40D7-9321-F62AAB6BC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943350"/>
            <a:ext cx="1790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ruff, mypy, pytest, dg check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50D2794-AA98-430C-B89A-AEBA7CE43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010150"/>
            <a:ext cx="90678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7014002-4F0E-42C8-80D7-F9EB4B9A9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219700"/>
            <a:ext cx="8001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2238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152238"/>
                </a:solidFill>
                <a:latin typeface="Aptos Mono"/>
                <a:ea typeface="Aptos Mono"/>
                <a:cs typeface="Aptos Mono"/>
              </a:rPr>
              <a:t>ruff check .     mypy .     pytest     dg check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4E2229D-EDE3-44EC-9634-D363A380E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562600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If a command does not exist, use the closest pyproject.toml command and explain the gap.</a:t>
            </a:r>
          </a:p>
        </p:txBody>
      </p:sp>
    </p:spTree>
    <p:extLst>
      <p:ext uri="{BB962C8B-B14F-4D97-AF65-F5344CB8AC3E}">
        <p14:creationId xmlns:p14="http://schemas.microsoft.com/office/powerpoint/2010/main" val="796844710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C99C050-0DD0-4A0D-A8FC-561BB08FF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0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2BA6E9-83C4-4993-B8A7-692E13B48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76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7ACE85-9A7E-49AE-BF7C-392AECCB2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096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The baseline contour is the reference point for the thesis story.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E32D3D-2CAD-41C2-B9C6-DDB097C5F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6858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9D4E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C9D4E4"/>
                </a:solidFill>
                <a:latin typeface="Aptos"/>
                <a:ea typeface="Aptos"/>
                <a:cs typeface="Aptos"/>
              </a:rPr>
              <a:t>Do not replace it too early. Use it to measure stronger forecasts, safer constraints, and future decision-focused strategies.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9B23F4-FA2D-41C7-88C6-EE8DFED89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76600"/>
            <a:ext cx="2743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047"/>
          </a:solidFill>
          <a:ln xmlns:a="http://schemas.openxmlformats.org/drawingml/2006/main" w="9525">
            <a:solidFill>
              <a:srgbClr val="3A465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C9359E-E138-4171-9DCA-097B9B10B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76600"/>
            <a:ext cx="666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03E74F-8572-4DF8-AB37-D8C30747A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2900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64D643-B1D7-46D6-B1EE-641E9C946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33800"/>
            <a:ext cx="2190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C9D4E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C9D4E4"/>
                </a:solidFill>
                <a:latin typeface="Aptos"/>
                <a:ea typeface="Aptos"/>
                <a:cs typeface="Aptos"/>
              </a:rPr>
              <a:t>ingestion and provenance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36C04B-DD1F-4DF7-B770-34B17E38C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276600"/>
            <a:ext cx="2743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047"/>
          </a:solidFill>
          <a:ln xmlns:a="http://schemas.openxmlformats.org/drawingml/2006/main" w="9525">
            <a:solidFill>
              <a:srgbClr val="3A465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5BE588-E411-4725-A09F-79BFB0A5F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276600"/>
            <a:ext cx="666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1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A699FD-7DE2-4F60-AA28-840C01371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42900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Baseline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47A8DA-DB9C-4407-BE18-7C69B78E3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733800"/>
            <a:ext cx="2190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C9D4E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C9D4E4"/>
                </a:solidFill>
                <a:latin typeface="Aptos"/>
                <a:ea typeface="Aptos"/>
                <a:cs typeface="Aptos"/>
              </a:rPr>
              <a:t>deterministic LP strategy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73442A-69C7-45E6-B425-6E10689D2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276600"/>
            <a:ext cx="2743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047"/>
          </a:solidFill>
          <a:ln xmlns:a="http://schemas.openxmlformats.org/drawingml/2006/main" w="9525">
            <a:solidFill>
              <a:srgbClr val="3A465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9DCC2B-D053-43F7-8395-15CC84A48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276600"/>
            <a:ext cx="666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F6E4B9-625A-40D7-8438-54B9A2ABF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42900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Battery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DED2AA-EDF5-4030-B5B3-902C30E60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733800"/>
            <a:ext cx="2190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C9D4E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C9D4E4"/>
                </a:solidFill>
                <a:latin typeface="Aptos"/>
                <a:ea typeface="Aptos"/>
                <a:cs typeface="Aptos"/>
              </a:rPr>
              <a:t>SOC and degradation economics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376F9A-4C92-477D-BDAE-BC55BB813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81500"/>
            <a:ext cx="2743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047"/>
          </a:solidFill>
          <a:ln xmlns:a="http://schemas.openxmlformats.org/drawingml/2006/main" w="9525">
            <a:solidFill>
              <a:srgbClr val="3A465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339D0D-6DD7-4F78-A69D-1974E5EE4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81500"/>
            <a:ext cx="666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5B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762CD0-4D26-4765-B431-DAE9EA227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3390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API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6D804D-F7C5-4BFA-B1EB-98EAE776F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38700"/>
            <a:ext cx="2190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C9D4E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C9D4E4"/>
                </a:solidFill>
                <a:latin typeface="Aptos"/>
                <a:ea typeface="Aptos"/>
                <a:cs typeface="Aptos"/>
              </a:rPr>
              <a:t>backend-owned read models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872079-07D7-4306-811E-E5CDE05A3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381500"/>
            <a:ext cx="2743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047"/>
          </a:solidFill>
          <a:ln xmlns:a="http://schemas.openxmlformats.org/drawingml/2006/main" w="9525">
            <a:solidFill>
              <a:srgbClr val="3A465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61B32A-C3E3-49F6-93EF-D7EA662E5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381500"/>
            <a:ext cx="666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65B47B-5DAB-4082-89A1-C9A2E7033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53390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Dashboard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0E5D69-70D3-40BF-94E6-F3159F30C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838700"/>
            <a:ext cx="2190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C9D4E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C9D4E4"/>
                </a:solidFill>
                <a:latin typeface="Aptos"/>
                <a:ea typeface="Aptos"/>
                <a:cs typeface="Aptos"/>
              </a:rPr>
              <a:t>operator-facing preview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99049EB-13D2-4F8C-AC61-814FEBA82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381500"/>
            <a:ext cx="2743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047"/>
          </a:solidFill>
          <a:ln xmlns:a="http://schemas.openxmlformats.org/drawingml/2006/main" w="9525">
            <a:solidFill>
              <a:srgbClr val="3A465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1F0D478-CEA7-459F-9384-8279363CA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381500"/>
            <a:ext cx="666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4B9BFAE-764A-49EB-A05D-546212EB3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3390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Thesis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1FB9CF0-256F-44B7-B6F8-8504D691B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838700"/>
            <a:ext cx="2190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C9D4E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C9D4E4"/>
                </a:solidFill>
                <a:latin typeface="Aptos"/>
                <a:ea typeface="Aptos"/>
                <a:cs typeface="Aptos"/>
              </a:rPr>
              <a:t>evidence trail and scope control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031E8D2-D3C0-4C14-BEA7-17839BAE0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6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6D5C508-C2D5-4F6D-94D3-CC1963579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553200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96A3B8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96A3B8"/>
                </a:solidFill>
                <a:latin typeface="Aptos"/>
                <a:ea typeface="Aptos"/>
                <a:cs typeface="Aptos"/>
              </a:rPr>
              <a:t>newcomer overview / week2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22E4267-488A-4286-8CB1-82D12ED55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0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6A3B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6A3B8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239347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2026-05-04T21:25:22.9180000Z</dcterms:created>
  <dcterms:modified xsi:type="dcterms:W3CDTF">2026-05-04T21:25:22.9180000Z</dcterms:modified>
</coreProperties>
</file>