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C766AAD-69E1-40BA-9CDE-32E66DDDEB1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4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4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5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5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5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5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6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6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6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7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7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7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8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8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8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8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12191760" cy="66240"/>
          </a:xfrm>
          <a:prstGeom prst="rect">
            <a:avLst/>
          </a:prstGeom>
          <a:solidFill>
            <a:srgbClr val="0b5ca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1600" bIns="21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0" y="66600"/>
            <a:ext cx="12191760" cy="47160"/>
          </a:xfrm>
          <a:prstGeom prst="rect">
            <a:avLst/>
          </a:prstGeom>
          <a:solidFill>
            <a:srgbClr val="ffe45c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520" bIns="25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81a3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81a3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533520" y="514440"/>
            <a:ext cx="56880" cy="666360"/>
          </a:xfrm>
          <a:prstGeom prst="rect">
            <a:avLst/>
          </a:prstGeom>
          <a:solidFill>
            <a:srgbClr val="ffe45c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743040" y="533520"/>
            <a:ext cx="533376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trike="noStrike">
                <a:solidFill>
                  <a:srgbClr val="b9d8ff"/>
                </a:solidFill>
                <a:effectLst/>
                <a:uFillTx/>
                <a:latin typeface="Aptos"/>
                <a:ea typeface="Aptos"/>
              </a:rPr>
              <a:t>SMART ENERGY ARBITRAGE | UKRAINE 2026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533520" y="1504800"/>
            <a:ext cx="8476920" cy="1142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5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Після Demo 1: від MVP-прев’ю до Offline Strategy Promotion</a:t>
            </a:r>
            <a:endParaRPr lang="en-US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571680" y="2914560"/>
            <a:ext cx="7429320" cy="514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80" b="0" u="none" strike="noStrike">
                <a:solidFill>
                  <a:srgbClr val="d6e8ff"/>
                </a:solidFill>
                <a:effectLst/>
                <a:uFillTx/>
                <a:latin typeface="Aptos"/>
                <a:ea typeface="Aptos"/>
              </a:rPr>
              <a:t>Архітектура, дані, експерименти, результат проти strict_similar_day і межі академічних тверджень.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552600" y="4457880"/>
            <a:ext cx="2190240" cy="106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552600" y="4457880"/>
            <a:ext cx="47160" cy="1066320"/>
          </a:xfrm>
          <a:prstGeom prst="rect">
            <a:avLst/>
          </a:prstGeom>
          <a:solidFill>
            <a:srgbClr val="1ba6c9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743040" y="4600440"/>
            <a:ext cx="185688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20" b="1" u="none" strike="noStrike">
                <a:solidFill>
                  <a:srgbClr val="081a3a"/>
                </a:solidFill>
                <a:effectLst/>
                <a:uFillTx/>
                <a:latin typeface="Aptos Display"/>
                <a:ea typeface="Aptos Display"/>
              </a:rPr>
              <a:t>365</a:t>
            </a:r>
            <a:endParaRPr lang="en-US" sz="2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743040" y="4952880"/>
            <a:ext cx="185688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2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rolling anchors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743040" y="5181480"/>
            <a:ext cx="185688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1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Ukrainian backfill panel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3029040" y="4457880"/>
            <a:ext cx="2190240" cy="106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3029040" y="4457880"/>
            <a:ext cx="47160" cy="1066320"/>
          </a:xfrm>
          <a:prstGeom prst="rect">
            <a:avLst/>
          </a:prstGeom>
          <a:solidFill>
            <a:srgbClr val="128247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3219480" y="4600440"/>
            <a:ext cx="185688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20" b="1" u="none" strike="noStrike">
                <a:solidFill>
                  <a:srgbClr val="081a3a"/>
                </a:solidFill>
                <a:effectLst/>
                <a:uFillTx/>
                <a:latin typeface="Aptos Display"/>
                <a:ea typeface="Aptos Display"/>
              </a:rPr>
              <a:t>5</a:t>
            </a:r>
            <a:endParaRPr lang="en-US" sz="2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3219480" y="4952880"/>
            <a:ext cx="185688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2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canonical tenants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3219480" y="5181480"/>
            <a:ext cx="185688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1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source-backed evidence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5505480" y="4457880"/>
            <a:ext cx="2381040" cy="106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5505480" y="4457880"/>
            <a:ext cx="47160" cy="1066320"/>
          </a:xfrm>
          <a:prstGeom prst="rect">
            <a:avLst/>
          </a:prstGeom>
          <a:solidFill>
            <a:srgbClr val="f5a524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5695920" y="4600440"/>
            <a:ext cx="204768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20" b="1" u="none" strike="noStrike">
                <a:solidFill>
                  <a:srgbClr val="081a3a"/>
                </a:solidFill>
                <a:effectLst/>
                <a:uFillTx/>
                <a:latin typeface="Aptos Display"/>
                <a:ea typeface="Aptos Display"/>
              </a:rPr>
              <a:t>33.55%</a:t>
            </a:r>
            <a:endParaRPr lang="en-US" sz="2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5695920" y="4952880"/>
            <a:ext cx="204768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2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best latest improvement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5695920" y="5181480"/>
            <a:ext cx="204768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1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schedule/value learner vs strict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8896320" y="1123920"/>
            <a:ext cx="2342880" cy="1542600"/>
          </a:xfrm>
          <a:prstGeom prst="rect">
            <a:avLst/>
          </a:prstGeom>
          <a:solidFill>
            <a:srgbClr val="0e2a55"/>
          </a:solidFill>
          <a:ln w="9525">
            <a:solidFill>
              <a:srgbClr val="356c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9124920" y="1371600"/>
            <a:ext cx="180936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ffe45c"/>
                </a:solidFill>
                <a:effectLst/>
                <a:uFillTx/>
                <a:latin typeface="Aptos"/>
                <a:ea typeface="Aptos"/>
              </a:rPr>
              <a:t>Claim boundary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9124920" y="1695600"/>
            <a:ext cx="1790280" cy="6472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0" u="none" strike="noStrike">
                <a:solidFill>
                  <a:srgbClr val="d6e8ff"/>
                </a:solidFill>
                <a:effectLst/>
                <a:uFillTx/>
                <a:latin typeface="Aptos"/>
                <a:ea typeface="Aptos"/>
              </a:rPr>
              <a:t>Offline/read-model strategy evidence only. No live market execution, no deployed DT, no dashboard/API default switch.</a:t>
            </a:r>
            <a:endParaRPr lang="en-US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533520" y="6362640"/>
            <a:ext cx="11124720" cy="9000"/>
          </a:xfrm>
          <a:prstGeom prst="rect">
            <a:avLst/>
          </a:prstGeom>
          <a:solidFill>
            <a:srgbClr val="e4e7ec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533520" y="6477120"/>
            <a:ext cx="85723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1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Supervisor progress meeting | 2026-05-13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11220480" y="6438960"/>
            <a:ext cx="41868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0" y="0"/>
            <a:ext cx="12191760" cy="66240"/>
          </a:xfrm>
          <a:prstGeom prst="rect">
            <a:avLst/>
          </a:prstGeom>
          <a:solidFill>
            <a:srgbClr val="0b5ca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1600" bIns="21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0" y="66600"/>
            <a:ext cx="12191760" cy="47160"/>
          </a:xfrm>
          <a:prstGeom prst="rect">
            <a:avLst/>
          </a:prstGeom>
          <a:solidFill>
            <a:srgbClr val="ffe45c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520" bIns="25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533520" y="399960"/>
            <a:ext cx="74293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trike="noStrike">
                <a:solidFill>
                  <a:srgbClr val="0b5cad"/>
                </a:solidFill>
                <a:effectLst/>
                <a:uFillTx/>
                <a:latin typeface="Aptos"/>
                <a:ea typeface="Aptos"/>
              </a:rPr>
              <a:t>WEEK 2 BASELINE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533520" y="666720"/>
            <a:ext cx="8096040" cy="7426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1" u="none" strike="noStrike">
                <a:solidFill>
                  <a:srgbClr val="081a3a"/>
                </a:solidFill>
                <a:effectLst/>
                <a:uFillTx/>
                <a:latin typeface="Aptos Display"/>
                <a:ea typeface="Aptos Display"/>
              </a:rPr>
              <a:t>Demo 1 вже мав end-to-end operator preview, але ще не доказ DFL.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685800" y="2333520"/>
            <a:ext cx="1809360" cy="1047240"/>
          </a:xfrm>
          <a:prstGeom prst="rect">
            <a:avLst/>
          </a:prstGeom>
          <a:solidFill>
            <a:srgbClr val="ffffff"/>
          </a:solidFill>
          <a:ln w="13335">
            <a:solidFill>
              <a:srgbClr val="0b5c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685800" y="2333520"/>
            <a:ext cx="56880" cy="1047240"/>
          </a:xfrm>
          <a:prstGeom prst="rect">
            <a:avLst/>
          </a:prstGeom>
          <a:solidFill>
            <a:srgbClr val="0b5ca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838080" y="2448000"/>
            <a:ext cx="15235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10" b="1" u="none" strike="noStrike">
                <a:solidFill>
                  <a:srgbClr val="081a3a"/>
                </a:solidFill>
                <a:effectLst/>
                <a:uFillTx/>
                <a:latin typeface="Aptos"/>
                <a:ea typeface="Aptos"/>
              </a:rPr>
              <a:t>Data</a:t>
            </a:r>
            <a:endParaRPr lang="en-US" sz="10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838080" y="2714760"/>
            <a:ext cx="1523520" cy="5900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7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OREE / Open-Meteo / tenant YAML</a:t>
            </a:r>
            <a:endParaRPr lang="en-US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2952720" y="2333520"/>
            <a:ext cx="1809360" cy="1047240"/>
          </a:xfrm>
          <a:prstGeom prst="rect">
            <a:avLst/>
          </a:prstGeom>
          <a:solidFill>
            <a:srgbClr val="ffffff"/>
          </a:solidFill>
          <a:ln w="13335">
            <a:solidFill>
              <a:srgbClr val="1ba6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2952720" y="2333520"/>
            <a:ext cx="56880" cy="1047240"/>
          </a:xfrm>
          <a:prstGeom prst="rect">
            <a:avLst/>
          </a:prstGeom>
          <a:solidFill>
            <a:srgbClr val="1ba6c9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3105000" y="2448000"/>
            <a:ext cx="15235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10" b="1" u="none" strike="noStrike">
                <a:solidFill>
                  <a:srgbClr val="081a3a"/>
                </a:solidFill>
                <a:effectLst/>
                <a:uFillTx/>
                <a:latin typeface="Aptos"/>
                <a:ea typeface="Aptos"/>
              </a:rPr>
              <a:t>Dagster</a:t>
            </a:r>
            <a:endParaRPr lang="en-US" sz="10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3105000" y="2714760"/>
            <a:ext cx="1523520" cy="5900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7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Bronze / Silver / Gold assets</a:t>
            </a:r>
            <a:endParaRPr lang="en-US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5219640" y="2333520"/>
            <a:ext cx="1809360" cy="1047240"/>
          </a:xfrm>
          <a:prstGeom prst="rect">
            <a:avLst/>
          </a:prstGeom>
          <a:solidFill>
            <a:srgbClr val="ffffff"/>
          </a:solidFill>
          <a:ln w="13335">
            <a:solidFill>
              <a:srgbClr val="f5a5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5219640" y="2333520"/>
            <a:ext cx="56880" cy="1047240"/>
          </a:xfrm>
          <a:prstGeom prst="rect">
            <a:avLst/>
          </a:prstGeom>
          <a:solidFill>
            <a:srgbClr val="f5a524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5372280" y="2448000"/>
            <a:ext cx="15235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10" b="1" u="none" strike="noStrike">
                <a:solidFill>
                  <a:srgbClr val="081a3a"/>
                </a:solidFill>
                <a:effectLst/>
                <a:uFillTx/>
                <a:latin typeface="Aptos"/>
                <a:ea typeface="Aptos"/>
              </a:rPr>
              <a:t>Baseline</a:t>
            </a:r>
            <a:endParaRPr lang="en-US" sz="10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5372280" y="2714760"/>
            <a:ext cx="1523520" cy="5900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7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strict_similar_day forecast + LP dispatch</a:t>
            </a:r>
            <a:endParaRPr lang="en-US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7486560" y="2333520"/>
            <a:ext cx="1809360" cy="1047240"/>
          </a:xfrm>
          <a:prstGeom prst="rect">
            <a:avLst/>
          </a:prstGeom>
          <a:solidFill>
            <a:srgbClr val="ffffff"/>
          </a:solidFill>
          <a:ln w="13335">
            <a:solidFill>
              <a:srgbClr val="1282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7486560" y="2333520"/>
            <a:ext cx="56880" cy="1047240"/>
          </a:xfrm>
          <a:prstGeom prst="rect">
            <a:avLst/>
          </a:prstGeom>
          <a:solidFill>
            <a:srgbClr val="128247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7639200" y="2448000"/>
            <a:ext cx="15235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10" b="1" u="none" strike="noStrike">
                <a:solidFill>
                  <a:srgbClr val="081a3a"/>
                </a:solidFill>
                <a:effectLst/>
                <a:uFillTx/>
                <a:latin typeface="Aptos"/>
                <a:ea typeface="Aptos"/>
              </a:rPr>
              <a:t>Read model</a:t>
            </a:r>
            <a:endParaRPr lang="en-US" sz="10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7639200" y="2714760"/>
            <a:ext cx="1523520" cy="5900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7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FastAPI evidence and projected SOC</a:t>
            </a:r>
            <a:endParaRPr lang="en-US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9753480" y="2333520"/>
            <a:ext cx="1809360" cy="1047240"/>
          </a:xfrm>
          <a:prstGeom prst="rect">
            <a:avLst/>
          </a:prstGeom>
          <a:solidFill>
            <a:srgbClr val="ffffff"/>
          </a:solidFill>
          <a:ln w="13335">
            <a:solidFill>
              <a:srgbClr val="081a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9753480" y="2333520"/>
            <a:ext cx="56880" cy="1047240"/>
          </a:xfrm>
          <a:prstGeom prst="rect">
            <a:avLst/>
          </a:prstGeom>
          <a:solidFill>
            <a:srgbClr val="081a3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9906120" y="2448000"/>
            <a:ext cx="15235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10" b="1" u="none" strike="noStrike">
                <a:solidFill>
                  <a:srgbClr val="081a3a"/>
                </a:solidFill>
                <a:effectLst/>
                <a:uFillTx/>
                <a:latin typeface="Aptos"/>
                <a:ea typeface="Aptos"/>
              </a:rPr>
              <a:t>Dashboard</a:t>
            </a:r>
            <a:endParaRPr lang="en-US" sz="10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9906120" y="2714760"/>
            <a:ext cx="1523520" cy="5900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7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operator preview, not execution</a:t>
            </a:r>
            <a:endParaRPr lang="en-US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2495520" y="2857680"/>
            <a:ext cx="323640" cy="28080"/>
          </a:xfrm>
          <a:prstGeom prst="rect">
            <a:avLst/>
          </a:prstGeom>
          <a:solidFill>
            <a:srgbClr val="0b5ca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2781360" y="2790720"/>
            <a:ext cx="151920" cy="151920"/>
          </a:xfrm>
          <a:prstGeom prst="triangle">
            <a:avLst>
              <a:gd name="adj" fmla="val 50000"/>
            </a:avLst>
          </a:prstGeom>
          <a:solidFill>
            <a:srgbClr val="0b5cad"/>
          </a:solidFill>
          <a:ln w="0">
            <a:solidFill>
              <a:srgbClr val="0b5ca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4762440" y="2857680"/>
            <a:ext cx="323640" cy="28080"/>
          </a:xfrm>
          <a:prstGeom prst="rect">
            <a:avLst/>
          </a:prstGeom>
          <a:solidFill>
            <a:srgbClr val="0b5ca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5048280" y="2790720"/>
            <a:ext cx="151920" cy="151920"/>
          </a:xfrm>
          <a:prstGeom prst="triangle">
            <a:avLst>
              <a:gd name="adj" fmla="val 50000"/>
            </a:avLst>
          </a:prstGeom>
          <a:solidFill>
            <a:srgbClr val="0b5cad"/>
          </a:solidFill>
          <a:ln w="0">
            <a:solidFill>
              <a:srgbClr val="0b5ca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7029360" y="2857680"/>
            <a:ext cx="323640" cy="28080"/>
          </a:xfrm>
          <a:prstGeom prst="rect">
            <a:avLst/>
          </a:prstGeom>
          <a:solidFill>
            <a:srgbClr val="0b5ca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7315200" y="2790720"/>
            <a:ext cx="151920" cy="151920"/>
          </a:xfrm>
          <a:prstGeom prst="triangle">
            <a:avLst>
              <a:gd name="adj" fmla="val 50000"/>
            </a:avLst>
          </a:prstGeom>
          <a:solidFill>
            <a:srgbClr val="0b5cad"/>
          </a:solidFill>
          <a:ln w="0">
            <a:solidFill>
              <a:srgbClr val="0b5ca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9296280" y="2857680"/>
            <a:ext cx="323640" cy="28080"/>
          </a:xfrm>
          <a:prstGeom prst="rect">
            <a:avLst/>
          </a:prstGeom>
          <a:solidFill>
            <a:srgbClr val="0b5ca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9582120" y="2790720"/>
            <a:ext cx="151920" cy="151920"/>
          </a:xfrm>
          <a:prstGeom prst="triangle">
            <a:avLst>
              <a:gd name="adj" fmla="val 50000"/>
            </a:avLst>
          </a:prstGeom>
          <a:solidFill>
            <a:srgbClr val="0b5cad"/>
          </a:solidFill>
          <a:ln w="0">
            <a:solidFill>
              <a:srgbClr val="0b5ca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685800" y="4172040"/>
            <a:ext cx="4952520" cy="990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914400" y="4400640"/>
            <a:ext cx="21902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128247"/>
                </a:solidFill>
                <a:effectLst/>
                <a:uFillTx/>
                <a:latin typeface="Aptos"/>
                <a:ea typeface="Aptos"/>
              </a:rPr>
              <a:t>Що було сильним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914400" y="4705200"/>
            <a:ext cx="428580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2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Відтворюваний operator-facing контур: tenant -&gt; weather -&gt; baseline recommendation -&gt; SOC/value preview.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6172200" y="4172040"/>
            <a:ext cx="4952520" cy="990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6400800" y="4400640"/>
            <a:ext cx="247608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d64545"/>
                </a:solidFill>
                <a:effectLst/>
                <a:uFillTx/>
                <a:latin typeface="Aptos"/>
                <a:ea typeface="Aptos"/>
              </a:rPr>
              <a:t>Що ще не було доведено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6400800" y="4705200"/>
            <a:ext cx="4333680" cy="3427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2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Neural / DFL / DT шар був roadmap, не promotion-grade evidence. Потрібні rolling-origin, oracle regret і no-leakage gates.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533520" y="6362640"/>
            <a:ext cx="11124720" cy="9000"/>
          </a:xfrm>
          <a:prstGeom prst="rect">
            <a:avLst/>
          </a:prstGeom>
          <a:solidFill>
            <a:srgbClr val="e4e7ec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533520" y="6477120"/>
            <a:ext cx="85723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1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Source: Week 2 report and demo package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11220480" y="6438960"/>
            <a:ext cx="41868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"/>
          <p:cNvPicPr/>
          <p:nvPr/>
        </p:nvPicPr>
        <p:blipFill>
          <a:blip r:embed="rId1"/>
          <a:srcRect l="0" t="24" r="0" b="24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0" y="0"/>
            <a:ext cx="12191760" cy="66240"/>
          </a:xfrm>
          <a:prstGeom prst="rect">
            <a:avLst/>
          </a:prstGeom>
          <a:solidFill>
            <a:srgbClr val="0b5ca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1600" bIns="21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0" y="66600"/>
            <a:ext cx="12191760" cy="47160"/>
          </a:xfrm>
          <a:prstGeom prst="rect">
            <a:avLst/>
          </a:prstGeom>
          <a:solidFill>
            <a:srgbClr val="ffe45c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520" bIns="25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533520" y="399960"/>
            <a:ext cx="74293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trike="noStrike">
                <a:solidFill>
                  <a:srgbClr val="0b5cad"/>
                </a:solidFill>
                <a:effectLst/>
                <a:uFillTx/>
                <a:latin typeface="Aptos"/>
                <a:ea typeface="Aptos"/>
              </a:rPr>
              <a:t>NEW EVIDENCE PIPELINE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533520" y="666720"/>
            <a:ext cx="8096040" cy="7426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1" u="none" strike="noStrike">
                <a:solidFill>
                  <a:srgbClr val="081a3a"/>
                </a:solidFill>
                <a:effectLst/>
                <a:uFillTx/>
                <a:latin typeface="Aptos Display"/>
                <a:ea typeface="Aptos Display"/>
              </a:rPr>
              <a:t>Ми перестали питати 'який forecast має менший MAE?' і почали питати 'який schedule має менший regret?'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647640" y="2381400"/>
            <a:ext cx="1618920" cy="1257120"/>
          </a:xfrm>
          <a:prstGeom prst="rect">
            <a:avLst/>
          </a:prstGeom>
          <a:solidFill>
            <a:srgbClr val="ffffff"/>
          </a:solidFill>
          <a:ln w="13335">
            <a:solidFill>
              <a:srgbClr val="0b5c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647640" y="2381400"/>
            <a:ext cx="56880" cy="1257120"/>
          </a:xfrm>
          <a:prstGeom prst="rect">
            <a:avLst/>
          </a:prstGeom>
          <a:solidFill>
            <a:srgbClr val="0b5ca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800280" y="2495520"/>
            <a:ext cx="133308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10" b="1" u="none" strike="noStrike">
                <a:solidFill>
                  <a:srgbClr val="081a3a"/>
                </a:solidFill>
                <a:effectLst/>
                <a:uFillTx/>
                <a:latin typeface="Aptos"/>
                <a:ea typeface="Aptos"/>
              </a:rPr>
              <a:t>Observed panel</a:t>
            </a:r>
            <a:endParaRPr lang="en-US" sz="10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800280" y="2762280"/>
            <a:ext cx="1333080" cy="799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7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OREE DAM + Open-Meteo + tenant/load context</a:t>
            </a:r>
            <a:endParaRPr lang="en-US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2685960" y="2381400"/>
            <a:ext cx="1618920" cy="1257120"/>
          </a:xfrm>
          <a:prstGeom prst="rect">
            <a:avLst/>
          </a:prstGeom>
          <a:solidFill>
            <a:srgbClr val="ffffff"/>
          </a:solidFill>
          <a:ln w="13335">
            <a:solidFill>
              <a:srgbClr val="1ba6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2685960" y="2381400"/>
            <a:ext cx="56880" cy="1257120"/>
          </a:xfrm>
          <a:prstGeom prst="rect">
            <a:avLst/>
          </a:prstGeom>
          <a:solidFill>
            <a:srgbClr val="1ba6c9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2838600" y="2495520"/>
            <a:ext cx="133308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10" b="1" u="none" strike="noStrike">
                <a:solidFill>
                  <a:srgbClr val="081a3a"/>
                </a:solidFill>
                <a:effectLst/>
                <a:uFillTx/>
                <a:latin typeface="Aptos"/>
                <a:ea typeface="Aptos"/>
              </a:rPr>
              <a:t>Official global panel</a:t>
            </a:r>
            <a:endParaRPr lang="en-US" sz="10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2838600" y="2971800"/>
            <a:ext cx="1333080" cy="590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7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Nixtla-style NBEATSx/TFT training frame</a:t>
            </a:r>
            <a:endParaRPr lang="en-US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4724280" y="2381400"/>
            <a:ext cx="1618920" cy="1257120"/>
          </a:xfrm>
          <a:prstGeom prst="rect">
            <a:avLst/>
          </a:prstGeom>
          <a:solidFill>
            <a:srgbClr val="ffffff"/>
          </a:solidFill>
          <a:ln w="13335">
            <a:solidFill>
              <a:srgbClr val="f5a5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4724280" y="2381400"/>
            <a:ext cx="56880" cy="1257120"/>
          </a:xfrm>
          <a:prstGeom prst="rect">
            <a:avLst/>
          </a:prstGeom>
          <a:solidFill>
            <a:srgbClr val="f5a524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4876920" y="2495520"/>
            <a:ext cx="133308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10" b="1" u="none" strike="noStrike">
                <a:solidFill>
                  <a:srgbClr val="081a3a"/>
                </a:solidFill>
                <a:effectLst/>
                <a:uFillTx/>
                <a:latin typeface="Aptos"/>
                <a:ea typeface="Aptos"/>
              </a:rPr>
              <a:t>Candidate library</a:t>
            </a:r>
            <a:endParaRPr lang="en-US" sz="10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4876920" y="2762280"/>
            <a:ext cx="1333080" cy="799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7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strict/raw/calibrated/perturbed feasible schedules</a:t>
            </a:r>
            <a:endParaRPr lang="en-US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6762600" y="2381400"/>
            <a:ext cx="1618920" cy="1257120"/>
          </a:xfrm>
          <a:prstGeom prst="rect">
            <a:avLst/>
          </a:prstGeom>
          <a:solidFill>
            <a:srgbClr val="ffffff"/>
          </a:solidFill>
          <a:ln w="13335">
            <a:solidFill>
              <a:srgbClr val="1282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6762600" y="2381400"/>
            <a:ext cx="56880" cy="1257120"/>
          </a:xfrm>
          <a:prstGeom prst="rect">
            <a:avLst/>
          </a:prstGeom>
          <a:solidFill>
            <a:srgbClr val="128247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6915240" y="2495520"/>
            <a:ext cx="133308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10" b="1" u="none" strike="noStrike">
                <a:solidFill>
                  <a:srgbClr val="081a3a"/>
                </a:solidFill>
                <a:effectLst/>
                <a:uFillTx/>
                <a:latin typeface="Aptos"/>
                <a:ea typeface="Aptos"/>
              </a:rPr>
              <a:t>Schedule/value learner</a:t>
            </a:r>
            <a:endParaRPr lang="en-US" sz="10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6915240" y="2762280"/>
            <a:ext cx="1333080" cy="799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7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prior-only selection over feasible LP schedules</a:t>
            </a:r>
            <a:endParaRPr lang="en-US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8801280" y="2381400"/>
            <a:ext cx="1618920" cy="1257120"/>
          </a:xfrm>
          <a:prstGeom prst="rect">
            <a:avLst/>
          </a:prstGeom>
          <a:solidFill>
            <a:srgbClr val="ffffff"/>
          </a:solidFill>
          <a:ln w="13335">
            <a:solidFill>
              <a:srgbClr val="081a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8801280" y="2381400"/>
            <a:ext cx="56880" cy="1257120"/>
          </a:xfrm>
          <a:prstGeom prst="rect">
            <a:avLst/>
          </a:prstGeom>
          <a:solidFill>
            <a:srgbClr val="081a3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8953560" y="2495520"/>
            <a:ext cx="133308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10" b="1" u="none" strike="noStrike">
                <a:solidFill>
                  <a:srgbClr val="081a3a"/>
                </a:solidFill>
                <a:effectLst/>
                <a:uFillTx/>
                <a:latin typeface="Aptos"/>
                <a:ea typeface="Aptos"/>
              </a:rPr>
              <a:t>Promotion gate</a:t>
            </a:r>
            <a:endParaRPr lang="en-US" sz="10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8953560" y="2762280"/>
            <a:ext cx="1333080" cy="799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7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strict LP/oracle regret, rolling robustness, fallback</a:t>
            </a:r>
            <a:endParaRPr lang="en-US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266920" y="3009960"/>
            <a:ext cx="304560" cy="28080"/>
          </a:xfrm>
          <a:prstGeom prst="rect">
            <a:avLst/>
          </a:prstGeom>
          <a:solidFill>
            <a:srgbClr val="0b5ca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533680" y="2943360"/>
            <a:ext cx="151920" cy="151920"/>
          </a:xfrm>
          <a:prstGeom prst="triangle">
            <a:avLst>
              <a:gd name="adj" fmla="val 50000"/>
            </a:avLst>
          </a:prstGeom>
          <a:solidFill>
            <a:srgbClr val="0b5cad"/>
          </a:solidFill>
          <a:ln w="0">
            <a:solidFill>
              <a:srgbClr val="0b5ca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305240" y="3009960"/>
            <a:ext cx="304560" cy="28080"/>
          </a:xfrm>
          <a:prstGeom prst="rect">
            <a:avLst/>
          </a:prstGeom>
          <a:solidFill>
            <a:srgbClr val="0b5ca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4572000" y="2943360"/>
            <a:ext cx="151920" cy="151920"/>
          </a:xfrm>
          <a:prstGeom prst="triangle">
            <a:avLst>
              <a:gd name="adj" fmla="val 50000"/>
            </a:avLst>
          </a:prstGeom>
          <a:solidFill>
            <a:srgbClr val="0b5cad"/>
          </a:solidFill>
          <a:ln w="0">
            <a:solidFill>
              <a:srgbClr val="0b5ca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6343560" y="3009960"/>
            <a:ext cx="304560" cy="28080"/>
          </a:xfrm>
          <a:prstGeom prst="rect">
            <a:avLst/>
          </a:prstGeom>
          <a:solidFill>
            <a:srgbClr val="0b5ca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6610320" y="2943360"/>
            <a:ext cx="151920" cy="151920"/>
          </a:xfrm>
          <a:prstGeom prst="triangle">
            <a:avLst>
              <a:gd name="adj" fmla="val 50000"/>
            </a:avLst>
          </a:prstGeom>
          <a:solidFill>
            <a:srgbClr val="0b5cad"/>
          </a:solidFill>
          <a:ln w="0">
            <a:solidFill>
              <a:srgbClr val="0b5ca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8381880" y="3009960"/>
            <a:ext cx="304560" cy="28080"/>
          </a:xfrm>
          <a:prstGeom prst="rect">
            <a:avLst/>
          </a:prstGeom>
          <a:solidFill>
            <a:srgbClr val="0b5ca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8648640" y="2943360"/>
            <a:ext cx="151920" cy="151920"/>
          </a:xfrm>
          <a:prstGeom prst="triangle">
            <a:avLst>
              <a:gd name="adj" fmla="val 50000"/>
            </a:avLst>
          </a:prstGeom>
          <a:solidFill>
            <a:srgbClr val="0b5cad"/>
          </a:solidFill>
          <a:ln w="0">
            <a:solidFill>
              <a:srgbClr val="0b5ca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838080" y="4476600"/>
            <a:ext cx="9715320" cy="780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1066680" y="4705200"/>
            <a:ext cx="17143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081a3a"/>
                </a:solidFill>
                <a:effectLst/>
                <a:uFillTx/>
                <a:latin typeface="Aptos"/>
                <a:ea typeface="Aptos"/>
              </a:rPr>
              <a:t>Academic point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2724120" y="4705200"/>
            <a:ext cx="723852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39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Це predict-then-optimize з DFL-style selection: neural forecast є джерелом кандидатів, але фінальна оцінка йде через UAH net value, SOC feasibility та oracle regret.</a:t>
            </a:r>
            <a:endParaRPr lang="en-US" sz="9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533520" y="6362640"/>
            <a:ext cx="11124720" cy="9000"/>
          </a:xfrm>
          <a:prstGeom prst="rect">
            <a:avLst/>
          </a:prstGeom>
          <a:solidFill>
            <a:srgbClr val="e4e7ec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533520" y="6477120"/>
            <a:ext cx="85723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1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Every selected challenger remains behind strict_similar_day fallback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11220480" y="6438960"/>
            <a:ext cx="41868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04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0" y="0"/>
            <a:ext cx="12191760" cy="66240"/>
          </a:xfrm>
          <a:prstGeom prst="rect">
            <a:avLst/>
          </a:prstGeom>
          <a:solidFill>
            <a:srgbClr val="0b5ca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1600" bIns="21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0" y="66600"/>
            <a:ext cx="12191760" cy="47160"/>
          </a:xfrm>
          <a:prstGeom prst="rect">
            <a:avLst/>
          </a:prstGeom>
          <a:solidFill>
            <a:srgbClr val="ffe45c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520" bIns="25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533520" y="399960"/>
            <a:ext cx="74293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trike="noStrike">
                <a:solidFill>
                  <a:srgbClr val="0b5cad"/>
                </a:solidFill>
                <a:effectLst/>
                <a:uFillTx/>
                <a:latin typeface="Aptos"/>
                <a:ea typeface="Aptos"/>
              </a:rPr>
              <a:t>DATA SHAPE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533520" y="666720"/>
            <a:ext cx="8096040" cy="7426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1" u="none" strike="noStrike">
                <a:solidFill>
                  <a:srgbClr val="081a3a"/>
                </a:solidFill>
                <a:effectLst/>
                <a:uFillTx/>
                <a:latin typeface="Aptos Display"/>
                <a:ea typeface="Aptos Display"/>
              </a:rPr>
              <a:t>Поточний headline-result вже не demo/synthetic-only: це source-backed Ukrainian panel.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685800" y="2190600"/>
            <a:ext cx="1999800" cy="106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685800" y="2190600"/>
            <a:ext cx="47160" cy="1066320"/>
          </a:xfrm>
          <a:prstGeom prst="rect">
            <a:avLst/>
          </a:prstGeom>
          <a:solidFill>
            <a:srgbClr val="0b5ca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876240" y="2333520"/>
            <a:ext cx="166644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20" b="1" u="none" strike="noStrike">
                <a:solidFill>
                  <a:srgbClr val="081a3a"/>
                </a:solidFill>
                <a:effectLst/>
                <a:uFillTx/>
                <a:latin typeface="Aptos Display"/>
                <a:ea typeface="Aptos Display"/>
              </a:rPr>
              <a:t>58,190 x 60</a:t>
            </a:r>
            <a:endParaRPr lang="en-US" sz="2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876240" y="2685960"/>
            <a:ext cx="16664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2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official panel frame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876240" y="2914560"/>
            <a:ext cx="16664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1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Nixtla-style training rows/features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2914560" y="2190600"/>
            <a:ext cx="1999800" cy="106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2914560" y="2190600"/>
            <a:ext cx="47160" cy="1066320"/>
          </a:xfrm>
          <a:prstGeom prst="rect">
            <a:avLst/>
          </a:prstGeom>
          <a:solidFill>
            <a:srgbClr val="1ba6c9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3105000" y="2333520"/>
            <a:ext cx="166644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20" b="1" u="none" strike="noStrike">
                <a:solidFill>
                  <a:srgbClr val="081a3a"/>
                </a:solidFill>
                <a:effectLst/>
                <a:uFillTx/>
                <a:latin typeface="Aptos Display"/>
                <a:ea typeface="Aptos Display"/>
              </a:rPr>
              <a:t>365</a:t>
            </a:r>
            <a:endParaRPr lang="en-US" sz="2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3105000" y="2685960"/>
            <a:ext cx="16664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2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anchors per tenant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3105000" y="2914560"/>
            <a:ext cx="16664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1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largest current UA backfill evidence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5143680" y="2190600"/>
            <a:ext cx="1999800" cy="106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5143680" y="2190600"/>
            <a:ext cx="47160" cy="1066320"/>
          </a:xfrm>
          <a:prstGeom prst="rect">
            <a:avLst/>
          </a:prstGeom>
          <a:solidFill>
            <a:srgbClr val="128247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5334120" y="2333520"/>
            <a:ext cx="166644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20" b="1" u="none" strike="noStrike">
                <a:solidFill>
                  <a:srgbClr val="081a3a"/>
                </a:solidFill>
                <a:effectLst/>
                <a:uFillTx/>
                <a:latin typeface="Aptos Display"/>
                <a:ea typeface="Aptos Display"/>
              </a:rPr>
              <a:t>1,825</a:t>
            </a:r>
            <a:endParaRPr lang="en-US" sz="2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5334120" y="2685960"/>
            <a:ext cx="16664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2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strict rows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5334120" y="2914560"/>
            <a:ext cx="16664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1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5 tenants x 365 anchors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7372440" y="2190600"/>
            <a:ext cx="1999800" cy="106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7372440" y="2190600"/>
            <a:ext cx="47160" cy="1066320"/>
          </a:xfrm>
          <a:prstGeom prst="rect">
            <a:avLst/>
          </a:prstGeom>
          <a:solidFill>
            <a:srgbClr val="f5a524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7562880" y="2333520"/>
            <a:ext cx="166644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20" b="1" u="none" strike="noStrike">
                <a:solidFill>
                  <a:srgbClr val="081a3a"/>
                </a:solidFill>
                <a:effectLst/>
                <a:uFillTx/>
                <a:latin typeface="Aptos Display"/>
                <a:ea typeface="Aptos Display"/>
              </a:rPr>
              <a:t>90</a:t>
            </a:r>
            <a:endParaRPr lang="en-US" sz="2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7562880" y="2685960"/>
            <a:ext cx="16664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2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latest holdout rows/source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7562880" y="2914560"/>
            <a:ext cx="16664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1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18 anchors x 5 tenants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9601200" y="2190600"/>
            <a:ext cx="1999800" cy="106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9601200" y="2190600"/>
            <a:ext cx="47160" cy="1066320"/>
          </a:xfrm>
          <a:prstGeom prst="rect">
            <a:avLst/>
          </a:prstGeom>
          <a:solidFill>
            <a:srgbClr val="d6454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9791640" y="2333520"/>
            <a:ext cx="166644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20" b="1" u="none" strike="noStrike">
                <a:solidFill>
                  <a:srgbClr val="081a3a"/>
                </a:solidFill>
                <a:effectLst/>
                <a:uFillTx/>
                <a:latin typeface="Aptos Display"/>
                <a:ea typeface="Aptos Display"/>
              </a:rPr>
              <a:t>0</a:t>
            </a:r>
            <a:endParaRPr lang="en-US" sz="2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9791640" y="2685960"/>
            <a:ext cx="16664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2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EU rows in training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9791640" y="2914560"/>
            <a:ext cx="16664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1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external features blocked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857160" y="3905280"/>
            <a:ext cx="1714320" cy="323640"/>
          </a:xfrm>
          <a:prstGeom prst="rect">
            <a:avLst/>
          </a:prstGeom>
          <a:solidFill>
            <a:srgbClr val="081a3a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933480" y="3990960"/>
            <a:ext cx="156168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1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Layer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2571840" y="3905280"/>
            <a:ext cx="5905080" cy="323640"/>
          </a:xfrm>
          <a:prstGeom prst="rect">
            <a:avLst/>
          </a:prstGeom>
          <a:solidFill>
            <a:srgbClr val="081a3a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2647800" y="3990960"/>
            <a:ext cx="575280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1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What enters evidence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8477280" y="3905280"/>
            <a:ext cx="2095200" cy="323640"/>
          </a:xfrm>
          <a:prstGeom prst="rect">
            <a:avLst/>
          </a:prstGeom>
          <a:solidFill>
            <a:srgbClr val="081a3a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8553600" y="3990960"/>
            <a:ext cx="19429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1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Status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857160" y="4229280"/>
            <a:ext cx="1714320" cy="361440"/>
          </a:xfrm>
          <a:prstGeom prst="rect">
            <a:avLst/>
          </a:prstGeom>
          <a:solidFill>
            <a:srgbClr val="ffffff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933480" y="4314960"/>
            <a:ext cx="156168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9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Prices</a:t>
            </a:r>
            <a:endParaRPr lang="en-US" sz="6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2571840" y="4229280"/>
            <a:ext cx="5905080" cy="361440"/>
          </a:xfrm>
          <a:prstGeom prst="rect">
            <a:avLst/>
          </a:prstGeom>
          <a:solidFill>
            <a:srgbClr val="ffffff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2647800" y="4314960"/>
            <a:ext cx="575280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9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Observed Ukrainian OREE DAM</a:t>
            </a:r>
            <a:endParaRPr lang="en-US" sz="6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8477280" y="4229280"/>
            <a:ext cx="2095200" cy="361440"/>
          </a:xfrm>
          <a:prstGeom prst="rect">
            <a:avLst/>
          </a:prstGeom>
          <a:solidFill>
            <a:srgbClr val="ffffff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8553600" y="4314960"/>
            <a:ext cx="194292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9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used</a:t>
            </a:r>
            <a:endParaRPr lang="en-US" sz="6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857160" y="4591080"/>
            <a:ext cx="1714320" cy="361440"/>
          </a:xfrm>
          <a:prstGeom prst="rect">
            <a:avLst/>
          </a:prstGeom>
          <a:solidFill>
            <a:srgbClr val="f2f4f7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933480" y="4676760"/>
            <a:ext cx="156168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9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Weather</a:t>
            </a:r>
            <a:endParaRPr lang="en-US" sz="6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2571840" y="4591080"/>
            <a:ext cx="5905080" cy="361440"/>
          </a:xfrm>
          <a:prstGeom prst="rect">
            <a:avLst/>
          </a:prstGeom>
          <a:solidFill>
            <a:srgbClr val="f2f4f7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2647800" y="4676760"/>
            <a:ext cx="575280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9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Open-Meteo historical context</a:t>
            </a:r>
            <a:endParaRPr lang="en-US" sz="6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8477280" y="4591080"/>
            <a:ext cx="2095200" cy="361440"/>
          </a:xfrm>
          <a:prstGeom prst="rect">
            <a:avLst/>
          </a:prstGeom>
          <a:solidFill>
            <a:srgbClr val="f2f4f7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8553600" y="4676760"/>
            <a:ext cx="194292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9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used</a:t>
            </a:r>
            <a:endParaRPr lang="en-US" sz="6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857160" y="4952880"/>
            <a:ext cx="1714320" cy="361440"/>
          </a:xfrm>
          <a:prstGeom prst="rect">
            <a:avLst/>
          </a:prstGeom>
          <a:solidFill>
            <a:srgbClr val="ffffff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933480" y="5038560"/>
            <a:ext cx="156168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9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Tenant/load</a:t>
            </a:r>
            <a:endParaRPr lang="en-US" sz="6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2571840" y="4952880"/>
            <a:ext cx="5905080" cy="361440"/>
          </a:xfrm>
          <a:prstGeom prst="rect">
            <a:avLst/>
          </a:prstGeom>
          <a:solidFill>
            <a:srgbClr val="ffffff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2647800" y="5038560"/>
            <a:ext cx="575280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9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YAML config + load proxy context</a:t>
            </a:r>
            <a:endParaRPr lang="en-US" sz="6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8477280" y="4952880"/>
            <a:ext cx="2095200" cy="361440"/>
          </a:xfrm>
          <a:prstGeom prst="rect">
            <a:avLst/>
          </a:prstGeom>
          <a:solidFill>
            <a:srgbClr val="ffffff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8553600" y="5038560"/>
            <a:ext cx="194292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9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used</a:t>
            </a:r>
            <a:endParaRPr lang="en-US" sz="6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857160" y="5315040"/>
            <a:ext cx="1714320" cy="361440"/>
          </a:xfrm>
          <a:prstGeom prst="rect">
            <a:avLst/>
          </a:prstGeom>
          <a:solidFill>
            <a:srgbClr val="f2f4f7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933480" y="5400720"/>
            <a:ext cx="156168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9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Market coupling</a:t>
            </a:r>
            <a:endParaRPr lang="en-US" sz="6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2571840" y="5315040"/>
            <a:ext cx="5905080" cy="361440"/>
          </a:xfrm>
          <a:prstGeom prst="rect">
            <a:avLst/>
          </a:prstGeom>
          <a:solidFill>
            <a:srgbClr val="f2f4f7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2647800" y="5400720"/>
            <a:ext cx="575280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9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ENTSO-E/OPSD/Ember/Nord Pool/PriceFM/THieF</a:t>
            </a:r>
            <a:endParaRPr lang="en-US" sz="6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8477280" y="5315040"/>
            <a:ext cx="2095200" cy="361440"/>
          </a:xfrm>
          <a:prstGeom prst="rect">
            <a:avLst/>
          </a:prstGeom>
          <a:solidFill>
            <a:srgbClr val="f2f4f7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8553600" y="5400720"/>
            <a:ext cx="194292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9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blocked</a:t>
            </a:r>
            <a:endParaRPr lang="en-US" sz="6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533520" y="6362640"/>
            <a:ext cx="11124720" cy="9000"/>
          </a:xfrm>
          <a:prstGeom prst="rect">
            <a:avLst/>
          </a:prstGeom>
          <a:solidFill>
            <a:srgbClr val="e4e7ec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533520" y="6477120"/>
            <a:ext cx="85723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1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Source-backed Ukrainian evidence; external feature route prepared but closed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11220480" y="6438960"/>
            <a:ext cx="41868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05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0" y="0"/>
            <a:ext cx="12191760" cy="66240"/>
          </a:xfrm>
          <a:prstGeom prst="rect">
            <a:avLst/>
          </a:prstGeom>
          <a:solidFill>
            <a:srgbClr val="0b5ca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1600" bIns="21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0" y="66600"/>
            <a:ext cx="12191760" cy="47160"/>
          </a:xfrm>
          <a:prstGeom prst="rect">
            <a:avLst/>
          </a:prstGeom>
          <a:solidFill>
            <a:srgbClr val="ffe45c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520" bIns="25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533520" y="399960"/>
            <a:ext cx="74293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trike="noStrike">
                <a:solidFill>
                  <a:srgbClr val="0b5cad"/>
                </a:solidFill>
                <a:effectLst/>
                <a:uFillTx/>
                <a:latin typeface="Aptos"/>
                <a:ea typeface="Aptos"/>
              </a:rPr>
              <a:t>RAW OFFICIAL FORECASTS DID NOT WIN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533520" y="666720"/>
            <a:ext cx="8096040" cy="7426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1" u="none" strike="noStrike">
                <a:solidFill>
                  <a:srgbClr val="081a3a"/>
                </a:solidFill>
                <a:effectLst/>
                <a:uFillTx/>
                <a:latin typeface="Aptos Display"/>
                <a:ea typeface="Aptos Display"/>
              </a:rPr>
              <a:t>Official global-panel NBEATSx was useful, but not as a direct replacement for strict_similar_day.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838080" y="2419200"/>
            <a:ext cx="23810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strict_similar_day</a:t>
            </a:r>
            <a:endParaRPr lang="en-US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3409920" y="2400480"/>
            <a:ext cx="4095360" cy="304560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3409920" y="2400480"/>
            <a:ext cx="2325240" cy="304560"/>
          </a:xfrm>
          <a:prstGeom prst="rect">
            <a:avLst/>
          </a:prstGeom>
          <a:solidFill>
            <a:srgbClr val="128247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5830560" y="2438280"/>
            <a:ext cx="13330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431.52 mean regret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838080" y="3009960"/>
            <a:ext cx="23810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9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NBEATSx global-panel raw</a:t>
            </a:r>
            <a:endParaRPr lang="en-US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3409920" y="2990880"/>
            <a:ext cx="4095360" cy="304560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3409920" y="2990880"/>
            <a:ext cx="3816000" cy="304560"/>
          </a:xfrm>
          <a:prstGeom prst="rect">
            <a:avLst/>
          </a:prstGeom>
          <a:solidFill>
            <a:srgbClr val="0b5ca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7321320" y="3029040"/>
            <a:ext cx="13330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708.14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838080" y="3600360"/>
            <a:ext cx="23810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9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NBEATSx horizon-calibrated</a:t>
            </a:r>
            <a:endParaRPr lang="en-US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3409920" y="3581280"/>
            <a:ext cx="4095360" cy="304560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3409920" y="3581280"/>
            <a:ext cx="3246480" cy="304560"/>
          </a:xfrm>
          <a:prstGeom prst="rect">
            <a:avLst/>
          </a:prstGeom>
          <a:solidFill>
            <a:srgbClr val="f5a524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6752160" y="3619440"/>
            <a:ext cx="13330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602.51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7953480" y="2381400"/>
            <a:ext cx="3047760" cy="20570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8210520" y="2647800"/>
            <a:ext cx="209520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30" b="1" u="none" strike="noStrike">
                <a:solidFill>
                  <a:srgbClr val="081a3a"/>
                </a:solidFill>
                <a:effectLst/>
                <a:uFillTx/>
                <a:latin typeface="Aptos"/>
                <a:ea typeface="Aptos"/>
              </a:rPr>
              <a:t>Interpretation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8210520" y="3048120"/>
            <a:ext cx="2333160" cy="9903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8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Raw/corrected forecasts still lose over the full 365-anchor panel. The result is not 'NBEATSx forecast superiority'. The breakthrough came from decision selection over feasible schedules.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533520" y="6362640"/>
            <a:ext cx="11124720" cy="9000"/>
          </a:xfrm>
          <a:prstGeom prst="rect">
            <a:avLst/>
          </a:prstGeom>
          <a:solidFill>
            <a:srgbClr val="e4e7ec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533520" y="6477120"/>
            <a:ext cx="85723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1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Metric: UAH oracle regret; lower is better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11220480" y="6438960"/>
            <a:ext cx="41868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06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0" y="0"/>
            <a:ext cx="12191760" cy="66240"/>
          </a:xfrm>
          <a:prstGeom prst="rect">
            <a:avLst/>
          </a:prstGeom>
          <a:solidFill>
            <a:srgbClr val="0b5ca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1600" bIns="21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0" y="66600"/>
            <a:ext cx="12191760" cy="47160"/>
          </a:xfrm>
          <a:prstGeom prst="rect">
            <a:avLst/>
          </a:prstGeom>
          <a:solidFill>
            <a:srgbClr val="ffe45c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520" bIns="25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533520" y="399960"/>
            <a:ext cx="74293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trike="noStrike">
                <a:solidFill>
                  <a:srgbClr val="0b5cad"/>
                </a:solidFill>
                <a:effectLst/>
                <a:uFillTx/>
                <a:latin typeface="Aptos"/>
                <a:ea typeface="Aptos"/>
              </a:rPr>
              <a:t>EXOGENOUS/CONTEXT FEATURES HELPED POLICY SELECTION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533520" y="666720"/>
            <a:ext cx="11125080" cy="7426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1" u="none" strike="noStrike">
                <a:solidFill>
                  <a:srgbClr val="081a3a"/>
                </a:solidFill>
                <a:effectLst/>
                <a:uFillTx/>
                <a:latin typeface="Aptos Display"/>
                <a:ea typeface="Aptos Display"/>
              </a:rPr>
              <a:t>Weather/load context fixed the blind spot; feature-aware selectors nearly cleared strict control before official schedule/value learning.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685800" y="2095560"/>
            <a:ext cx="1999800" cy="106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685800" y="2095560"/>
            <a:ext cx="47160" cy="1066320"/>
          </a:xfrm>
          <a:prstGeom prst="rect">
            <a:avLst/>
          </a:prstGeom>
          <a:solidFill>
            <a:srgbClr val="0b5ca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876240" y="2238480"/>
            <a:ext cx="166644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20" b="1" u="none" strike="noStrike">
                <a:solidFill>
                  <a:srgbClr val="081a3a"/>
                </a:solidFill>
                <a:effectLst/>
                <a:uFillTx/>
                <a:latin typeface="Aptos Display"/>
                <a:ea typeface="Aptos Display"/>
              </a:rPr>
              <a:t>1,560</a:t>
            </a:r>
            <a:endParaRPr lang="en-US" sz="2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876240" y="2590920"/>
            <a:ext cx="16664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2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AFL rows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876240" y="2819520"/>
            <a:ext cx="16664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1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5 tenants x 2 compact models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2914560" y="2095560"/>
            <a:ext cx="1999800" cy="106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2914560" y="2095560"/>
            <a:ext cx="47160" cy="1066320"/>
          </a:xfrm>
          <a:prstGeom prst="rect">
            <a:avLst/>
          </a:prstGeom>
          <a:solidFill>
            <a:srgbClr val="d6454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3105000" y="2238480"/>
            <a:ext cx="166644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20" b="1" u="none" strike="noStrike">
                <a:solidFill>
                  <a:srgbClr val="081a3a"/>
                </a:solidFill>
                <a:effectLst/>
                <a:uFillTx/>
                <a:latin typeface="Aptos Display"/>
                <a:ea typeface="Aptos Display"/>
              </a:rPr>
              <a:t>80.23%</a:t>
            </a:r>
            <a:endParaRPr lang="en-US" sz="2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3105000" y="2590920"/>
            <a:ext cx="16664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2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LP-value failure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3105000" y="2819520"/>
            <a:ext cx="16664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1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main remaining failure mode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5143680" y="2095560"/>
            <a:ext cx="1999800" cy="106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5143680" y="2095560"/>
            <a:ext cx="47160" cy="1066320"/>
          </a:xfrm>
          <a:prstGeom prst="rect">
            <a:avLst/>
          </a:prstGeom>
          <a:solidFill>
            <a:srgbClr val="f5a524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5334120" y="2238480"/>
            <a:ext cx="166644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20" b="1" u="none" strike="noStrike">
                <a:solidFill>
                  <a:srgbClr val="081a3a"/>
                </a:solidFill>
                <a:effectLst/>
                <a:uFillTx/>
                <a:latin typeface="Aptos Display"/>
                <a:ea typeface="Aptos Display"/>
              </a:rPr>
              <a:t>64.83%</a:t>
            </a:r>
            <a:endParaRPr lang="en-US" sz="2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5334120" y="2590920"/>
            <a:ext cx="16664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2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rank/extrema failure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5334120" y="2819520"/>
            <a:ext cx="16664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1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price order still hard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7372440" y="2095560"/>
            <a:ext cx="1999800" cy="106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7372440" y="2095560"/>
            <a:ext cx="47160" cy="1066320"/>
          </a:xfrm>
          <a:prstGeom prst="rect">
            <a:avLst/>
          </a:prstGeom>
          <a:solidFill>
            <a:srgbClr val="1ba6c9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7562880" y="2238480"/>
            <a:ext cx="166644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20" b="1" u="none" strike="noStrike">
                <a:solidFill>
                  <a:srgbClr val="081a3a"/>
                </a:solidFill>
                <a:effectLst/>
                <a:uFillTx/>
                <a:latin typeface="Aptos Display"/>
                <a:ea typeface="Aptos Display"/>
              </a:rPr>
              <a:t>55.19%</a:t>
            </a:r>
            <a:endParaRPr lang="en-US" sz="2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7562880" y="2590920"/>
            <a:ext cx="16664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2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spread-shape failure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7562880" y="2819520"/>
            <a:ext cx="16664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1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forecast shape issue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781200" y="3905280"/>
            <a:ext cx="23810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9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raw NBEATSx</a:t>
            </a:r>
            <a:endParaRPr lang="en-US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3352680" y="3886200"/>
            <a:ext cx="3714480" cy="209160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3352680" y="3886200"/>
            <a:ext cx="2877120" cy="209160"/>
          </a:xfrm>
          <a:prstGeom prst="rect">
            <a:avLst/>
          </a:prstGeom>
          <a:solidFill>
            <a:srgbClr val="98a2b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6325560" y="3924360"/>
            <a:ext cx="13330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raw ref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781200" y="4286160"/>
            <a:ext cx="23810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feature-aware NBEATSx</a:t>
            </a:r>
            <a:endParaRPr lang="en-US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3352680" y="4267080"/>
            <a:ext cx="3714480" cy="209160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3352680" y="4267080"/>
            <a:ext cx="1060200" cy="209160"/>
          </a:xfrm>
          <a:prstGeom prst="rect">
            <a:avLst/>
          </a:prstGeom>
          <a:solidFill>
            <a:srgbClr val="0b5ca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4508280" y="4305240"/>
            <a:ext cx="13330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299.73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781200" y="4667400"/>
            <a:ext cx="23810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9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raw TFT</a:t>
            </a:r>
            <a:endParaRPr lang="en-US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3352680" y="4648320"/>
            <a:ext cx="3714480" cy="209160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3352680" y="4648320"/>
            <a:ext cx="3550320" cy="209160"/>
          </a:xfrm>
          <a:prstGeom prst="rect">
            <a:avLst/>
          </a:prstGeom>
          <a:solidFill>
            <a:srgbClr val="98a2b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6998760" y="4686480"/>
            <a:ext cx="13330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raw ref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>
            <a:off x="781200" y="5048280"/>
            <a:ext cx="23810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feature-aware TFT</a:t>
            </a:r>
            <a:endParaRPr lang="en-US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3352680" y="5029200"/>
            <a:ext cx="3714480" cy="209160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3352680" y="5029200"/>
            <a:ext cx="1058040" cy="209160"/>
          </a:xfrm>
          <a:prstGeom prst="rect">
            <a:avLst/>
          </a:prstGeom>
          <a:solidFill>
            <a:srgbClr val="1ba6c9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4506480" y="5067360"/>
            <a:ext cx="13330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299.19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781200" y="5429160"/>
            <a:ext cx="23810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strict_similar_day</a:t>
            </a:r>
            <a:endParaRPr lang="en-US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3352680" y="5410080"/>
            <a:ext cx="3714480" cy="209160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3352680" y="5410080"/>
            <a:ext cx="1113480" cy="209160"/>
          </a:xfrm>
          <a:prstGeom prst="rect">
            <a:avLst/>
          </a:prstGeom>
          <a:solidFill>
            <a:srgbClr val="128247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4561920" y="5448240"/>
            <a:ext cx="13330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314.81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7601040" y="3848040"/>
            <a:ext cx="3428640" cy="12380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7848720" y="4076640"/>
            <a:ext cx="21902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081a3a"/>
                </a:solidFill>
                <a:effectLst/>
                <a:uFillTx/>
                <a:latin typeface="Aptos"/>
                <a:ea typeface="Aptos"/>
              </a:rPr>
              <a:t>What this proved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7848720" y="4400640"/>
            <a:ext cx="2704680" cy="552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Prior-only Ukrainian weather/load/context features improved selector behavior by 63.15% vs raw NBEATSx and 70.19% vs raw TFT. But they missed the 5% strict-control gate by a small margin: 4.79% and 4.96%.</a:t>
            </a:r>
            <a:endParaRPr lang="en-US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533520" y="6362640"/>
            <a:ext cx="11124720" cy="9000"/>
          </a:xfrm>
          <a:prstGeom prst="rect">
            <a:avLst/>
          </a:prstGeom>
          <a:solidFill>
            <a:srgbClr val="e4e7ec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533520" y="6477120"/>
            <a:ext cx="85723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1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Do not claim EU market-coupling helped: those features are still blocked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11220480" y="6438960"/>
            <a:ext cx="41868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07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0" y="0"/>
            <a:ext cx="12191760" cy="66240"/>
          </a:xfrm>
          <a:prstGeom prst="rect">
            <a:avLst/>
          </a:prstGeom>
          <a:solidFill>
            <a:srgbClr val="0b5ca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1600" bIns="21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>
            <a:off x="0" y="66600"/>
            <a:ext cx="12191760" cy="47160"/>
          </a:xfrm>
          <a:prstGeom prst="rect">
            <a:avLst/>
          </a:prstGeom>
          <a:solidFill>
            <a:srgbClr val="ffe45c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520" bIns="25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533520" y="399960"/>
            <a:ext cx="74293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trike="noStrike">
                <a:solidFill>
                  <a:srgbClr val="0b5cad"/>
                </a:solidFill>
                <a:effectLst/>
                <a:uFillTx/>
                <a:latin typeface="Aptos"/>
                <a:ea typeface="Aptos"/>
              </a:rPr>
              <a:t>SCHEDULE/VALUE LEARNER IS THE FIRST PROMOTION-GRADE RESULT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533520" y="666720"/>
            <a:ext cx="8096040" cy="7426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1" u="none" strike="noStrike">
                <a:solidFill>
                  <a:srgbClr val="081a3a"/>
                </a:solidFill>
                <a:effectLst/>
                <a:uFillTx/>
                <a:latin typeface="Aptos Display"/>
                <a:ea typeface="Aptos Display"/>
              </a:rPr>
              <a:t>The learner chooses among feasible schedules; strict LP/oracle still scores the final decision.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666720" y="2095560"/>
            <a:ext cx="2095200" cy="323640"/>
          </a:xfrm>
          <a:prstGeom prst="rect">
            <a:avLst/>
          </a:prstGeom>
          <a:solidFill>
            <a:srgbClr val="081a3a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743040" y="2181240"/>
            <a:ext cx="19429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1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Source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2762280" y="2095560"/>
            <a:ext cx="2095200" cy="323640"/>
          </a:xfrm>
          <a:prstGeom prst="rect">
            <a:avLst/>
          </a:prstGeom>
          <a:solidFill>
            <a:srgbClr val="081a3a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2838600" y="2181240"/>
            <a:ext cx="19429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1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Strict mean/median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4857840" y="2095560"/>
            <a:ext cx="2190240" cy="323640"/>
          </a:xfrm>
          <a:prstGeom prst="rect">
            <a:avLst/>
          </a:prstGeom>
          <a:solidFill>
            <a:srgbClr val="081a3a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4933800" y="2181240"/>
            <a:ext cx="203796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1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Raw source mean/median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7048440" y="2095560"/>
            <a:ext cx="2190240" cy="323640"/>
          </a:xfrm>
          <a:prstGeom prst="rect">
            <a:avLst/>
          </a:prstGeom>
          <a:solidFill>
            <a:srgbClr val="081a3a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7124760" y="2181240"/>
            <a:ext cx="203796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1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Learner mean/median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9239400" y="2095560"/>
            <a:ext cx="1238040" cy="323640"/>
          </a:xfrm>
          <a:prstGeom prst="rect">
            <a:avLst/>
          </a:prstGeom>
          <a:solidFill>
            <a:srgbClr val="081a3a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9315360" y="2181240"/>
            <a:ext cx="108540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1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Latest gain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>
            <a:off x="666720" y="2419200"/>
            <a:ext cx="2095200" cy="361440"/>
          </a:xfrm>
          <a:prstGeom prst="rect">
            <a:avLst/>
          </a:prstGeom>
          <a:solidFill>
            <a:srgbClr val="ffffff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743040" y="2505240"/>
            <a:ext cx="194292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9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NBEATSx global-panel</a:t>
            </a:r>
            <a:endParaRPr lang="en-US" sz="6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"/>
          <p:cNvSpPr/>
          <p:nvPr/>
        </p:nvSpPr>
        <p:spPr>
          <a:xfrm>
            <a:off x="2762280" y="2419200"/>
            <a:ext cx="2095200" cy="361440"/>
          </a:xfrm>
          <a:prstGeom prst="rect">
            <a:avLst/>
          </a:prstGeom>
          <a:solidFill>
            <a:srgbClr val="ffffff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"/>
          <p:cNvSpPr/>
          <p:nvPr/>
        </p:nvSpPr>
        <p:spPr>
          <a:xfrm>
            <a:off x="2838600" y="2505240"/>
            <a:ext cx="194292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9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310.58 / 198.39</a:t>
            </a:r>
            <a:endParaRPr lang="en-US" sz="6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"/>
          <p:cNvSpPr/>
          <p:nvPr/>
        </p:nvSpPr>
        <p:spPr>
          <a:xfrm>
            <a:off x="4857840" y="2419200"/>
            <a:ext cx="2190240" cy="361440"/>
          </a:xfrm>
          <a:prstGeom prst="rect">
            <a:avLst/>
          </a:prstGeom>
          <a:solidFill>
            <a:srgbClr val="ffffff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4933800" y="2505240"/>
            <a:ext cx="203796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9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771.26 / 393.49</a:t>
            </a:r>
            <a:endParaRPr lang="en-US" sz="6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"/>
          <p:cNvSpPr/>
          <p:nvPr/>
        </p:nvSpPr>
        <p:spPr>
          <a:xfrm>
            <a:off x="7048440" y="2419200"/>
            <a:ext cx="2190240" cy="361440"/>
          </a:xfrm>
          <a:prstGeom prst="rect">
            <a:avLst/>
          </a:prstGeom>
          <a:solidFill>
            <a:srgbClr val="ffffff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>
            <a:off x="7124760" y="2505240"/>
            <a:ext cx="203796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9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225.44 / 109.69</a:t>
            </a:r>
            <a:endParaRPr lang="en-US" sz="6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9239400" y="2419200"/>
            <a:ext cx="1238040" cy="361440"/>
          </a:xfrm>
          <a:prstGeom prst="rect">
            <a:avLst/>
          </a:prstGeom>
          <a:solidFill>
            <a:srgbClr val="ffffff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"/>
          <p:cNvSpPr/>
          <p:nvPr/>
        </p:nvSpPr>
        <p:spPr>
          <a:xfrm>
            <a:off x="9315360" y="2505240"/>
            <a:ext cx="108540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9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27.41%</a:t>
            </a:r>
            <a:endParaRPr lang="en-US" sz="6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>
            <a:off x="666720" y="2781360"/>
            <a:ext cx="2095200" cy="361440"/>
          </a:xfrm>
          <a:prstGeom prst="rect">
            <a:avLst/>
          </a:prstGeom>
          <a:solidFill>
            <a:srgbClr val="f2f4f7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"/>
          <p:cNvSpPr/>
          <p:nvPr/>
        </p:nvSpPr>
        <p:spPr>
          <a:xfrm>
            <a:off x="743040" y="2867040"/>
            <a:ext cx="194292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9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NBEATSx calibrated</a:t>
            </a:r>
            <a:endParaRPr lang="en-US" sz="6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2762280" y="2781360"/>
            <a:ext cx="2095200" cy="361440"/>
          </a:xfrm>
          <a:prstGeom prst="rect">
            <a:avLst/>
          </a:prstGeom>
          <a:solidFill>
            <a:srgbClr val="f2f4f7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>
            <a:off x="2838600" y="2867040"/>
            <a:ext cx="194292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9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310.58 / 198.39</a:t>
            </a:r>
            <a:endParaRPr lang="en-US" sz="6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"/>
          <p:cNvSpPr/>
          <p:nvPr/>
        </p:nvSpPr>
        <p:spPr>
          <a:xfrm>
            <a:off x="4857840" y="2781360"/>
            <a:ext cx="2190240" cy="361440"/>
          </a:xfrm>
          <a:prstGeom prst="rect">
            <a:avLst/>
          </a:prstGeom>
          <a:solidFill>
            <a:srgbClr val="f2f4f7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4933800" y="2867040"/>
            <a:ext cx="203796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9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622.25 / 290.22</a:t>
            </a:r>
            <a:endParaRPr lang="en-US" sz="6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7048440" y="2781360"/>
            <a:ext cx="2190240" cy="361440"/>
          </a:xfrm>
          <a:prstGeom prst="rect">
            <a:avLst/>
          </a:prstGeom>
          <a:solidFill>
            <a:srgbClr val="f2f4f7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7124760" y="2867040"/>
            <a:ext cx="203796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9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206.37 / 96.02</a:t>
            </a:r>
            <a:endParaRPr lang="en-US" sz="6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9239400" y="2781360"/>
            <a:ext cx="1238040" cy="361440"/>
          </a:xfrm>
          <a:prstGeom prst="rect">
            <a:avLst/>
          </a:prstGeom>
          <a:solidFill>
            <a:srgbClr val="f2f4f7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9315360" y="2867040"/>
            <a:ext cx="108540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9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33.55%</a:t>
            </a:r>
            <a:endParaRPr lang="en-US" sz="6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1028880" y="3753000"/>
            <a:ext cx="2285640" cy="8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1257480" y="3924360"/>
            <a:ext cx="856800" cy="3427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50" b="1" u="none" strike="noStrike">
                <a:solidFill>
                  <a:srgbClr val="128247"/>
                </a:solidFill>
                <a:effectLst/>
                <a:uFillTx/>
                <a:latin typeface="Aptos"/>
                <a:ea typeface="Aptos"/>
              </a:rPr>
              <a:t>4/4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1257480" y="4305240"/>
            <a:ext cx="16189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2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rolling strict-control passes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3695760" y="3753000"/>
            <a:ext cx="2666520" cy="8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3924360" y="3962520"/>
            <a:ext cx="209520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30" b="1" u="none" strike="noStrike">
                <a:solidFill>
                  <a:srgbClr val="081a3a"/>
                </a:solidFill>
                <a:effectLst/>
                <a:uFillTx/>
                <a:latin typeface="Aptos"/>
                <a:ea typeface="Aptos"/>
              </a:rPr>
              <a:t>production_promote=true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3924360" y="4305240"/>
            <a:ext cx="209520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9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internal field; thesis language = Offline Strategy Promotion</a:t>
            </a:r>
            <a:endParaRPr lang="en-US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6743880" y="3753000"/>
            <a:ext cx="2666520" cy="8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6972480" y="3962520"/>
            <a:ext cx="209520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30" b="1" u="none" strike="noStrike">
                <a:solidFill>
                  <a:srgbClr val="d64545"/>
                </a:solidFill>
                <a:effectLst/>
                <a:uFillTx/>
                <a:latin typeface="Aptos"/>
                <a:ea typeface="Aptos"/>
              </a:rPr>
              <a:t>market_execution=false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6972480" y="4305240"/>
            <a:ext cx="209520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9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not live bidding; no dashboard default switch</a:t>
            </a:r>
            <a:endParaRPr lang="en-US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533520" y="6362640"/>
            <a:ext cx="11124720" cy="9000"/>
          </a:xfrm>
          <a:prstGeom prst="rect">
            <a:avLst/>
          </a:prstGeom>
          <a:solidFill>
            <a:srgbClr val="e4e7ec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533520" y="6477120"/>
            <a:ext cx="85723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1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365-anchor result generalizes the earlier 104-anchor signal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11220480" y="6438960"/>
            <a:ext cx="41868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08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"/>
          <p:cNvPicPr/>
          <p:nvPr/>
        </p:nvPicPr>
        <p:blipFill>
          <a:blip r:embed="rId1"/>
          <a:srcRect l="0" t="24" r="0" b="24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"/>
          <p:cNvPicPr/>
          <p:nvPr/>
        </p:nvPicPr>
        <p:blipFill>
          <a:blip r:embed="rId1"/>
          <a:srcRect l="0" t="24" r="0" b="24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0" y="0"/>
            <a:ext cx="12191760" cy="66240"/>
          </a:xfrm>
          <a:prstGeom prst="rect">
            <a:avLst/>
          </a:prstGeom>
          <a:solidFill>
            <a:srgbClr val="0b5ca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1600" bIns="21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0" y="66600"/>
            <a:ext cx="12191760" cy="47160"/>
          </a:xfrm>
          <a:prstGeom prst="rect">
            <a:avLst/>
          </a:prstGeom>
          <a:solidFill>
            <a:srgbClr val="ffe45c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520" bIns="25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533520" y="399960"/>
            <a:ext cx="74293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trike="noStrike">
                <a:solidFill>
                  <a:srgbClr val="0b5cad"/>
                </a:solidFill>
                <a:effectLst/>
                <a:uFillTx/>
                <a:latin typeface="Aptos"/>
                <a:ea typeface="Aptos"/>
              </a:rPr>
              <a:t>MARKET-COUPLING ROUTE EXISTS, BUT REMAINS CLOSED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533520" y="666720"/>
            <a:ext cx="8096040" cy="7426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1" u="none" strike="noStrike">
                <a:solidFill>
                  <a:srgbClr val="081a3a"/>
                </a:solidFill>
                <a:effectLst/>
                <a:uFillTx/>
                <a:latin typeface="Aptos Display"/>
                <a:ea typeface="Aptos Display"/>
              </a:rPr>
              <a:t>European/neighbor signals are prepared as governed feature candidates, not training data.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609480" y="2457360"/>
            <a:ext cx="1809360" cy="1066320"/>
          </a:xfrm>
          <a:prstGeom prst="rect">
            <a:avLst/>
          </a:prstGeom>
          <a:solidFill>
            <a:srgbClr val="ffffff"/>
          </a:solidFill>
          <a:ln w="13335">
            <a:solidFill>
              <a:srgbClr val="0b5c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609480" y="2457360"/>
            <a:ext cx="56880" cy="1066320"/>
          </a:xfrm>
          <a:prstGeom prst="rect">
            <a:avLst/>
          </a:prstGeom>
          <a:solidFill>
            <a:srgbClr val="0b5ca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762120" y="2571840"/>
            <a:ext cx="15235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10" b="1" u="none" strike="noStrike">
                <a:solidFill>
                  <a:srgbClr val="081a3a"/>
                </a:solidFill>
                <a:effectLst/>
                <a:uFillTx/>
                <a:latin typeface="Aptos"/>
                <a:ea typeface="Aptos"/>
              </a:rPr>
              <a:t>Source-backed sample</a:t>
            </a:r>
            <a:endParaRPr lang="en-US" sz="10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762120" y="2838600"/>
            <a:ext cx="152352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7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ENTSO-E / OPSD / Ember / Nord Pool / PriceFM / THieF</a:t>
            </a:r>
            <a:endParaRPr lang="en-US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>
            <a:off x="2419200" y="2990880"/>
            <a:ext cx="228240" cy="28080"/>
          </a:xfrm>
          <a:prstGeom prst="rect">
            <a:avLst/>
          </a:prstGeom>
          <a:solidFill>
            <a:srgbClr val="98a2b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2610000" y="2924280"/>
            <a:ext cx="151920" cy="151920"/>
          </a:xfrm>
          <a:prstGeom prst="triangle">
            <a:avLst>
              <a:gd name="adj" fmla="val 50000"/>
            </a:avLst>
          </a:prstGeom>
          <a:solidFill>
            <a:srgbClr val="98a2b3"/>
          </a:solidFill>
          <a:ln w="0">
            <a:solidFill>
              <a:srgbClr val="98a2b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>
            <a:off x="2800440" y="2457360"/>
            <a:ext cx="1809360" cy="1066320"/>
          </a:xfrm>
          <a:prstGeom prst="rect">
            <a:avLst/>
          </a:prstGeom>
          <a:solidFill>
            <a:srgbClr val="ffffff"/>
          </a:solidFill>
          <a:ln w="13335">
            <a:solidFill>
              <a:srgbClr val="1ba6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"/>
          <p:cNvSpPr/>
          <p:nvPr/>
        </p:nvSpPr>
        <p:spPr>
          <a:xfrm>
            <a:off x="2800440" y="2457360"/>
            <a:ext cx="56880" cy="1066320"/>
          </a:xfrm>
          <a:prstGeom prst="rect">
            <a:avLst/>
          </a:prstGeom>
          <a:solidFill>
            <a:srgbClr val="1ba6c9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"/>
          <p:cNvSpPr/>
          <p:nvPr/>
        </p:nvSpPr>
        <p:spPr>
          <a:xfrm>
            <a:off x="2952720" y="2571840"/>
            <a:ext cx="15235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10" b="1" u="none" strike="noStrike">
                <a:solidFill>
                  <a:srgbClr val="081a3a"/>
                </a:solidFill>
                <a:effectLst/>
                <a:uFillTx/>
                <a:latin typeface="Aptos"/>
                <a:ea typeface="Aptos"/>
              </a:rPr>
              <a:t>Temporal availability</a:t>
            </a:r>
            <a:endParaRPr lang="en-US" sz="10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"/>
          <p:cNvSpPr/>
          <p:nvPr/>
        </p:nvSpPr>
        <p:spPr>
          <a:xfrm>
            <a:off x="2952720" y="2838600"/>
            <a:ext cx="152352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7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published before Ukrainian DAM anchor</a:t>
            </a:r>
            <a:endParaRPr lang="en-US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"/>
          <p:cNvSpPr/>
          <p:nvPr/>
        </p:nvSpPr>
        <p:spPr>
          <a:xfrm>
            <a:off x="4610160" y="2990880"/>
            <a:ext cx="228240" cy="28080"/>
          </a:xfrm>
          <a:prstGeom prst="rect">
            <a:avLst/>
          </a:prstGeom>
          <a:solidFill>
            <a:srgbClr val="98a2b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4800600" y="2924280"/>
            <a:ext cx="151920" cy="151920"/>
          </a:xfrm>
          <a:prstGeom prst="triangle">
            <a:avLst>
              <a:gd name="adj" fmla="val 50000"/>
            </a:avLst>
          </a:prstGeom>
          <a:solidFill>
            <a:srgbClr val="98a2b3"/>
          </a:solidFill>
          <a:ln w="0">
            <a:solidFill>
              <a:srgbClr val="98a2b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"/>
          <p:cNvSpPr/>
          <p:nvPr/>
        </p:nvSpPr>
        <p:spPr>
          <a:xfrm>
            <a:off x="4991040" y="2457360"/>
            <a:ext cx="1809360" cy="1066320"/>
          </a:xfrm>
          <a:prstGeom prst="rect">
            <a:avLst/>
          </a:prstGeom>
          <a:solidFill>
            <a:srgbClr val="ffffff"/>
          </a:solidFill>
          <a:ln w="13335">
            <a:solidFill>
              <a:srgbClr val="f5a5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"/>
          <p:cNvSpPr/>
          <p:nvPr/>
        </p:nvSpPr>
        <p:spPr>
          <a:xfrm>
            <a:off x="4991040" y="2457360"/>
            <a:ext cx="56880" cy="1066320"/>
          </a:xfrm>
          <a:prstGeom prst="rect">
            <a:avLst/>
          </a:prstGeom>
          <a:solidFill>
            <a:srgbClr val="f5a524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"/>
          <p:cNvSpPr/>
          <p:nvPr/>
        </p:nvSpPr>
        <p:spPr>
          <a:xfrm>
            <a:off x="5143680" y="2571840"/>
            <a:ext cx="15235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10" b="1" u="none" strike="noStrike">
                <a:solidFill>
                  <a:srgbClr val="081a3a"/>
                </a:solidFill>
                <a:effectLst/>
                <a:uFillTx/>
                <a:latin typeface="Aptos"/>
                <a:ea typeface="Aptos"/>
              </a:rPr>
              <a:t>Normalization</a:t>
            </a:r>
            <a:endParaRPr lang="en-US" sz="10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"/>
          <p:cNvSpPr/>
          <p:nvPr/>
        </p:nvSpPr>
        <p:spPr>
          <a:xfrm>
            <a:off x="5143680" y="2838600"/>
            <a:ext cx="152352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7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timezone/DST + prior EUR/UAH FX + market-rule mapping</a:t>
            </a:r>
            <a:endParaRPr lang="en-US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6800760" y="2990880"/>
            <a:ext cx="228240" cy="28080"/>
          </a:xfrm>
          <a:prstGeom prst="rect">
            <a:avLst/>
          </a:prstGeom>
          <a:solidFill>
            <a:srgbClr val="98a2b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>
            <a:off x="6991200" y="2924280"/>
            <a:ext cx="151920" cy="151920"/>
          </a:xfrm>
          <a:prstGeom prst="triangle">
            <a:avLst>
              <a:gd name="adj" fmla="val 50000"/>
            </a:avLst>
          </a:prstGeom>
          <a:solidFill>
            <a:srgbClr val="98a2b3"/>
          </a:solidFill>
          <a:ln w="0">
            <a:solidFill>
              <a:srgbClr val="98a2b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>
            <a:off x="7182000" y="2457360"/>
            <a:ext cx="1809360" cy="1066320"/>
          </a:xfrm>
          <a:prstGeom prst="rect">
            <a:avLst/>
          </a:prstGeom>
          <a:solidFill>
            <a:srgbClr val="ffffff"/>
          </a:solidFill>
          <a:ln w="13335">
            <a:solidFill>
              <a:srgbClr val="1282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"/>
          <p:cNvSpPr/>
          <p:nvPr/>
        </p:nvSpPr>
        <p:spPr>
          <a:xfrm>
            <a:off x="7182000" y="2457360"/>
            <a:ext cx="56880" cy="1066320"/>
          </a:xfrm>
          <a:prstGeom prst="rect">
            <a:avLst/>
          </a:prstGeom>
          <a:solidFill>
            <a:srgbClr val="128247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"/>
          <p:cNvSpPr/>
          <p:nvPr/>
        </p:nvSpPr>
        <p:spPr>
          <a:xfrm>
            <a:off x="7334280" y="2571840"/>
            <a:ext cx="15235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10" b="1" u="none" strike="noStrike">
                <a:solidFill>
                  <a:srgbClr val="081a3a"/>
                </a:solidFill>
                <a:effectLst/>
                <a:uFillTx/>
                <a:latin typeface="Aptos"/>
                <a:ea typeface="Aptos"/>
              </a:rPr>
              <a:t>Domain validation</a:t>
            </a:r>
            <a:endParaRPr lang="en-US" sz="10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"/>
          <p:cNvSpPr/>
          <p:nvPr/>
        </p:nvSpPr>
        <p:spPr>
          <a:xfrm>
            <a:off x="7334280" y="2838600"/>
            <a:ext cx="152352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7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licensing + Ukrainian holdout evidence</a:t>
            </a:r>
            <a:endParaRPr lang="en-US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"/>
          <p:cNvSpPr/>
          <p:nvPr/>
        </p:nvSpPr>
        <p:spPr>
          <a:xfrm>
            <a:off x="8991720" y="2990880"/>
            <a:ext cx="228240" cy="28080"/>
          </a:xfrm>
          <a:prstGeom prst="rect">
            <a:avLst/>
          </a:prstGeom>
          <a:solidFill>
            <a:srgbClr val="98a2b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>
            <a:off x="9182160" y="2924280"/>
            <a:ext cx="151920" cy="151920"/>
          </a:xfrm>
          <a:prstGeom prst="triangle">
            <a:avLst>
              <a:gd name="adj" fmla="val 50000"/>
            </a:avLst>
          </a:prstGeom>
          <a:solidFill>
            <a:srgbClr val="98a2b3"/>
          </a:solidFill>
          <a:ln w="0">
            <a:solidFill>
              <a:srgbClr val="98a2b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"/>
          <p:cNvSpPr/>
          <p:nvPr/>
        </p:nvSpPr>
        <p:spPr>
          <a:xfrm>
            <a:off x="9372600" y="2457360"/>
            <a:ext cx="1809360" cy="1066320"/>
          </a:xfrm>
          <a:prstGeom prst="rect">
            <a:avLst/>
          </a:prstGeom>
          <a:solidFill>
            <a:srgbClr val="ffffff"/>
          </a:solidFill>
          <a:ln w="13335">
            <a:solidFill>
              <a:srgbClr val="081a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>
            <a:off x="9372600" y="2457360"/>
            <a:ext cx="56880" cy="1066320"/>
          </a:xfrm>
          <a:prstGeom prst="rect">
            <a:avLst/>
          </a:prstGeom>
          <a:solidFill>
            <a:srgbClr val="081a3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"/>
          <p:cNvSpPr/>
          <p:nvPr/>
        </p:nvSpPr>
        <p:spPr>
          <a:xfrm>
            <a:off x="9524880" y="2571840"/>
            <a:ext cx="15235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10" b="1" u="none" strike="noStrike">
                <a:solidFill>
                  <a:srgbClr val="081a3a"/>
                </a:solidFill>
                <a:effectLst/>
                <a:uFillTx/>
                <a:latin typeface="Aptos"/>
                <a:ea typeface="Aptos"/>
              </a:rPr>
              <a:t>Training route</a:t>
            </a:r>
            <a:endParaRPr lang="en-US" sz="10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"/>
          <p:cNvSpPr/>
          <p:nvPr/>
        </p:nvSpPr>
        <p:spPr>
          <a:xfrm>
            <a:off x="9524880" y="2838600"/>
            <a:ext cx="152352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7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approved_for_training only after all gates</a:t>
            </a:r>
            <a:endParaRPr lang="en-US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"/>
          <p:cNvSpPr/>
          <p:nvPr/>
        </p:nvSpPr>
        <p:spPr>
          <a:xfrm>
            <a:off x="1047600" y="4362480"/>
            <a:ext cx="9334080" cy="723600"/>
          </a:xfrm>
          <a:prstGeom prst="rect">
            <a:avLst/>
          </a:prstGeom>
          <a:solidFill>
            <a:srgbClr val="fff8e6"/>
          </a:solidFill>
          <a:ln w="9525">
            <a:solidFill>
              <a:srgbClr val="fec8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"/>
          <p:cNvSpPr/>
          <p:nvPr/>
        </p:nvSpPr>
        <p:spPr>
          <a:xfrm>
            <a:off x="1333440" y="4591080"/>
            <a:ext cx="838152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89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Current status: 6 external feature candidates, 0 approved external columns. official_global_panel_training_frame records external_feature_training_status=blocked_by_governance.</a:t>
            </a:r>
            <a:endParaRPr lang="en-US" sz="9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"/>
          <p:cNvSpPr/>
          <p:nvPr/>
        </p:nvSpPr>
        <p:spPr>
          <a:xfrm>
            <a:off x="533520" y="6362640"/>
            <a:ext cx="11124720" cy="9000"/>
          </a:xfrm>
          <a:prstGeom prst="rect">
            <a:avLst/>
          </a:prstGeom>
          <a:solidFill>
            <a:srgbClr val="e4e7ec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"/>
          <p:cNvSpPr/>
          <p:nvPr/>
        </p:nvSpPr>
        <p:spPr>
          <a:xfrm>
            <a:off x="533520" y="6477120"/>
            <a:ext cx="85723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1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Boundary: market-coupling features may help later, but did not produce the current promotion result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"/>
          <p:cNvSpPr/>
          <p:nvPr/>
        </p:nvSpPr>
        <p:spPr>
          <a:xfrm>
            <a:off x="11220480" y="6438960"/>
            <a:ext cx="41868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11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"/>
          <p:cNvSpPr/>
          <p:nvPr/>
        </p:nvSpPr>
        <p:spPr>
          <a:xfrm>
            <a:off x="0" y="0"/>
            <a:ext cx="12191760" cy="66240"/>
          </a:xfrm>
          <a:prstGeom prst="rect">
            <a:avLst/>
          </a:prstGeom>
          <a:solidFill>
            <a:srgbClr val="0b5ca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1600" bIns="21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"/>
          <p:cNvSpPr/>
          <p:nvPr/>
        </p:nvSpPr>
        <p:spPr>
          <a:xfrm>
            <a:off x="0" y="66600"/>
            <a:ext cx="12191760" cy="47160"/>
          </a:xfrm>
          <a:prstGeom prst="rect">
            <a:avLst/>
          </a:prstGeom>
          <a:solidFill>
            <a:srgbClr val="ffe45c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520" bIns="25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"/>
          <p:cNvSpPr/>
          <p:nvPr/>
        </p:nvSpPr>
        <p:spPr>
          <a:xfrm>
            <a:off x="533520" y="399960"/>
            <a:ext cx="74293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trike="noStrike">
                <a:solidFill>
                  <a:srgbClr val="0b5cad"/>
                </a:solidFill>
                <a:effectLst/>
                <a:uFillTx/>
                <a:latin typeface="Aptos"/>
                <a:ea typeface="Aptos"/>
              </a:rPr>
              <a:t>WHAT THIS MEANS FOR THE DIPLOMA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"/>
          <p:cNvSpPr/>
          <p:nvPr/>
        </p:nvSpPr>
        <p:spPr>
          <a:xfrm>
            <a:off x="533520" y="666720"/>
            <a:ext cx="8096040" cy="7426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1" u="none" strike="noStrike">
                <a:solidFill>
                  <a:srgbClr val="081a3a"/>
                </a:solidFill>
                <a:effectLst/>
                <a:uFillTx/>
                <a:latin typeface="Aptos Display"/>
                <a:ea typeface="Aptos Display"/>
              </a:rPr>
              <a:t>The architecture now has a defensible path from MVP to DFL-style offline evidence.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3" name=""/>
          <p:cNvPicPr/>
          <p:nvPr/>
        </p:nvPicPr>
        <p:blipFill>
          <a:blip r:embed="rId1"/>
          <a:stretch/>
        </p:blipFill>
        <p:spPr>
          <a:xfrm>
            <a:off x="228600" y="1886040"/>
            <a:ext cx="5885280" cy="331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4" name=""/>
          <p:cNvSpPr/>
          <p:nvPr/>
        </p:nvSpPr>
        <p:spPr>
          <a:xfrm>
            <a:off x="6203880" y="2013120"/>
            <a:ext cx="4476240" cy="685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>
            <a:off x="6343560" y="2095560"/>
            <a:ext cx="27619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128247"/>
                </a:solidFill>
                <a:effectLst/>
                <a:uFillTx/>
                <a:latin typeface="Aptos"/>
                <a:ea typeface="Aptos"/>
              </a:rPr>
              <a:t>Thesis claim strengthened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"/>
          <p:cNvSpPr/>
          <p:nvPr/>
        </p:nvSpPr>
        <p:spPr>
          <a:xfrm>
            <a:off x="6343560" y="2362320"/>
            <a:ext cx="36190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Robust offline schedule/value challenger passed on 365 Ukrainian anchors.</a:t>
            </a:r>
            <a:endParaRPr lang="en-US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"/>
          <p:cNvSpPr/>
          <p:nvPr/>
        </p:nvSpPr>
        <p:spPr>
          <a:xfrm>
            <a:off x="6203880" y="2908440"/>
            <a:ext cx="4476240" cy="685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>
            <a:off x="6343560" y="2990880"/>
            <a:ext cx="27619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081a3a"/>
                </a:solidFill>
                <a:effectLst/>
                <a:uFillTx/>
                <a:latin typeface="Aptos"/>
                <a:ea typeface="Aptos"/>
              </a:rPr>
              <a:t>Still scientifically honest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"/>
          <p:cNvSpPr/>
          <p:nvPr/>
        </p:nvSpPr>
        <p:spPr>
          <a:xfrm>
            <a:off x="6343560" y="3257640"/>
            <a:ext cx="36190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Raw forecasts lose; schedule/value selection creates the decision-value gain.</a:t>
            </a:r>
            <a:endParaRPr lang="en-US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"/>
          <p:cNvSpPr/>
          <p:nvPr/>
        </p:nvSpPr>
        <p:spPr>
          <a:xfrm>
            <a:off x="6203880" y="3803760"/>
            <a:ext cx="4476240" cy="685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"/>
          <p:cNvSpPr/>
          <p:nvPr/>
        </p:nvSpPr>
        <p:spPr>
          <a:xfrm>
            <a:off x="6343560" y="3886200"/>
            <a:ext cx="27619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5a524"/>
                </a:solidFill>
                <a:effectLst/>
                <a:uFillTx/>
                <a:latin typeface="Aptos"/>
                <a:ea typeface="Aptos"/>
              </a:rPr>
              <a:t>Next work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"/>
          <p:cNvSpPr/>
          <p:nvPr/>
        </p:nvSpPr>
        <p:spPr>
          <a:xfrm>
            <a:off x="6343560" y="4152960"/>
            <a:ext cx="36190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GPU/host-CUDA + HF Jobs, UA backfill, governed market-coupling, then later DT.</a:t>
            </a:r>
            <a:endParaRPr lang="en-US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>
            <a:off x="6203880" y="4870440"/>
            <a:ext cx="4476240" cy="552240"/>
          </a:xfrm>
          <a:prstGeom prst="rect">
            <a:avLst/>
          </a:prstGeom>
          <a:solidFill>
            <a:srgbClr val="eaf2ff"/>
          </a:solidFill>
          <a:ln w="9525">
            <a:solidFill>
              <a:srgbClr val="b2c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>
            <a:off x="6343560" y="4933800"/>
            <a:ext cx="371448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30" b="1" u="none" strike="noStrike">
                <a:solidFill>
                  <a:srgbClr val="081a3a"/>
                </a:solidFill>
                <a:effectLst/>
                <a:uFillTx/>
                <a:latin typeface="Aptos"/>
                <a:ea typeface="Aptos"/>
              </a:rPr>
              <a:t>Bottom line: strict_similar_day remains fallback; DFL-style schedule/value layer is now credible offline strategy evidence.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>
            <a:off x="533520" y="6362640"/>
            <a:ext cx="11124720" cy="9000"/>
          </a:xfrm>
          <a:prstGeom prst="rect">
            <a:avLst/>
          </a:prstGeom>
          <a:solidFill>
            <a:srgbClr val="e4e7ec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"/>
          <p:cNvSpPr/>
          <p:nvPr/>
        </p:nvSpPr>
        <p:spPr>
          <a:xfrm>
            <a:off x="533520" y="6477120"/>
            <a:ext cx="85723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1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No live execution claim; Pydantic Gatekeeper remains mandatory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"/>
          <p:cNvSpPr/>
          <p:nvPr/>
        </p:nvSpPr>
        <p:spPr>
          <a:xfrm>
            <a:off x="11220480" y="6438960"/>
            <a:ext cx="41868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12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"/>
          <p:cNvSpPr/>
          <p:nvPr/>
        </p:nvSpPr>
        <p:spPr>
          <a:xfrm>
            <a:off x="0" y="0"/>
            <a:ext cx="12191760" cy="66240"/>
          </a:xfrm>
          <a:prstGeom prst="rect">
            <a:avLst/>
          </a:prstGeom>
          <a:solidFill>
            <a:srgbClr val="0b5ca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1600" bIns="21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"/>
          <p:cNvSpPr/>
          <p:nvPr/>
        </p:nvSpPr>
        <p:spPr>
          <a:xfrm>
            <a:off x="0" y="66600"/>
            <a:ext cx="12191760" cy="47160"/>
          </a:xfrm>
          <a:prstGeom prst="rect">
            <a:avLst/>
          </a:prstGeom>
          <a:solidFill>
            <a:srgbClr val="ffe45c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520" bIns="25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"/>
          <p:cNvSpPr/>
          <p:nvPr/>
        </p:nvSpPr>
        <p:spPr>
          <a:xfrm>
            <a:off x="533520" y="399960"/>
            <a:ext cx="74293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trike="noStrike">
                <a:solidFill>
                  <a:srgbClr val="0b5cad"/>
                </a:solidFill>
                <a:effectLst/>
                <a:uFillTx/>
                <a:latin typeface="Aptos"/>
                <a:ea typeface="Aptos"/>
              </a:rPr>
              <a:t>EXTERNAL FEATURE BOUNDARY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"/>
          <p:cNvSpPr/>
          <p:nvPr/>
        </p:nvSpPr>
        <p:spPr>
          <a:xfrm>
            <a:off x="533520" y="666720"/>
            <a:ext cx="8096040" cy="7426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1" u="none" strike="noStrike">
                <a:solidFill>
                  <a:srgbClr val="081a3a"/>
                </a:solidFill>
                <a:effectLst/>
                <a:uFillTx/>
                <a:latin typeface="Aptos Display"/>
                <a:ea typeface="Aptos Display"/>
              </a:rPr>
              <a:t>ENTSO-E, OPSD, Ember, Nord Pool, PriceFM and THieF are represented in governance, not in training results.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3" name=""/>
          <p:cNvPicPr/>
          <p:nvPr/>
        </p:nvPicPr>
        <p:blipFill>
          <a:blip r:embed="rId1"/>
          <a:srcRect l="3101" t="0" r="3101" b="0"/>
          <a:stretch/>
        </p:blipFill>
        <p:spPr>
          <a:xfrm>
            <a:off x="6477120" y="1809720"/>
            <a:ext cx="4762080" cy="285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4" name=""/>
          <p:cNvSpPr/>
          <p:nvPr/>
        </p:nvSpPr>
        <p:spPr>
          <a:xfrm>
            <a:off x="666720" y="1905120"/>
            <a:ext cx="5143320" cy="247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"/>
          <p:cNvSpPr/>
          <p:nvPr/>
        </p:nvSpPr>
        <p:spPr>
          <a:xfrm>
            <a:off x="876240" y="2133720"/>
            <a:ext cx="1999800" cy="323640"/>
          </a:xfrm>
          <a:prstGeom prst="rect">
            <a:avLst/>
          </a:prstGeom>
          <a:solidFill>
            <a:srgbClr val="081a3a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"/>
          <p:cNvSpPr/>
          <p:nvPr/>
        </p:nvSpPr>
        <p:spPr>
          <a:xfrm>
            <a:off x="952560" y="2219400"/>
            <a:ext cx="18475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1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Evidence item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"/>
          <p:cNvSpPr/>
          <p:nvPr/>
        </p:nvSpPr>
        <p:spPr>
          <a:xfrm>
            <a:off x="2876400" y="2133720"/>
            <a:ext cx="2628720" cy="323640"/>
          </a:xfrm>
          <a:prstGeom prst="rect">
            <a:avLst/>
          </a:prstGeom>
          <a:solidFill>
            <a:srgbClr val="081a3a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"/>
          <p:cNvSpPr/>
          <p:nvPr/>
        </p:nvSpPr>
        <p:spPr>
          <a:xfrm>
            <a:off x="2952720" y="2219400"/>
            <a:ext cx="247608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1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Current state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"/>
          <p:cNvSpPr/>
          <p:nvPr/>
        </p:nvSpPr>
        <p:spPr>
          <a:xfrm>
            <a:off x="876240" y="2457360"/>
            <a:ext cx="1999800" cy="361440"/>
          </a:xfrm>
          <a:prstGeom prst="rect">
            <a:avLst/>
          </a:prstGeom>
          <a:solidFill>
            <a:srgbClr val="ffffff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952560" y="2543040"/>
            <a:ext cx="184752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9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External feature route</a:t>
            </a:r>
            <a:endParaRPr lang="en-US" sz="6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"/>
          <p:cNvSpPr/>
          <p:nvPr/>
        </p:nvSpPr>
        <p:spPr>
          <a:xfrm>
            <a:off x="2876400" y="2457360"/>
            <a:ext cx="2628720" cy="361440"/>
          </a:xfrm>
          <a:prstGeom prst="rect">
            <a:avLst/>
          </a:prstGeom>
          <a:solidFill>
            <a:srgbClr val="ffffff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2952720" y="2543040"/>
            <a:ext cx="247608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9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6 x 23 rows; all blocked</a:t>
            </a:r>
            <a:endParaRPr lang="en-US" sz="6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"/>
          <p:cNvSpPr/>
          <p:nvPr/>
        </p:nvSpPr>
        <p:spPr>
          <a:xfrm>
            <a:off x="876240" y="2819520"/>
            <a:ext cx="1999800" cy="361440"/>
          </a:xfrm>
          <a:prstGeom prst="rect">
            <a:avLst/>
          </a:prstGeom>
          <a:solidFill>
            <a:srgbClr val="f2f4f7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"/>
          <p:cNvSpPr/>
          <p:nvPr/>
        </p:nvSpPr>
        <p:spPr>
          <a:xfrm>
            <a:off x="952560" y="2905200"/>
            <a:ext cx="184752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9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Approved external columns</a:t>
            </a:r>
            <a:endParaRPr lang="en-US" sz="6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"/>
          <p:cNvSpPr/>
          <p:nvPr/>
        </p:nvSpPr>
        <p:spPr>
          <a:xfrm>
            <a:off x="2876400" y="2819520"/>
            <a:ext cx="2628720" cy="361440"/>
          </a:xfrm>
          <a:prstGeom prst="rect">
            <a:avLst/>
          </a:prstGeom>
          <a:solidFill>
            <a:srgbClr val="f2f4f7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"/>
          <p:cNvSpPr/>
          <p:nvPr/>
        </p:nvSpPr>
        <p:spPr>
          <a:xfrm>
            <a:off x="2952720" y="2905200"/>
            <a:ext cx="247608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9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0</a:t>
            </a:r>
            <a:endParaRPr lang="en-US" sz="6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"/>
          <p:cNvSpPr/>
          <p:nvPr/>
        </p:nvSpPr>
        <p:spPr>
          <a:xfrm>
            <a:off x="876240" y="3181320"/>
            <a:ext cx="1999800" cy="361440"/>
          </a:xfrm>
          <a:prstGeom prst="rect">
            <a:avLst/>
          </a:prstGeom>
          <a:solidFill>
            <a:srgbClr val="ffffff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"/>
          <p:cNvSpPr/>
          <p:nvPr/>
        </p:nvSpPr>
        <p:spPr>
          <a:xfrm>
            <a:off x="952560" y="3267000"/>
            <a:ext cx="184752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9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Training panel status</a:t>
            </a:r>
            <a:endParaRPr lang="en-US" sz="6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"/>
          <p:cNvSpPr/>
          <p:nvPr/>
        </p:nvSpPr>
        <p:spPr>
          <a:xfrm>
            <a:off x="2876400" y="3181320"/>
            <a:ext cx="2628720" cy="361440"/>
          </a:xfrm>
          <a:prstGeom prst="rect">
            <a:avLst/>
          </a:prstGeom>
          <a:solidFill>
            <a:srgbClr val="ffffff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"/>
          <p:cNvSpPr/>
          <p:nvPr/>
        </p:nvSpPr>
        <p:spPr>
          <a:xfrm>
            <a:off x="2952720" y="3267000"/>
            <a:ext cx="247608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9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blocked_by_governance</a:t>
            </a:r>
            <a:endParaRPr lang="en-US" sz="6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"/>
          <p:cNvSpPr/>
          <p:nvPr/>
        </p:nvSpPr>
        <p:spPr>
          <a:xfrm>
            <a:off x="876240" y="3543480"/>
            <a:ext cx="1999800" cy="361440"/>
          </a:xfrm>
          <a:prstGeom prst="rect">
            <a:avLst/>
          </a:prstGeom>
          <a:solidFill>
            <a:srgbClr val="f2f4f7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"/>
          <p:cNvSpPr/>
          <p:nvPr/>
        </p:nvSpPr>
        <p:spPr>
          <a:xfrm>
            <a:off x="952560" y="3629160"/>
            <a:ext cx="184752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9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Allowed columns CSV</a:t>
            </a:r>
            <a:endParaRPr lang="en-US" sz="6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"/>
          <p:cNvSpPr/>
          <p:nvPr/>
        </p:nvSpPr>
        <p:spPr>
          <a:xfrm>
            <a:off x="2876400" y="3543480"/>
            <a:ext cx="2628720" cy="361440"/>
          </a:xfrm>
          <a:prstGeom prst="rect">
            <a:avLst/>
          </a:prstGeom>
          <a:solidFill>
            <a:srgbClr val="f2f4f7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"/>
          <p:cNvSpPr/>
          <p:nvPr/>
        </p:nvSpPr>
        <p:spPr>
          <a:xfrm>
            <a:off x="2952720" y="3629160"/>
            <a:ext cx="247608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9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empty string</a:t>
            </a:r>
            <a:endParaRPr lang="en-US" sz="6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"/>
          <p:cNvSpPr/>
          <p:nvPr/>
        </p:nvSpPr>
        <p:spPr>
          <a:xfrm>
            <a:off x="876240" y="3905280"/>
            <a:ext cx="1999800" cy="361440"/>
          </a:xfrm>
          <a:prstGeom prst="rect">
            <a:avLst/>
          </a:prstGeom>
          <a:solidFill>
            <a:srgbClr val="ffffff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"/>
          <p:cNvSpPr/>
          <p:nvPr/>
        </p:nvSpPr>
        <p:spPr>
          <a:xfrm>
            <a:off x="952560" y="3990960"/>
            <a:ext cx="184752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9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365-anchor result</a:t>
            </a:r>
            <a:endParaRPr lang="en-US" sz="6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"/>
          <p:cNvSpPr/>
          <p:nvPr/>
        </p:nvSpPr>
        <p:spPr>
          <a:xfrm>
            <a:off x="2876400" y="3905280"/>
            <a:ext cx="2628720" cy="361440"/>
          </a:xfrm>
          <a:prstGeom prst="rect">
            <a:avLst/>
          </a:prstGeom>
          <a:solidFill>
            <a:srgbClr val="ffffff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"/>
          <p:cNvSpPr/>
          <p:nvPr/>
        </p:nvSpPr>
        <p:spPr>
          <a:xfrm>
            <a:off x="2952720" y="3990960"/>
            <a:ext cx="247608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9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Ukrainian OREE + Open-Meteo/load only</a:t>
            </a:r>
            <a:endParaRPr lang="en-US" sz="6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"/>
          <p:cNvSpPr/>
          <p:nvPr/>
        </p:nvSpPr>
        <p:spPr>
          <a:xfrm>
            <a:off x="876240" y="4724280"/>
            <a:ext cx="9524520" cy="609120"/>
          </a:xfrm>
          <a:prstGeom prst="rect">
            <a:avLst/>
          </a:prstGeom>
          <a:solidFill>
            <a:srgbClr val="eef4ff"/>
          </a:solidFill>
          <a:ln w="9525">
            <a:solidFill>
              <a:srgbClr val="b2c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"/>
          <p:cNvSpPr/>
          <p:nvPr/>
        </p:nvSpPr>
        <p:spPr>
          <a:xfrm>
            <a:off x="1162080" y="4896000"/>
            <a:ext cx="876276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10" b="1" u="none" strike="noStrike">
                <a:solidFill>
                  <a:srgbClr val="081a3a"/>
                </a:solidFill>
                <a:effectLst/>
                <a:uFillTx/>
                <a:latin typeface="Aptos"/>
                <a:ea typeface="Aptos"/>
              </a:rPr>
              <a:t>Simple answer: ні, ці джерела ще не потрапили в training або в promoted result. Вони є у source map і governance route, щоб майбутнє підключення не створило leakage.</a:t>
            </a:r>
            <a:endParaRPr lang="en-US" sz="10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"/>
          <p:cNvSpPr/>
          <p:nvPr/>
        </p:nvSpPr>
        <p:spPr>
          <a:xfrm>
            <a:off x="533520" y="6362640"/>
            <a:ext cx="11124720" cy="9000"/>
          </a:xfrm>
          <a:prstGeom prst="rect">
            <a:avLst/>
          </a:prstGeom>
          <a:solidFill>
            <a:srgbClr val="e4e7ec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"/>
          <p:cNvSpPr/>
          <p:nvPr/>
        </p:nvSpPr>
        <p:spPr>
          <a:xfrm>
            <a:off x="533520" y="6477120"/>
            <a:ext cx="85723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1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Source: MARKET_COUPLING_EXOGENOUS_FEATURE_INTERFACE.md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"/>
          <p:cNvSpPr/>
          <p:nvPr/>
        </p:nvSpPr>
        <p:spPr>
          <a:xfrm>
            <a:off x="11220480" y="6438960"/>
            <a:ext cx="41868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13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"/>
          <p:cNvSpPr/>
          <p:nvPr/>
        </p:nvSpPr>
        <p:spPr>
          <a:xfrm>
            <a:off x="0" y="0"/>
            <a:ext cx="12191760" cy="66240"/>
          </a:xfrm>
          <a:prstGeom prst="rect">
            <a:avLst/>
          </a:prstGeom>
          <a:solidFill>
            <a:srgbClr val="0b5ca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1600" bIns="21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"/>
          <p:cNvSpPr/>
          <p:nvPr/>
        </p:nvSpPr>
        <p:spPr>
          <a:xfrm>
            <a:off x="0" y="66600"/>
            <a:ext cx="12191760" cy="47160"/>
          </a:xfrm>
          <a:prstGeom prst="rect">
            <a:avLst/>
          </a:prstGeom>
          <a:solidFill>
            <a:srgbClr val="ffe45c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520" bIns="25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"/>
          <p:cNvSpPr/>
          <p:nvPr/>
        </p:nvSpPr>
        <p:spPr>
          <a:xfrm>
            <a:off x="533520" y="399960"/>
            <a:ext cx="74293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trike="noStrike">
                <a:solidFill>
                  <a:srgbClr val="0b5cad"/>
                </a:solidFill>
                <a:effectLst/>
                <a:uFillTx/>
                <a:latin typeface="Aptos"/>
                <a:ea typeface="Aptos"/>
              </a:rPr>
              <a:t>HORIZON-AWARE REGRET-WEIGHTED CALIBRATION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"/>
          <p:cNvSpPr/>
          <p:nvPr/>
        </p:nvSpPr>
        <p:spPr>
          <a:xfrm>
            <a:off x="533520" y="666720"/>
            <a:ext cx="8096040" cy="7426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1" u="none" strike="noStrike">
                <a:solidFill>
                  <a:srgbClr val="081a3a"/>
                </a:solidFill>
                <a:effectLst/>
                <a:uFillTx/>
                <a:latin typeface="Aptos Display"/>
                <a:ea typeface="Aptos Display"/>
              </a:rPr>
              <a:t>Це prior-only correction: модель вчиться, на яких годинах горизонту її помилки дорожчі для LP schedule.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"/>
          <p:cNvSpPr/>
          <p:nvPr/>
        </p:nvSpPr>
        <p:spPr>
          <a:xfrm>
            <a:off x="685800" y="2114640"/>
            <a:ext cx="1809360" cy="1028520"/>
          </a:xfrm>
          <a:prstGeom prst="rect">
            <a:avLst/>
          </a:prstGeom>
          <a:solidFill>
            <a:srgbClr val="ffffff"/>
          </a:solidFill>
          <a:ln w="13335">
            <a:solidFill>
              <a:srgbClr val="0b5c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"/>
          <p:cNvSpPr/>
          <p:nvPr/>
        </p:nvSpPr>
        <p:spPr>
          <a:xfrm>
            <a:off x="685800" y="2114640"/>
            <a:ext cx="56880" cy="1028520"/>
          </a:xfrm>
          <a:prstGeom prst="rect">
            <a:avLst/>
          </a:prstGeom>
          <a:solidFill>
            <a:srgbClr val="0b5ca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"/>
          <p:cNvSpPr/>
          <p:nvPr/>
        </p:nvSpPr>
        <p:spPr>
          <a:xfrm>
            <a:off x="838080" y="2228760"/>
            <a:ext cx="15235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10" b="1" u="none" strike="noStrike">
                <a:solidFill>
                  <a:srgbClr val="081a3a"/>
                </a:solidFill>
                <a:effectLst/>
                <a:uFillTx/>
                <a:latin typeface="Aptos"/>
                <a:ea typeface="Aptos"/>
              </a:rPr>
              <a:t>Prior anchors</a:t>
            </a:r>
            <a:endParaRPr lang="en-US" sz="10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"/>
          <p:cNvSpPr/>
          <p:nvPr/>
        </p:nvSpPr>
        <p:spPr>
          <a:xfrm>
            <a:off x="838080" y="2495520"/>
            <a:ext cx="1523520" cy="571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7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only already-known forecast/actual/evaluation rows</a:t>
            </a:r>
            <a:endParaRPr lang="en-US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"/>
          <p:cNvSpPr/>
          <p:nvPr/>
        </p:nvSpPr>
        <p:spPr>
          <a:xfrm>
            <a:off x="2990880" y="2114640"/>
            <a:ext cx="1809360" cy="1028520"/>
          </a:xfrm>
          <a:prstGeom prst="rect">
            <a:avLst/>
          </a:prstGeom>
          <a:solidFill>
            <a:srgbClr val="ffffff"/>
          </a:solidFill>
          <a:ln w="13335">
            <a:solidFill>
              <a:srgbClr val="d645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"/>
          <p:cNvSpPr/>
          <p:nvPr/>
        </p:nvSpPr>
        <p:spPr>
          <a:xfrm>
            <a:off x="2990880" y="2114640"/>
            <a:ext cx="56880" cy="1028520"/>
          </a:xfrm>
          <a:prstGeom prst="rect">
            <a:avLst/>
          </a:prstGeom>
          <a:solidFill>
            <a:srgbClr val="d6454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"/>
          <p:cNvSpPr/>
          <p:nvPr/>
        </p:nvSpPr>
        <p:spPr>
          <a:xfrm>
            <a:off x="3143160" y="2228760"/>
            <a:ext cx="15235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10" b="1" u="none" strike="noStrike">
                <a:solidFill>
                  <a:srgbClr val="081a3a"/>
                </a:solidFill>
                <a:effectLst/>
                <a:uFillTx/>
                <a:latin typeface="Aptos"/>
                <a:ea typeface="Aptos"/>
              </a:rPr>
              <a:t>Regret weights</a:t>
            </a:r>
            <a:endParaRPr lang="en-US" sz="10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"/>
          <p:cNvSpPr/>
          <p:nvPr/>
        </p:nvSpPr>
        <p:spPr>
          <a:xfrm>
            <a:off x="3143160" y="2495520"/>
            <a:ext cx="1523520" cy="571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7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hours that cause high lost UAH get more influence</a:t>
            </a:r>
            <a:endParaRPr lang="en-US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"/>
          <p:cNvSpPr/>
          <p:nvPr/>
        </p:nvSpPr>
        <p:spPr>
          <a:xfrm>
            <a:off x="5295960" y="2114640"/>
            <a:ext cx="1809360" cy="1028520"/>
          </a:xfrm>
          <a:prstGeom prst="rect">
            <a:avLst/>
          </a:prstGeom>
          <a:solidFill>
            <a:srgbClr val="ffffff"/>
          </a:solidFill>
          <a:ln w="13335">
            <a:solidFill>
              <a:srgbClr val="f5a5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"/>
          <p:cNvSpPr/>
          <p:nvPr/>
        </p:nvSpPr>
        <p:spPr>
          <a:xfrm>
            <a:off x="5295960" y="2114640"/>
            <a:ext cx="56880" cy="1028520"/>
          </a:xfrm>
          <a:prstGeom prst="rect">
            <a:avLst/>
          </a:prstGeom>
          <a:solidFill>
            <a:srgbClr val="f5a524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"/>
          <p:cNvSpPr/>
          <p:nvPr/>
        </p:nvSpPr>
        <p:spPr>
          <a:xfrm>
            <a:off x="5448240" y="2228760"/>
            <a:ext cx="15235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10" b="1" u="none" strike="noStrike">
                <a:solidFill>
                  <a:srgbClr val="081a3a"/>
                </a:solidFill>
                <a:effectLst/>
                <a:uFillTx/>
                <a:latin typeface="Aptos"/>
                <a:ea typeface="Aptos"/>
              </a:rPr>
              <a:t>Horizon correction</a:t>
            </a:r>
            <a:endParaRPr lang="en-US" sz="10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"/>
          <p:cNvSpPr/>
          <p:nvPr/>
        </p:nvSpPr>
        <p:spPr>
          <a:xfrm>
            <a:off x="5448240" y="2495520"/>
            <a:ext cx="1523520" cy="571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7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per-hour bias/spread adjustment, no final-holdout actuals</a:t>
            </a:r>
            <a:endParaRPr lang="en-US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"/>
          <p:cNvSpPr/>
          <p:nvPr/>
        </p:nvSpPr>
        <p:spPr>
          <a:xfrm>
            <a:off x="7601040" y="2114640"/>
            <a:ext cx="1809360" cy="1028520"/>
          </a:xfrm>
          <a:prstGeom prst="rect">
            <a:avLst/>
          </a:prstGeom>
          <a:solidFill>
            <a:srgbClr val="ffffff"/>
          </a:solidFill>
          <a:ln w="13335">
            <a:solidFill>
              <a:srgbClr val="1282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"/>
          <p:cNvSpPr/>
          <p:nvPr/>
        </p:nvSpPr>
        <p:spPr>
          <a:xfrm>
            <a:off x="7601040" y="2114640"/>
            <a:ext cx="56880" cy="1028520"/>
          </a:xfrm>
          <a:prstGeom prst="rect">
            <a:avLst/>
          </a:prstGeom>
          <a:solidFill>
            <a:srgbClr val="128247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"/>
          <p:cNvSpPr/>
          <p:nvPr/>
        </p:nvSpPr>
        <p:spPr>
          <a:xfrm>
            <a:off x="7753320" y="2228760"/>
            <a:ext cx="15235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10" b="1" u="none" strike="noStrike">
                <a:solidFill>
                  <a:srgbClr val="081a3a"/>
                </a:solidFill>
                <a:effectLst/>
                <a:uFillTx/>
                <a:latin typeface="Aptos"/>
                <a:ea typeface="Aptos"/>
              </a:rPr>
              <a:t>Strict LP score</a:t>
            </a:r>
            <a:endParaRPr lang="en-US" sz="10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"/>
          <p:cNvSpPr/>
          <p:nvPr/>
        </p:nvSpPr>
        <p:spPr>
          <a:xfrm>
            <a:off x="7753320" y="2495520"/>
            <a:ext cx="1523520" cy="571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7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same oracle regret gate after calibration</a:t>
            </a:r>
            <a:endParaRPr lang="en-US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"/>
          <p:cNvSpPr/>
          <p:nvPr/>
        </p:nvSpPr>
        <p:spPr>
          <a:xfrm>
            <a:off x="2495520" y="2629080"/>
            <a:ext cx="342720" cy="28080"/>
          </a:xfrm>
          <a:prstGeom prst="rect">
            <a:avLst/>
          </a:prstGeom>
          <a:solidFill>
            <a:srgbClr val="0b5ca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"/>
          <p:cNvSpPr/>
          <p:nvPr/>
        </p:nvSpPr>
        <p:spPr>
          <a:xfrm>
            <a:off x="2800440" y="2562120"/>
            <a:ext cx="151920" cy="151920"/>
          </a:xfrm>
          <a:prstGeom prst="triangle">
            <a:avLst>
              <a:gd name="adj" fmla="val 50000"/>
            </a:avLst>
          </a:prstGeom>
          <a:solidFill>
            <a:srgbClr val="0b5cad"/>
          </a:solidFill>
          <a:ln w="0">
            <a:solidFill>
              <a:srgbClr val="0b5ca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"/>
          <p:cNvSpPr/>
          <p:nvPr/>
        </p:nvSpPr>
        <p:spPr>
          <a:xfrm>
            <a:off x="4800600" y="2629080"/>
            <a:ext cx="342720" cy="28080"/>
          </a:xfrm>
          <a:prstGeom prst="rect">
            <a:avLst/>
          </a:prstGeom>
          <a:solidFill>
            <a:srgbClr val="0b5ca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"/>
          <p:cNvSpPr/>
          <p:nvPr/>
        </p:nvSpPr>
        <p:spPr>
          <a:xfrm>
            <a:off x="5105520" y="2562120"/>
            <a:ext cx="151920" cy="151920"/>
          </a:xfrm>
          <a:prstGeom prst="triangle">
            <a:avLst>
              <a:gd name="adj" fmla="val 50000"/>
            </a:avLst>
          </a:prstGeom>
          <a:solidFill>
            <a:srgbClr val="0b5cad"/>
          </a:solidFill>
          <a:ln w="0">
            <a:solidFill>
              <a:srgbClr val="0b5ca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"/>
          <p:cNvSpPr/>
          <p:nvPr/>
        </p:nvSpPr>
        <p:spPr>
          <a:xfrm>
            <a:off x="7105680" y="2629080"/>
            <a:ext cx="342720" cy="28080"/>
          </a:xfrm>
          <a:prstGeom prst="rect">
            <a:avLst/>
          </a:prstGeom>
          <a:solidFill>
            <a:srgbClr val="0b5ca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"/>
          <p:cNvSpPr/>
          <p:nvPr/>
        </p:nvSpPr>
        <p:spPr>
          <a:xfrm>
            <a:off x="7410600" y="2562120"/>
            <a:ext cx="151920" cy="151920"/>
          </a:xfrm>
          <a:prstGeom prst="triangle">
            <a:avLst>
              <a:gd name="adj" fmla="val 50000"/>
            </a:avLst>
          </a:prstGeom>
          <a:solidFill>
            <a:srgbClr val="0b5cad"/>
          </a:solidFill>
          <a:ln w="0">
            <a:solidFill>
              <a:srgbClr val="0b5ca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"/>
          <p:cNvSpPr/>
          <p:nvPr/>
        </p:nvSpPr>
        <p:spPr>
          <a:xfrm>
            <a:off x="1104840" y="4019400"/>
            <a:ext cx="23810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9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raw TFT</a:t>
            </a:r>
            <a:endParaRPr lang="en-US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"/>
          <p:cNvSpPr/>
          <p:nvPr/>
        </p:nvSpPr>
        <p:spPr>
          <a:xfrm>
            <a:off x="3676680" y="4000680"/>
            <a:ext cx="4857480" cy="190080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"/>
          <p:cNvSpPr/>
          <p:nvPr/>
        </p:nvSpPr>
        <p:spPr>
          <a:xfrm>
            <a:off x="3676680" y="4000680"/>
            <a:ext cx="4589280" cy="190080"/>
          </a:xfrm>
          <a:prstGeom prst="rect">
            <a:avLst/>
          </a:prstGeom>
          <a:solidFill>
            <a:srgbClr val="98a2b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"/>
          <p:cNvSpPr/>
          <p:nvPr/>
        </p:nvSpPr>
        <p:spPr>
          <a:xfrm>
            <a:off x="8361360" y="4038480"/>
            <a:ext cx="13330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2361.96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"/>
          <p:cNvSpPr/>
          <p:nvPr/>
        </p:nvSpPr>
        <p:spPr>
          <a:xfrm>
            <a:off x="1104840" y="4334040"/>
            <a:ext cx="23810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calibrated TFT</a:t>
            </a:r>
            <a:endParaRPr lang="en-US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"/>
          <p:cNvSpPr/>
          <p:nvPr/>
        </p:nvSpPr>
        <p:spPr>
          <a:xfrm>
            <a:off x="3676680" y="4314960"/>
            <a:ext cx="4857480" cy="190080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"/>
          <p:cNvSpPr/>
          <p:nvPr/>
        </p:nvSpPr>
        <p:spPr>
          <a:xfrm>
            <a:off x="3676680" y="4314960"/>
            <a:ext cx="3355920" cy="190080"/>
          </a:xfrm>
          <a:prstGeom prst="rect">
            <a:avLst/>
          </a:prstGeom>
          <a:solidFill>
            <a:srgbClr val="1ba6c9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"/>
          <p:cNvSpPr/>
          <p:nvPr/>
        </p:nvSpPr>
        <p:spPr>
          <a:xfrm>
            <a:off x="7128360" y="4352760"/>
            <a:ext cx="13330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1727.29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"/>
          <p:cNvSpPr/>
          <p:nvPr/>
        </p:nvSpPr>
        <p:spPr>
          <a:xfrm>
            <a:off x="1104840" y="4648320"/>
            <a:ext cx="23810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9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raw NBEATSx</a:t>
            </a:r>
            <a:endParaRPr lang="en-US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"/>
          <p:cNvSpPr/>
          <p:nvPr/>
        </p:nvSpPr>
        <p:spPr>
          <a:xfrm>
            <a:off x="3676680" y="4629240"/>
            <a:ext cx="4857480" cy="190080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"/>
          <p:cNvSpPr/>
          <p:nvPr/>
        </p:nvSpPr>
        <p:spPr>
          <a:xfrm>
            <a:off x="3676680" y="4629240"/>
            <a:ext cx="4022280" cy="190080"/>
          </a:xfrm>
          <a:prstGeom prst="rect">
            <a:avLst/>
          </a:prstGeom>
          <a:solidFill>
            <a:srgbClr val="98a2b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"/>
          <p:cNvSpPr/>
          <p:nvPr/>
        </p:nvSpPr>
        <p:spPr>
          <a:xfrm>
            <a:off x="7794720" y="4667400"/>
            <a:ext cx="13330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2070.28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"/>
          <p:cNvSpPr/>
          <p:nvPr/>
        </p:nvSpPr>
        <p:spPr>
          <a:xfrm>
            <a:off x="1104840" y="4962600"/>
            <a:ext cx="23810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calibrated NBEATSx</a:t>
            </a:r>
            <a:endParaRPr lang="en-US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"/>
          <p:cNvSpPr/>
          <p:nvPr/>
        </p:nvSpPr>
        <p:spPr>
          <a:xfrm>
            <a:off x="3676680" y="4943520"/>
            <a:ext cx="4857480" cy="190080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"/>
          <p:cNvSpPr/>
          <p:nvPr/>
        </p:nvSpPr>
        <p:spPr>
          <a:xfrm>
            <a:off x="3676680" y="4943520"/>
            <a:ext cx="3505680" cy="190080"/>
          </a:xfrm>
          <a:prstGeom prst="rect">
            <a:avLst/>
          </a:prstGeom>
          <a:solidFill>
            <a:srgbClr val="0b5ca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"/>
          <p:cNvSpPr/>
          <p:nvPr/>
        </p:nvSpPr>
        <p:spPr>
          <a:xfrm>
            <a:off x="7278120" y="4981680"/>
            <a:ext cx="13330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1804.38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"/>
          <p:cNvSpPr/>
          <p:nvPr/>
        </p:nvSpPr>
        <p:spPr>
          <a:xfrm>
            <a:off x="1104840" y="5276880"/>
            <a:ext cx="23810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strict_similar_day</a:t>
            </a:r>
            <a:endParaRPr lang="en-US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"/>
          <p:cNvSpPr/>
          <p:nvPr/>
        </p:nvSpPr>
        <p:spPr>
          <a:xfrm>
            <a:off x="3676680" y="5257800"/>
            <a:ext cx="4857480" cy="190080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"/>
          <p:cNvSpPr/>
          <p:nvPr/>
        </p:nvSpPr>
        <p:spPr>
          <a:xfrm>
            <a:off x="3676680" y="5257800"/>
            <a:ext cx="2690280" cy="190080"/>
          </a:xfrm>
          <a:prstGeom prst="rect">
            <a:avLst/>
          </a:prstGeom>
          <a:solidFill>
            <a:srgbClr val="128247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"/>
          <p:cNvSpPr/>
          <p:nvPr/>
        </p:nvSpPr>
        <p:spPr>
          <a:xfrm>
            <a:off x="6462360" y="5295960"/>
            <a:ext cx="13330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1384.70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"/>
          <p:cNvSpPr/>
          <p:nvPr/>
        </p:nvSpPr>
        <p:spPr>
          <a:xfrm>
            <a:off x="8915400" y="3867480"/>
            <a:ext cx="3142800" cy="116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"/>
          <p:cNvSpPr/>
          <p:nvPr/>
        </p:nvSpPr>
        <p:spPr>
          <a:xfrm>
            <a:off x="9144000" y="4114800"/>
            <a:ext cx="21902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081a3a"/>
                </a:solidFill>
                <a:effectLst/>
                <a:uFillTx/>
                <a:latin typeface="Aptos"/>
                <a:ea typeface="Aptos"/>
              </a:rPr>
              <a:t>Plain explanation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"/>
          <p:cNvSpPr/>
          <p:nvPr/>
        </p:nvSpPr>
        <p:spPr>
          <a:xfrm>
            <a:off x="9144000" y="4343760"/>
            <a:ext cx="257148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If a forecast is wrong at a boring hour, it matters less. If it is wrong at a charge/sell peak, it can break the LP value. Calibration learns this horizon pattern from prior anchors only.</a:t>
            </a:r>
            <a:endParaRPr lang="en-US" sz="8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"/>
          <p:cNvSpPr/>
          <p:nvPr/>
        </p:nvSpPr>
        <p:spPr>
          <a:xfrm>
            <a:off x="533520" y="6362640"/>
            <a:ext cx="11124720" cy="9000"/>
          </a:xfrm>
          <a:prstGeom prst="rect">
            <a:avLst/>
          </a:prstGeom>
          <a:solidFill>
            <a:srgbClr val="e4e7ec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"/>
          <p:cNvSpPr/>
          <p:nvPr/>
        </p:nvSpPr>
        <p:spPr>
          <a:xfrm>
            <a:off x="533520" y="6477120"/>
            <a:ext cx="85723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1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Dnipro 90-anchor calibration preview: improved neural candidates, not a baseline replacement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"/>
          <p:cNvSpPr/>
          <p:nvPr/>
        </p:nvSpPr>
        <p:spPr>
          <a:xfrm>
            <a:off x="11220480" y="6438960"/>
            <a:ext cx="41868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14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"/>
          <p:cNvSpPr/>
          <p:nvPr/>
        </p:nvSpPr>
        <p:spPr>
          <a:xfrm>
            <a:off x="0" y="0"/>
            <a:ext cx="12191760" cy="66240"/>
          </a:xfrm>
          <a:prstGeom prst="rect">
            <a:avLst/>
          </a:prstGeom>
          <a:solidFill>
            <a:srgbClr val="0b5ca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1600" bIns="21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"/>
          <p:cNvSpPr/>
          <p:nvPr/>
        </p:nvSpPr>
        <p:spPr>
          <a:xfrm>
            <a:off x="0" y="66600"/>
            <a:ext cx="12191760" cy="47160"/>
          </a:xfrm>
          <a:prstGeom prst="rect">
            <a:avLst/>
          </a:prstGeom>
          <a:solidFill>
            <a:srgbClr val="ffe45c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520" bIns="25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"/>
          <p:cNvSpPr/>
          <p:nvPr/>
        </p:nvSpPr>
        <p:spPr>
          <a:xfrm>
            <a:off x="533520" y="399960"/>
            <a:ext cx="74293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trike="noStrike">
                <a:solidFill>
                  <a:srgbClr val="0b5cad"/>
                </a:solidFill>
                <a:effectLst/>
                <a:uFillTx/>
                <a:latin typeface="Aptos"/>
                <a:ea typeface="Aptos"/>
              </a:rPr>
              <a:t>REMAINING FAILURES ARE DECISION/RANKING FAILURES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"/>
          <p:cNvSpPr/>
          <p:nvPr/>
        </p:nvSpPr>
        <p:spPr>
          <a:xfrm>
            <a:off x="533520" y="666720"/>
            <a:ext cx="8096040" cy="7426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1" u="none" strike="noStrike">
                <a:solidFill>
                  <a:srgbClr val="081a3a"/>
                </a:solidFill>
                <a:effectLst/>
                <a:uFillTx/>
                <a:latin typeface="Aptos Display"/>
                <a:ea typeface="Aptos Display"/>
              </a:rPr>
              <a:t>Простими словами: модель часто помиляється не просто в ціні, а в тому, які години треба заряджати або продавати.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"/>
          <p:cNvSpPr/>
          <p:nvPr/>
        </p:nvSpPr>
        <p:spPr>
          <a:xfrm>
            <a:off x="819000" y="2019240"/>
            <a:ext cx="2381040" cy="106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"/>
          <p:cNvSpPr/>
          <p:nvPr/>
        </p:nvSpPr>
        <p:spPr>
          <a:xfrm>
            <a:off x="819000" y="2019240"/>
            <a:ext cx="47160" cy="1066320"/>
          </a:xfrm>
          <a:prstGeom prst="rect">
            <a:avLst/>
          </a:prstGeom>
          <a:solidFill>
            <a:srgbClr val="d6454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"/>
          <p:cNvSpPr/>
          <p:nvPr/>
        </p:nvSpPr>
        <p:spPr>
          <a:xfrm>
            <a:off x="1009800" y="2162160"/>
            <a:ext cx="204768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20" b="1" u="none" strike="noStrike">
                <a:solidFill>
                  <a:srgbClr val="081a3a"/>
                </a:solidFill>
                <a:effectLst/>
                <a:uFillTx/>
                <a:latin typeface="Aptos Display"/>
                <a:ea typeface="Aptos Display"/>
              </a:rPr>
              <a:t>80.23%</a:t>
            </a:r>
            <a:endParaRPr lang="en-US" sz="2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"/>
          <p:cNvSpPr/>
          <p:nvPr/>
        </p:nvSpPr>
        <p:spPr>
          <a:xfrm>
            <a:off x="1009800" y="2514600"/>
            <a:ext cx="204768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2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LP-value failure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"/>
          <p:cNvSpPr/>
          <p:nvPr/>
        </p:nvSpPr>
        <p:spPr>
          <a:xfrm>
            <a:off x="1009800" y="2743200"/>
            <a:ext cx="204768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1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schedule loses UAH value vs strict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"/>
          <p:cNvSpPr/>
          <p:nvPr/>
        </p:nvSpPr>
        <p:spPr>
          <a:xfrm>
            <a:off x="3638520" y="2019240"/>
            <a:ext cx="2381040" cy="106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"/>
          <p:cNvSpPr/>
          <p:nvPr/>
        </p:nvSpPr>
        <p:spPr>
          <a:xfrm>
            <a:off x="3638520" y="2019240"/>
            <a:ext cx="47160" cy="1066320"/>
          </a:xfrm>
          <a:prstGeom prst="rect">
            <a:avLst/>
          </a:prstGeom>
          <a:solidFill>
            <a:srgbClr val="f5a524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"/>
          <p:cNvSpPr/>
          <p:nvPr/>
        </p:nvSpPr>
        <p:spPr>
          <a:xfrm>
            <a:off x="3828960" y="2162160"/>
            <a:ext cx="204768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20" b="1" u="none" strike="noStrike">
                <a:solidFill>
                  <a:srgbClr val="081a3a"/>
                </a:solidFill>
                <a:effectLst/>
                <a:uFillTx/>
                <a:latin typeface="Aptos Display"/>
                <a:ea typeface="Aptos Display"/>
              </a:rPr>
              <a:t>64.83%</a:t>
            </a:r>
            <a:endParaRPr lang="en-US" sz="2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"/>
          <p:cNvSpPr/>
          <p:nvPr/>
        </p:nvSpPr>
        <p:spPr>
          <a:xfrm>
            <a:off x="3828960" y="2514600"/>
            <a:ext cx="204768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2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rank/extrema failure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"/>
          <p:cNvSpPr/>
          <p:nvPr/>
        </p:nvSpPr>
        <p:spPr>
          <a:xfrm>
            <a:off x="3828960" y="2743200"/>
            <a:ext cx="204768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1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wrong high/low price hours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"/>
          <p:cNvSpPr/>
          <p:nvPr/>
        </p:nvSpPr>
        <p:spPr>
          <a:xfrm>
            <a:off x="6458040" y="2019240"/>
            <a:ext cx="2381040" cy="106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"/>
          <p:cNvSpPr/>
          <p:nvPr/>
        </p:nvSpPr>
        <p:spPr>
          <a:xfrm>
            <a:off x="6458040" y="2019240"/>
            <a:ext cx="47160" cy="1066320"/>
          </a:xfrm>
          <a:prstGeom prst="rect">
            <a:avLst/>
          </a:prstGeom>
          <a:solidFill>
            <a:srgbClr val="1ba6c9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"/>
          <p:cNvSpPr/>
          <p:nvPr/>
        </p:nvSpPr>
        <p:spPr>
          <a:xfrm>
            <a:off x="6648480" y="2162160"/>
            <a:ext cx="204768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20" b="1" u="none" strike="noStrike">
                <a:solidFill>
                  <a:srgbClr val="081a3a"/>
                </a:solidFill>
                <a:effectLst/>
                <a:uFillTx/>
                <a:latin typeface="Aptos Display"/>
                <a:ea typeface="Aptos Display"/>
              </a:rPr>
              <a:t>55.19%</a:t>
            </a:r>
            <a:endParaRPr lang="en-US" sz="2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"/>
          <p:cNvSpPr/>
          <p:nvPr/>
        </p:nvSpPr>
        <p:spPr>
          <a:xfrm>
            <a:off x="6648480" y="2514600"/>
            <a:ext cx="204768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2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spread-shape failure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"/>
          <p:cNvSpPr/>
          <p:nvPr/>
        </p:nvSpPr>
        <p:spPr>
          <a:xfrm>
            <a:off x="6648480" y="2743200"/>
            <a:ext cx="204768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1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wrong daily arbitrage spread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"/>
          <p:cNvSpPr/>
          <p:nvPr/>
        </p:nvSpPr>
        <p:spPr>
          <a:xfrm>
            <a:off x="952560" y="3905280"/>
            <a:ext cx="2857320" cy="990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"/>
          <p:cNvSpPr/>
          <p:nvPr/>
        </p:nvSpPr>
        <p:spPr>
          <a:xfrm>
            <a:off x="1181160" y="4114800"/>
            <a:ext cx="11426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d64545"/>
                </a:solidFill>
                <a:effectLst/>
                <a:uFillTx/>
                <a:latin typeface="Aptos"/>
                <a:ea typeface="Aptos"/>
              </a:rPr>
              <a:t>LP-value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"/>
          <p:cNvSpPr/>
          <p:nvPr/>
        </p:nvSpPr>
        <p:spPr>
          <a:xfrm>
            <a:off x="1181160" y="4400640"/>
            <a:ext cx="2190240" cy="3427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Forecast may look close, but the resulting charge/discharge schedule earns less money.</a:t>
            </a:r>
            <a:endParaRPr lang="en-US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"/>
          <p:cNvSpPr/>
          <p:nvPr/>
        </p:nvSpPr>
        <p:spPr>
          <a:xfrm>
            <a:off x="4400640" y="3905280"/>
            <a:ext cx="2857320" cy="990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"/>
          <p:cNvSpPr/>
          <p:nvPr/>
        </p:nvSpPr>
        <p:spPr>
          <a:xfrm>
            <a:off x="4629240" y="4114800"/>
            <a:ext cx="142848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5a524"/>
                </a:solidFill>
                <a:effectLst/>
                <a:uFillTx/>
                <a:latin typeface="Aptos"/>
                <a:ea typeface="Aptos"/>
              </a:rPr>
              <a:t>Rank/extrema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"/>
          <p:cNvSpPr/>
          <p:nvPr/>
        </p:nvSpPr>
        <p:spPr>
          <a:xfrm>
            <a:off x="4629240" y="4400640"/>
            <a:ext cx="2190240" cy="3427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Battery arbitrage depends on catching the cheapest and most expensive hours, not average error.</a:t>
            </a:r>
            <a:endParaRPr lang="en-US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"/>
          <p:cNvSpPr/>
          <p:nvPr/>
        </p:nvSpPr>
        <p:spPr>
          <a:xfrm>
            <a:off x="7848720" y="3905280"/>
            <a:ext cx="2857320" cy="990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"/>
          <p:cNvSpPr/>
          <p:nvPr/>
        </p:nvSpPr>
        <p:spPr>
          <a:xfrm>
            <a:off x="8077320" y="4114800"/>
            <a:ext cx="142848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1ba6c9"/>
                </a:solidFill>
                <a:effectLst/>
                <a:uFillTx/>
                <a:latin typeface="Aptos"/>
                <a:ea typeface="Aptos"/>
              </a:rPr>
              <a:t>Spread-shape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"/>
          <p:cNvSpPr/>
          <p:nvPr/>
        </p:nvSpPr>
        <p:spPr>
          <a:xfrm>
            <a:off x="8077320" y="4400640"/>
            <a:ext cx="2190240" cy="3427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If the model flattens or exaggerates the spread, LP chooses the wrong energy cycle.</a:t>
            </a:r>
            <a:endParaRPr lang="en-US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"/>
          <p:cNvSpPr/>
          <p:nvPr/>
        </p:nvSpPr>
        <p:spPr>
          <a:xfrm>
            <a:off x="533520" y="6362640"/>
            <a:ext cx="11124720" cy="9000"/>
          </a:xfrm>
          <a:prstGeom prst="rect">
            <a:avLst/>
          </a:prstGeom>
          <a:solidFill>
            <a:srgbClr val="e4e7ec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"/>
          <p:cNvSpPr/>
          <p:nvPr/>
        </p:nvSpPr>
        <p:spPr>
          <a:xfrm>
            <a:off x="533520" y="6477120"/>
            <a:ext cx="85723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1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AFL audit: context missing rate fixed; dominant blocker is value/ranking quality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"/>
          <p:cNvSpPr/>
          <p:nvPr/>
        </p:nvSpPr>
        <p:spPr>
          <a:xfrm>
            <a:off x="11220480" y="6438960"/>
            <a:ext cx="41868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15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"/>
          <p:cNvSpPr/>
          <p:nvPr/>
        </p:nvSpPr>
        <p:spPr>
          <a:xfrm>
            <a:off x="0" y="0"/>
            <a:ext cx="12191760" cy="66240"/>
          </a:xfrm>
          <a:prstGeom prst="rect">
            <a:avLst/>
          </a:prstGeom>
          <a:solidFill>
            <a:srgbClr val="0b5ca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1600" bIns="21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"/>
          <p:cNvSpPr/>
          <p:nvPr/>
        </p:nvSpPr>
        <p:spPr>
          <a:xfrm>
            <a:off x="0" y="66600"/>
            <a:ext cx="12191760" cy="47160"/>
          </a:xfrm>
          <a:prstGeom prst="rect">
            <a:avLst/>
          </a:prstGeom>
          <a:solidFill>
            <a:srgbClr val="ffe45c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520" bIns="25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"/>
          <p:cNvSpPr/>
          <p:nvPr/>
        </p:nvSpPr>
        <p:spPr>
          <a:xfrm>
            <a:off x="533520" y="399960"/>
            <a:ext cx="74293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trike="noStrike">
                <a:solidFill>
                  <a:srgbClr val="0b5cad"/>
                </a:solidFill>
                <a:effectLst/>
                <a:uFillTx/>
                <a:latin typeface="Aptos"/>
                <a:ea typeface="Aptos"/>
              </a:rPr>
              <a:t>WHY SELECTORS ALMOST PASSED, AND SCHEDULE/VALUE CLEARED THE GATE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"/>
          <p:cNvSpPr/>
          <p:nvPr/>
        </p:nvSpPr>
        <p:spPr>
          <a:xfrm>
            <a:off x="533520" y="666720"/>
            <a:ext cx="10896480" cy="7426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1" u="none" strike="noStrike">
                <a:solidFill>
                  <a:srgbClr val="081a3a"/>
                </a:solidFill>
                <a:effectLst/>
                <a:uFillTx/>
                <a:latin typeface="Aptos Display"/>
                <a:ea typeface="Aptos Display"/>
              </a:rPr>
              <a:t>Feature-aware rules improved raw neural schedules; schedule/value learner used richer feasible-schedule features and passed robustness.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"/>
          <p:cNvSpPr/>
          <p:nvPr/>
        </p:nvSpPr>
        <p:spPr>
          <a:xfrm>
            <a:off x="609480" y="1943280"/>
            <a:ext cx="2571480" cy="323640"/>
          </a:xfrm>
          <a:prstGeom prst="rect">
            <a:avLst/>
          </a:prstGeom>
          <a:solidFill>
            <a:srgbClr val="081a3a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"/>
          <p:cNvSpPr/>
          <p:nvPr/>
        </p:nvSpPr>
        <p:spPr>
          <a:xfrm>
            <a:off x="685800" y="2028960"/>
            <a:ext cx="24188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1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Stage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"/>
          <p:cNvSpPr/>
          <p:nvPr/>
        </p:nvSpPr>
        <p:spPr>
          <a:xfrm>
            <a:off x="3181320" y="1943280"/>
            <a:ext cx="2714400" cy="323640"/>
          </a:xfrm>
          <a:prstGeom prst="rect">
            <a:avLst/>
          </a:prstGeom>
          <a:solidFill>
            <a:srgbClr val="081a3a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"/>
          <p:cNvSpPr/>
          <p:nvPr/>
        </p:nvSpPr>
        <p:spPr>
          <a:xfrm>
            <a:off x="3257640" y="2028960"/>
            <a:ext cx="256176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1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NBEATSx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"/>
          <p:cNvSpPr/>
          <p:nvPr/>
        </p:nvSpPr>
        <p:spPr>
          <a:xfrm>
            <a:off x="5896080" y="1943280"/>
            <a:ext cx="2714400" cy="323640"/>
          </a:xfrm>
          <a:prstGeom prst="rect">
            <a:avLst/>
          </a:prstGeom>
          <a:solidFill>
            <a:srgbClr val="081a3a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"/>
          <p:cNvSpPr/>
          <p:nvPr/>
        </p:nvSpPr>
        <p:spPr>
          <a:xfrm>
            <a:off x="5972040" y="2028960"/>
            <a:ext cx="256176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1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TFT / calibrated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"/>
          <p:cNvSpPr/>
          <p:nvPr/>
        </p:nvSpPr>
        <p:spPr>
          <a:xfrm>
            <a:off x="8610480" y="1943280"/>
            <a:ext cx="2381040" cy="323640"/>
          </a:xfrm>
          <a:prstGeom prst="rect">
            <a:avLst/>
          </a:prstGeom>
          <a:solidFill>
            <a:srgbClr val="081a3a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"/>
          <p:cNvSpPr/>
          <p:nvPr/>
        </p:nvSpPr>
        <p:spPr>
          <a:xfrm>
            <a:off x="8686800" y="2028960"/>
            <a:ext cx="222840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1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Decision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"/>
          <p:cNvSpPr/>
          <p:nvPr/>
        </p:nvSpPr>
        <p:spPr>
          <a:xfrm>
            <a:off x="609480" y="2266920"/>
            <a:ext cx="2571480" cy="361440"/>
          </a:xfrm>
          <a:prstGeom prst="rect">
            <a:avLst/>
          </a:prstGeom>
          <a:solidFill>
            <a:srgbClr val="ffffff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"/>
          <p:cNvSpPr/>
          <p:nvPr/>
        </p:nvSpPr>
        <p:spPr>
          <a:xfrm>
            <a:off x="685800" y="2352600"/>
            <a:ext cx="241884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9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Feature-aware selector</a:t>
            </a:r>
            <a:endParaRPr lang="en-US" sz="6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"/>
          <p:cNvSpPr/>
          <p:nvPr/>
        </p:nvSpPr>
        <p:spPr>
          <a:xfrm>
            <a:off x="3181320" y="2266920"/>
            <a:ext cx="2714400" cy="361440"/>
          </a:xfrm>
          <a:prstGeom prst="rect">
            <a:avLst/>
          </a:prstGeom>
          <a:solidFill>
            <a:srgbClr val="ffffff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"/>
          <p:cNvSpPr/>
          <p:nvPr/>
        </p:nvSpPr>
        <p:spPr>
          <a:xfrm>
            <a:off x="3257640" y="2352600"/>
            <a:ext cx="256176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9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299.73 mean; +4.79% vs strict</a:t>
            </a:r>
            <a:endParaRPr lang="en-US" sz="6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"/>
          <p:cNvSpPr/>
          <p:nvPr/>
        </p:nvSpPr>
        <p:spPr>
          <a:xfrm>
            <a:off x="5896080" y="2266920"/>
            <a:ext cx="2714400" cy="361440"/>
          </a:xfrm>
          <a:prstGeom prst="rect">
            <a:avLst/>
          </a:prstGeom>
          <a:solidFill>
            <a:srgbClr val="ffffff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"/>
          <p:cNvSpPr/>
          <p:nvPr/>
        </p:nvSpPr>
        <p:spPr>
          <a:xfrm>
            <a:off x="5972040" y="2352600"/>
            <a:ext cx="256176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9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299.19 mean; +4.96% vs strict</a:t>
            </a:r>
            <a:endParaRPr lang="en-US" sz="6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"/>
          <p:cNvSpPr/>
          <p:nvPr/>
        </p:nvSpPr>
        <p:spPr>
          <a:xfrm>
            <a:off x="8610480" y="2266920"/>
            <a:ext cx="2381040" cy="361440"/>
          </a:xfrm>
          <a:prstGeom prst="rect">
            <a:avLst/>
          </a:prstGeom>
          <a:solidFill>
            <a:srgbClr val="ffffff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"/>
          <p:cNvSpPr/>
          <p:nvPr/>
        </p:nvSpPr>
        <p:spPr>
          <a:xfrm>
            <a:off x="8686800" y="2352600"/>
            <a:ext cx="222840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9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useful, just below 5% gate</a:t>
            </a:r>
            <a:endParaRPr lang="en-US" sz="6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"/>
          <p:cNvSpPr/>
          <p:nvPr/>
        </p:nvSpPr>
        <p:spPr>
          <a:xfrm>
            <a:off x="609480" y="2629080"/>
            <a:ext cx="2571480" cy="361440"/>
          </a:xfrm>
          <a:prstGeom prst="rect">
            <a:avLst/>
          </a:prstGeom>
          <a:solidFill>
            <a:srgbClr val="f2f4f7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"/>
          <p:cNvSpPr/>
          <p:nvPr/>
        </p:nvSpPr>
        <p:spPr>
          <a:xfrm>
            <a:off x="685800" y="2714760"/>
            <a:ext cx="241884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90" b="1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Schedule/value learner V2</a:t>
            </a:r>
            <a:endParaRPr lang="en-US" sz="6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"/>
          <p:cNvSpPr/>
          <p:nvPr/>
        </p:nvSpPr>
        <p:spPr>
          <a:xfrm>
            <a:off x="3181320" y="2629080"/>
            <a:ext cx="2714400" cy="361440"/>
          </a:xfrm>
          <a:prstGeom prst="rect">
            <a:avLst/>
          </a:prstGeom>
          <a:solidFill>
            <a:srgbClr val="f2f4f7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"/>
          <p:cNvSpPr/>
          <p:nvPr/>
        </p:nvSpPr>
        <p:spPr>
          <a:xfrm>
            <a:off x="3257640" y="2714760"/>
            <a:ext cx="256176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9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225.44 mean; +27.41% vs strict</a:t>
            </a:r>
            <a:endParaRPr lang="en-US" sz="6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"/>
          <p:cNvSpPr/>
          <p:nvPr/>
        </p:nvSpPr>
        <p:spPr>
          <a:xfrm>
            <a:off x="5896080" y="2629080"/>
            <a:ext cx="2714400" cy="361440"/>
          </a:xfrm>
          <a:prstGeom prst="rect">
            <a:avLst/>
          </a:prstGeom>
          <a:solidFill>
            <a:srgbClr val="f2f4f7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"/>
          <p:cNvSpPr/>
          <p:nvPr/>
        </p:nvSpPr>
        <p:spPr>
          <a:xfrm>
            <a:off x="5972040" y="2714760"/>
            <a:ext cx="256176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9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206.37 mean; +33.55% vs strict</a:t>
            </a:r>
            <a:endParaRPr lang="en-US" sz="6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"/>
          <p:cNvSpPr/>
          <p:nvPr/>
        </p:nvSpPr>
        <p:spPr>
          <a:xfrm>
            <a:off x="8610480" y="2629080"/>
            <a:ext cx="2381040" cy="361440"/>
          </a:xfrm>
          <a:prstGeom prst="rect">
            <a:avLst/>
          </a:prstGeom>
          <a:solidFill>
            <a:srgbClr val="f2f4f7"/>
          </a:solidFill>
          <a:ln w="5715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"/>
          <p:cNvSpPr/>
          <p:nvPr/>
        </p:nvSpPr>
        <p:spPr>
          <a:xfrm>
            <a:off x="8686800" y="2714760"/>
            <a:ext cx="222840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90" b="0" u="none" strike="noStrike">
                <a:solidFill>
                  <a:srgbClr val="101828"/>
                </a:solidFill>
                <a:effectLst/>
                <a:uFillTx/>
                <a:latin typeface="Aptos"/>
                <a:ea typeface="Aptos"/>
              </a:rPr>
              <a:t>passes latest + 4/4 rolling</a:t>
            </a:r>
            <a:endParaRPr lang="en-US" sz="6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"/>
          <p:cNvSpPr/>
          <p:nvPr/>
        </p:nvSpPr>
        <p:spPr>
          <a:xfrm>
            <a:off x="895320" y="3905280"/>
            <a:ext cx="1999800" cy="952200"/>
          </a:xfrm>
          <a:prstGeom prst="rect">
            <a:avLst/>
          </a:prstGeom>
          <a:solidFill>
            <a:srgbClr val="ffffff"/>
          </a:solidFill>
          <a:ln w="13335">
            <a:solidFill>
              <a:srgbClr val="1ba6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"/>
          <p:cNvSpPr/>
          <p:nvPr/>
        </p:nvSpPr>
        <p:spPr>
          <a:xfrm>
            <a:off x="895320" y="3905280"/>
            <a:ext cx="56880" cy="952200"/>
          </a:xfrm>
          <a:prstGeom prst="rect">
            <a:avLst/>
          </a:prstGeom>
          <a:solidFill>
            <a:srgbClr val="1ba6c9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"/>
          <p:cNvSpPr/>
          <p:nvPr/>
        </p:nvSpPr>
        <p:spPr>
          <a:xfrm>
            <a:off x="1047600" y="4019400"/>
            <a:ext cx="17143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10" b="1" u="none" strike="noStrike">
                <a:solidFill>
                  <a:srgbClr val="081a3a"/>
                </a:solidFill>
                <a:effectLst/>
                <a:uFillTx/>
                <a:latin typeface="Aptos"/>
                <a:ea typeface="Aptos"/>
              </a:rPr>
              <a:t>Selector inputs</a:t>
            </a:r>
            <a:endParaRPr lang="en-US" sz="10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"/>
          <p:cNvSpPr/>
          <p:nvPr/>
        </p:nvSpPr>
        <p:spPr>
          <a:xfrm>
            <a:off x="1047600" y="4286160"/>
            <a:ext cx="1714320" cy="495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7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price regime, spread volatility, rank stability, weather/load context</a:t>
            </a:r>
            <a:endParaRPr lang="en-US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2" name=""/>
          <p:cNvSpPr/>
          <p:nvPr/>
        </p:nvSpPr>
        <p:spPr>
          <a:xfrm>
            <a:off x="3562200" y="3905280"/>
            <a:ext cx="1999800" cy="952200"/>
          </a:xfrm>
          <a:prstGeom prst="rect">
            <a:avLst/>
          </a:prstGeom>
          <a:solidFill>
            <a:srgbClr val="ffffff"/>
          </a:solidFill>
          <a:ln w="13335">
            <a:solidFill>
              <a:srgbClr val="1282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"/>
          <p:cNvSpPr/>
          <p:nvPr/>
        </p:nvSpPr>
        <p:spPr>
          <a:xfrm>
            <a:off x="3562200" y="3905280"/>
            <a:ext cx="56880" cy="952200"/>
          </a:xfrm>
          <a:prstGeom prst="rect">
            <a:avLst/>
          </a:prstGeom>
          <a:solidFill>
            <a:srgbClr val="128247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"/>
          <p:cNvSpPr/>
          <p:nvPr/>
        </p:nvSpPr>
        <p:spPr>
          <a:xfrm>
            <a:off x="3714840" y="4019400"/>
            <a:ext cx="17143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10" b="1" u="none" strike="noStrike">
                <a:solidFill>
                  <a:srgbClr val="081a3a"/>
                </a:solidFill>
                <a:effectLst/>
                <a:uFillTx/>
                <a:latin typeface="Aptos"/>
                <a:ea typeface="Aptos"/>
              </a:rPr>
              <a:t>Schedule/value inputs</a:t>
            </a:r>
            <a:endParaRPr lang="en-US" sz="10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"/>
          <p:cNvSpPr/>
          <p:nvPr/>
        </p:nvSpPr>
        <p:spPr>
          <a:xfrm>
            <a:off x="3714840" y="4286160"/>
            <a:ext cx="1714320" cy="495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7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forecast spread, LP objective, throughput, degradation, SOC slack, prior family regret</a:t>
            </a:r>
            <a:endParaRPr lang="en-US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"/>
          <p:cNvSpPr/>
          <p:nvPr/>
        </p:nvSpPr>
        <p:spPr>
          <a:xfrm>
            <a:off x="6229440" y="3905280"/>
            <a:ext cx="1999800" cy="952200"/>
          </a:xfrm>
          <a:prstGeom prst="rect">
            <a:avLst/>
          </a:prstGeom>
          <a:solidFill>
            <a:srgbClr val="ffffff"/>
          </a:solidFill>
          <a:ln w="13335">
            <a:solidFill>
              <a:srgbClr val="f5a5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"/>
          <p:cNvSpPr/>
          <p:nvPr/>
        </p:nvSpPr>
        <p:spPr>
          <a:xfrm>
            <a:off x="6229440" y="3905280"/>
            <a:ext cx="56880" cy="952200"/>
          </a:xfrm>
          <a:prstGeom prst="rect">
            <a:avLst/>
          </a:prstGeom>
          <a:solidFill>
            <a:srgbClr val="f5a524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"/>
          <p:cNvSpPr/>
          <p:nvPr/>
        </p:nvSpPr>
        <p:spPr>
          <a:xfrm>
            <a:off x="6381720" y="4019400"/>
            <a:ext cx="17143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10" b="1" u="none" strike="noStrike">
                <a:solidFill>
                  <a:srgbClr val="081a3a"/>
                </a:solidFill>
                <a:effectLst/>
                <a:uFillTx/>
                <a:latin typeface="Aptos"/>
                <a:ea typeface="Aptos"/>
              </a:rPr>
              <a:t>Gate</a:t>
            </a:r>
            <a:endParaRPr lang="en-US" sz="10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"/>
          <p:cNvSpPr/>
          <p:nvPr/>
        </p:nvSpPr>
        <p:spPr>
          <a:xfrm>
            <a:off x="6381720" y="4286160"/>
            <a:ext cx="1714320" cy="495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7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&gt;=5% mean improvement, median not worse, 90 holdout rows, 4 rolling windows</a:t>
            </a:r>
            <a:endParaRPr lang="en-US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"/>
          <p:cNvSpPr/>
          <p:nvPr/>
        </p:nvSpPr>
        <p:spPr>
          <a:xfrm>
            <a:off x="8896320" y="3905280"/>
            <a:ext cx="1999800" cy="952200"/>
          </a:xfrm>
          <a:prstGeom prst="rect">
            <a:avLst/>
          </a:prstGeom>
          <a:solidFill>
            <a:srgbClr val="ffffff"/>
          </a:solidFill>
          <a:ln w="13335">
            <a:solidFill>
              <a:srgbClr val="081a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"/>
          <p:cNvSpPr/>
          <p:nvPr/>
        </p:nvSpPr>
        <p:spPr>
          <a:xfrm>
            <a:off x="8896320" y="3905280"/>
            <a:ext cx="56880" cy="952200"/>
          </a:xfrm>
          <a:prstGeom prst="rect">
            <a:avLst/>
          </a:prstGeom>
          <a:solidFill>
            <a:srgbClr val="081a3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"/>
          <p:cNvSpPr/>
          <p:nvPr/>
        </p:nvSpPr>
        <p:spPr>
          <a:xfrm>
            <a:off x="9048600" y="4019400"/>
            <a:ext cx="17143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10" b="1" u="none" strike="noStrike">
                <a:solidFill>
                  <a:srgbClr val="081a3a"/>
                </a:solidFill>
                <a:effectLst/>
                <a:uFillTx/>
                <a:latin typeface="Aptos"/>
                <a:ea typeface="Aptos"/>
              </a:rPr>
              <a:t>Outcome</a:t>
            </a:r>
            <a:endParaRPr lang="en-US" sz="10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"/>
          <p:cNvSpPr/>
          <p:nvPr/>
        </p:nvSpPr>
        <p:spPr>
          <a:xfrm>
            <a:off x="9048600" y="4286160"/>
            <a:ext cx="1714320" cy="495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7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Offline Strategy Promotion; strict remains fallback; no market execution</a:t>
            </a:r>
            <a:endParaRPr lang="en-US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"/>
          <p:cNvSpPr/>
          <p:nvPr/>
        </p:nvSpPr>
        <p:spPr>
          <a:xfrm>
            <a:off x="2895480" y="4381560"/>
            <a:ext cx="342720" cy="28080"/>
          </a:xfrm>
          <a:prstGeom prst="rect">
            <a:avLst/>
          </a:prstGeom>
          <a:solidFill>
            <a:srgbClr val="0b5ca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"/>
          <p:cNvSpPr/>
          <p:nvPr/>
        </p:nvSpPr>
        <p:spPr>
          <a:xfrm>
            <a:off x="3200400" y="4314960"/>
            <a:ext cx="151920" cy="151920"/>
          </a:xfrm>
          <a:prstGeom prst="triangle">
            <a:avLst>
              <a:gd name="adj" fmla="val 50000"/>
            </a:avLst>
          </a:prstGeom>
          <a:solidFill>
            <a:srgbClr val="0b5cad"/>
          </a:solidFill>
          <a:ln w="0">
            <a:solidFill>
              <a:srgbClr val="0b5ca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6" name=""/>
          <p:cNvSpPr/>
          <p:nvPr/>
        </p:nvSpPr>
        <p:spPr>
          <a:xfrm>
            <a:off x="5562720" y="4381560"/>
            <a:ext cx="342720" cy="28080"/>
          </a:xfrm>
          <a:prstGeom prst="rect">
            <a:avLst/>
          </a:prstGeom>
          <a:solidFill>
            <a:srgbClr val="0b5ca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"/>
          <p:cNvSpPr/>
          <p:nvPr/>
        </p:nvSpPr>
        <p:spPr>
          <a:xfrm>
            <a:off x="5867280" y="4314960"/>
            <a:ext cx="151920" cy="151920"/>
          </a:xfrm>
          <a:prstGeom prst="triangle">
            <a:avLst>
              <a:gd name="adj" fmla="val 50000"/>
            </a:avLst>
          </a:prstGeom>
          <a:solidFill>
            <a:srgbClr val="0b5cad"/>
          </a:solidFill>
          <a:ln w="0">
            <a:solidFill>
              <a:srgbClr val="0b5ca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"/>
          <p:cNvSpPr/>
          <p:nvPr/>
        </p:nvSpPr>
        <p:spPr>
          <a:xfrm>
            <a:off x="8229600" y="4381560"/>
            <a:ext cx="342720" cy="28080"/>
          </a:xfrm>
          <a:prstGeom prst="rect">
            <a:avLst/>
          </a:prstGeom>
          <a:solidFill>
            <a:srgbClr val="0b5cad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"/>
          <p:cNvSpPr/>
          <p:nvPr/>
        </p:nvSpPr>
        <p:spPr>
          <a:xfrm>
            <a:off x="8534520" y="4314960"/>
            <a:ext cx="151920" cy="151920"/>
          </a:xfrm>
          <a:prstGeom prst="triangle">
            <a:avLst>
              <a:gd name="adj" fmla="val 50000"/>
            </a:avLst>
          </a:prstGeom>
          <a:solidFill>
            <a:srgbClr val="0b5cad"/>
          </a:solidFill>
          <a:ln w="0">
            <a:solidFill>
              <a:srgbClr val="0b5ca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"/>
          <p:cNvSpPr/>
          <p:nvPr/>
        </p:nvSpPr>
        <p:spPr>
          <a:xfrm>
            <a:off x="533520" y="6362640"/>
            <a:ext cx="11124720" cy="9000"/>
          </a:xfrm>
          <a:prstGeom prst="rect">
            <a:avLst/>
          </a:prstGeom>
          <a:solidFill>
            <a:srgbClr val="e4e7ec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"/>
          <p:cNvSpPr/>
          <p:nvPr/>
        </p:nvSpPr>
        <p:spPr>
          <a:xfrm>
            <a:off x="533520" y="6477120"/>
            <a:ext cx="85723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10" b="0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Architecture detail: final-holdout actuals score decisions only; they do not choose selector rules or learner weights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"/>
          <p:cNvSpPr/>
          <p:nvPr/>
        </p:nvSpPr>
        <p:spPr>
          <a:xfrm>
            <a:off x="11220480" y="6438960"/>
            <a:ext cx="41868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itchFamily="0" charset="1"/>
        <a:ea typeface="Calibri Light" pitchFamily="0" charset="1"/>
        <a:cs typeface="Calibri Light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LibreOffice/25.8.6.2$Windows_X86_64 LibreOffice_project/b4b39682cd9868fa725bc664aff94278d315bd04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2026-05-13T14:27:00Z</dcterms:created>
  <dc:creator>Walnut Exporter</dc:creator>
  <dc:description/>
  <dc:language>en-US</dc:language>
  <cp:lastModifiedBy/>
  <dcterms:modified xsi:type="dcterms:W3CDTF">2026-05-13T17:47:23Z</dcterms:modified>
  <cp:revision>2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