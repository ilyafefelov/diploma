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2d6d1e253b4fae" /><Relationship Type="http://schemas.openxmlformats.org/officeDocument/2006/relationships/extended-properties" Target="/docProps/app.xml" Id="R03675eea21b042e7" /><Relationship Type="http://schemas.openxmlformats.org/officeDocument/2006/relationships/officeDocument" Target="/ppt/presentation.xml" Id="Rf03190b73e5d48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7f5a469cba4134"/>
  </p:sldMasterIdLst>
  <p:notesMasterIdLst>
    <p:notesMasterId xmlns:r="http://schemas.openxmlformats.org/officeDocument/2006/relationships" r:id="Rfbc4c4eadc0940b1"/>
  </p:notesMasterIdLst>
  <p:sldIdLst>
    <p:sldId xmlns:r="http://schemas.openxmlformats.org/officeDocument/2006/relationships" id="256" r:id="Rd5bc80b564ab4c27"/>
    <p:sldId xmlns:r="http://schemas.openxmlformats.org/officeDocument/2006/relationships" id="257" r:id="R2a80570b9c944044"/>
    <p:sldId xmlns:r="http://schemas.openxmlformats.org/officeDocument/2006/relationships" id="258" r:id="R422bce3b8be1440d"/>
    <p:sldId xmlns:r="http://schemas.openxmlformats.org/officeDocument/2006/relationships" id="259" r:id="R7618ae8745f14ed2"/>
    <p:sldId xmlns:r="http://schemas.openxmlformats.org/officeDocument/2006/relationships" id="260" r:id="Ra746866b24a04522"/>
    <p:sldId xmlns:r="http://schemas.openxmlformats.org/officeDocument/2006/relationships" id="261" r:id="R1eac6b756b3e4cbb"/>
    <p:sldId xmlns:r="http://schemas.openxmlformats.org/officeDocument/2006/relationships" id="262" r:id="R3a85cec56378498a"/>
    <p:sldId xmlns:r="http://schemas.openxmlformats.org/officeDocument/2006/relationships" id="263" r:id="R97a66e2d58574875"/>
    <p:sldId xmlns:r="http://schemas.openxmlformats.org/officeDocument/2006/relationships" id="264" r:id="Rb391a2ba1b294a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f5a469cba4134" /><Relationship Type="http://schemas.openxmlformats.org/officeDocument/2006/relationships/theme" Target="/ppt/theme/theme1.xml" Id="R2b89d8cadf7245cc" /><Relationship Type="http://schemas.openxmlformats.org/officeDocument/2006/relationships/notesMaster" Target="/ppt/notesMasters/notesMaster1.xml" Id="Rfbc4c4eadc0940b1" /><Relationship Type="http://schemas.openxmlformats.org/officeDocument/2006/relationships/presProps" Target="/ppt/presProps.xml" Id="Rd01275f9bce34f6e" /><Relationship Type="http://schemas.openxmlformats.org/officeDocument/2006/relationships/viewProps" Target="/ppt/viewProps.xml" Id="R44e0a696ef784be1" /><Relationship Type="http://schemas.openxmlformats.org/officeDocument/2006/relationships/tableStyles" Target="/ppt/tableStyles.xml" Id="Ra6e6d06a81c84edf" /><Relationship Type="http://schemas.openxmlformats.org/officeDocument/2006/relationships/slide" Target="/ppt/slides/slide1.xml" Id="Rd5bc80b564ab4c27" /><Relationship Type="http://schemas.openxmlformats.org/officeDocument/2006/relationships/slide" Target="/ppt/slides/slide2.xml" Id="R2a80570b9c944044" /><Relationship Type="http://schemas.openxmlformats.org/officeDocument/2006/relationships/slide" Target="/ppt/slides/slide3.xml" Id="R422bce3b8be1440d" /><Relationship Type="http://schemas.openxmlformats.org/officeDocument/2006/relationships/slide" Target="/ppt/slides/slide4.xml" Id="R7618ae8745f14ed2" /><Relationship Type="http://schemas.openxmlformats.org/officeDocument/2006/relationships/slide" Target="/ppt/slides/slide5.xml" Id="Ra746866b24a04522" /><Relationship Type="http://schemas.openxmlformats.org/officeDocument/2006/relationships/slide" Target="/ppt/slides/slide6.xml" Id="R1eac6b756b3e4cbb" /><Relationship Type="http://schemas.openxmlformats.org/officeDocument/2006/relationships/slide" Target="/ppt/slides/slide7.xml" Id="R3a85cec56378498a" /><Relationship Type="http://schemas.openxmlformats.org/officeDocument/2006/relationships/slide" Target="/ppt/slides/slide8.xml" Id="R97a66e2d58574875" /><Relationship Type="http://schemas.openxmlformats.org/officeDocument/2006/relationships/slide" Target="/ppt/slides/slide9.xml" Id="Rb391a2ba1b29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811555bde7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9cc3ad239c449d" /><Relationship Type="http://schemas.openxmlformats.org/officeDocument/2006/relationships/notesMaster" Target="/ppt/notesMasters/notesMaster1.xml" Id="R6bee4451ab2146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cc691d4fdd48f9" /><Relationship Type="http://schemas.openxmlformats.org/officeDocument/2006/relationships/notesMaster" Target="/ppt/notesMasters/notesMaster1.xml" Id="R93591914ab0340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6e5a626de946e6" /><Relationship Type="http://schemas.openxmlformats.org/officeDocument/2006/relationships/notesMaster" Target="/ppt/notesMasters/notesMaster1.xml" Id="Re741b84ef22741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2303d1de564a98" /><Relationship Type="http://schemas.openxmlformats.org/officeDocument/2006/relationships/notesMaster" Target="/ppt/notesMasters/notesMaster1.xml" Id="Re552d006e69248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733ab28cf04736" /><Relationship Type="http://schemas.openxmlformats.org/officeDocument/2006/relationships/notesMaster" Target="/ppt/notesMasters/notesMaster1.xml" Id="R16b65ecbb7dc48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d2af0dc89b4e55" /><Relationship Type="http://schemas.openxmlformats.org/officeDocument/2006/relationships/notesMaster" Target="/ppt/notesMasters/notesMaster1.xml" Id="Rc97efeac413448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387d5417a34db8" /><Relationship Type="http://schemas.openxmlformats.org/officeDocument/2006/relationships/notesMaster" Target="/ppt/notesMasters/notesMaster1.xml" Id="R39f6668612cc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2ad517f6b74250" /><Relationship Type="http://schemas.openxmlformats.org/officeDocument/2006/relationships/notesMaster" Target="/ppt/notesMasters/notesMaster1.xml" Id="R9b512f604743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fc276a3d364493" /><Relationship Type="http://schemas.openxmlformats.org/officeDocument/2006/relationships/notesMaster" Target="/ppt/notesMasters/notesMaster1.xml" Id="R5b9d5b5685c544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ca7a1bc4a4d5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51af5b420164cb8" /><Relationship Type="http://schemas.openxmlformats.org/officeDocument/2006/relationships/slideLayout" Target="/ppt/slideLayouts/slideLayout2.xml" Id="R8a1308932c8d4c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308932c8d4c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3061e647924504" /><Relationship Type="http://schemas.openxmlformats.org/officeDocument/2006/relationships/image" Target="/ppt/media/image.png" Id="R91b9dca43bcf43cc" /><Relationship Type="http://schemas.openxmlformats.org/officeDocument/2006/relationships/notesSlide" Target="/ppt/notesSlides/notesSlide1.xml" Id="R44151eaea8ed42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b0e840e97d4087" /><Relationship Type="http://schemas.openxmlformats.org/officeDocument/2006/relationships/image" Target="/ppt/media/image2.png" Id="R8cbc3ce35b124506" /><Relationship Type="http://schemas.openxmlformats.org/officeDocument/2006/relationships/notesSlide" Target="/ppt/notesSlides/notesSlide2.xml" Id="R4587e84c4d294b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490c25841e4f9d" /><Relationship Type="http://schemas.openxmlformats.org/officeDocument/2006/relationships/image" Target="/ppt/media/image3.png" Id="Rc924ba37682f470f" /><Relationship Type="http://schemas.openxmlformats.org/officeDocument/2006/relationships/notesSlide" Target="/ppt/notesSlides/notesSlide3.xml" Id="R9a27a653772842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88b7117f234c90" /><Relationship Type="http://schemas.openxmlformats.org/officeDocument/2006/relationships/image" Target="/ppt/media/image4.png" Id="R415104f100fa4dd4" /><Relationship Type="http://schemas.openxmlformats.org/officeDocument/2006/relationships/notesSlide" Target="/ppt/notesSlides/notesSlide4.xml" Id="Rebb6d832e4a747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f58116c8642de" /><Relationship Type="http://schemas.openxmlformats.org/officeDocument/2006/relationships/image" Target="/ppt/media/image5.png" Id="Rb76ac837880a4128" /><Relationship Type="http://schemas.openxmlformats.org/officeDocument/2006/relationships/notesSlide" Target="/ppt/notesSlides/notesSlide5.xml" Id="R8a077d5b313741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87bbbeb98144ee" /><Relationship Type="http://schemas.openxmlformats.org/officeDocument/2006/relationships/image" Target="/ppt/media/image6.png" Id="R2bf263b480364796" /><Relationship Type="http://schemas.openxmlformats.org/officeDocument/2006/relationships/notesSlide" Target="/ppt/notesSlides/notesSlide6.xml" Id="R93d26e978d7f4c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8070bebba46ac" /><Relationship Type="http://schemas.openxmlformats.org/officeDocument/2006/relationships/image" Target="/ppt/media/image7.png" Id="R959b980f8c28465f" /><Relationship Type="http://schemas.openxmlformats.org/officeDocument/2006/relationships/notesSlide" Target="/ppt/notesSlides/notesSlide7.xml" Id="Ra0b9e402f2bf4d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9623029cf04c0c" /><Relationship Type="http://schemas.openxmlformats.org/officeDocument/2006/relationships/image" Target="/ppt/media/image8.png" Id="Rfa1e9607c1a14aa4" /><Relationship Type="http://schemas.openxmlformats.org/officeDocument/2006/relationships/notesSlide" Target="/ppt/notesSlides/notesSlide8.xml" Id="R9f6facfab2bb44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79f817bbe441d" /><Relationship Type="http://schemas.openxmlformats.org/officeDocument/2006/relationships/image" Target="/ppt/media/image9.png" Id="R7701a6bb6cb641aa" /><Relationship Type="http://schemas.openxmlformats.org/officeDocument/2006/relationships/notesSlide" Target="/ppt/notesSlides/notesSlide9.xml" Id="R2449fab49afc49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9dca43bcf43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2D68A-D3BE-4C69-92AD-21181858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D2B0E-D9CF-45A7-A8FC-F870B784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B7907-6B7C-40DD-A41A-7B305C1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Как работает 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F2975-6AD2-4CF2-B186-2B0961D1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Механизм покупки, продажи и физических ограничений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27196-ADE3-43B6-96A8-B6B37AC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max sum_t [ price_t * (discharge_t - charge_t) * dt - k_deg * (charge_t + discharge_t) * dt 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A8376-4794-43EF-A742-860A070B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LP смотрит на 24 часа цен. Если цена низкая - выгодно зарядить батарею. Если цена высокая - выгодно разрядить и продать энергию. Он выбирает не одно действие, а весь безопасный профиль charge/discharge/SOC.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2477F-DD61-49B4-97E7-DC84C6C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SOC: 5-95% емкости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charge/discharge &lt;= max power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SOC_t+1 = SOC_t + charge*sqrt(RTE)*dt - discharge/sqrt(RTE)*dt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Коммитится только первый час rolling horizon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E6DBD-7BAF-4D2B-B9BC-6848A578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Результат: BUY если net_power &lt; 0, SELL если &gt; 0, HOLD если около 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56D27-27A5-4B41-A100-F5C41932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2064935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c3ce35b1245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9B4A0-B350-49DF-95E7-88AE547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B8054-B2DB-4DEB-8DD8-69C48933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2C2C4-1FF7-434A-9329-2A50A7F6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Strict Similar Benchmark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06BB0-6A52-40E5-8DED-9744EE8A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Как считается regret и связь с oracle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00C56-6101-4E83-8732-9B741717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regret = oracle_value - achieved_value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522C6-7B1C-4F45-8D32-AAB4D059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Strict benchmark не обучается. Он берет похожий прошлый день как прогноз: для Tue-Fri чаще yesterday, иначе same weekday last week. Потом LP строит schedule по этому прогнозу.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94898-5724-4B85-96B6-E8DB3D3A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achieved_value: schedule из strict forecast, оцененный на actual prices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oracle_value: тот же LP, но с actual future prices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oracle - это верхняя планка, не реальный доступный режим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Меньше regret = лучше decision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9CDD3-8F1E-47A2-ACBA-D2B82FD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Benchmark нужен как честный frozen comparator для V2+, DT и forecast models.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D77B8-A0C9-4BF7-9A69-C5FBCB6B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6291968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4ba37682f47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FF237-A83C-4F11-9AFC-6E28BE11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09A77-4FFA-497B-8057-DDC1D370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2C590-8347-438D-82C2-C2F4D51E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Raw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C6B74-F6ED-4616-BA27-161428B0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Какие данные входят сырыми и какой формы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6C7CA-F698-44AB-A0E9-17359C77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hourly row = timestamp + tenant_id/source + value columns + provenance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8FA92-3F44-4833-93EA-88D33853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Основной raw input - hourly rows: timestamp + price/weather/source metadata. Украинская цена DAM одна для market zone IPS; tenants отличаются погодой, координатами, BESS параметрами, SOC и economics.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FADBD-A8CC-494B-AED2-E473C3E0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OREE DAM: hourly price, UAH/MWh, market zone IPS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Open-Meteo: hourly weather by tenant coordinates/timezone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Tenant config: capacity, power, SOC limits, degradation cost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Synthetic fallback rows are demo stability only, not measured-performance claims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F0374-E11A-4B66-B3CB-67FAD0AA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Pipeline shape: Bronze observed rows -&gt; Silver features -&gt; Gold schedule/evidence rows.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7AF6B-E1A8-49DF-B5D0-5B8ECB9D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9739169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104f100fa4d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4735C-3A0A-4F5A-9E96-B1CC6B97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747AD-299E-496E-9FD2-867806E8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C519E-E9A4-402D-9E57-A812E6E4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F21E9-9B2B-4F17-8FDE-CB823345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Что создается, как выбирается и где используется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285E2-F721-4CCE-8EDA-34D1F3F3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features_t = calendar + lags + rolling stats + weather + BESS + candidate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A3939-1EDB-413F-A2D8-7F861E2A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Features создаются после source/governance checks. Они описывают время, историю цен, погоду, батарею и candidate schedule. Важное правило: нельзя использовать future actual/oracle/regret как input.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58E36-0B23-4678-819E-F9AFED46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Forecast stage: calendar, lags, rolling price stats, forecast-available weather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LP stage: forecast vector + BESS limits + degradation cost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V2+/DT stage: prior context, candidate family, dispatch/SOC/throughput summaries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Leakage guard blocks actual/oracle/regret/labels from selector 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F4B56-DD5B-4308-87DE-0B0A3CB0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Features are chosen by availability at decision time, not by after-the-fact usefulness.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A14E4-829D-4D04-ADEB-ABA46A90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4983776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ac837880a412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757BC-8A60-4967-93F2-1B1995F4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386E0-EB36-43FD-8BB6-088755C7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B7D19-B05D-4969-B650-55A91FC5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TFT и NBEATSx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CB279-9E56-435D-82C3-885AB40B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Их роль в V2+ и DT 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212E6-30DC-4480-8D7D-383C1EE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history + exogenous features -&gt; forecast vector -&gt; LP/candidates -&gt;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58225-33AD-455B-96A8-62A30912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TFT/NBEATSx - это forecast adapters. Они дают hourly price forecast and explanatory signals. Дальше LP/candidate scorer превращает прогноз в feasible schedules; V2+/DT выбирают между candidate schedules.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A7878-7B55-4618-A0CF-D8886DCE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Они не являются controller и не отправляют market bids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TFT полезен еще и VSN/explainability evidence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NBEATSx/TFT сравниваются через same frozen LP/oracle scorer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Текущие claims: adapter readiness/research evidence, not SOTA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9817D-0410-4430-B31F-225AC0A0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Short version: forecast layer, not execution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48E15-41B3-4840-BB3E-F38E5CF8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4272597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263b4803647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6E2CB-5F53-4781-B5F1-3DA319A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20DFA-0A55-43E8-A0E1-AB298064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F2E63-838A-426B-80BB-EFB51749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Exogenous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5A8D5-FC99-4A5B-8A37-ED635F7A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Что это, какие используются, что с Poland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760CD-E04C-49D4-831B-F89D3E70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target = UA DAM; exogenous = context, not replacement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8472C-EE03-43F4-94B6-9CDE55D2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Exogenous features - внешние сигналы, которые известны до решения и помогают объяснить price regime: weather, calendar, neighboring-market context, tenant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320F9-14FA-49BE-A17D-E736401B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Used/available: weather, calendar, tenant/BESS context, lagged market features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Poland lane: ENTSO-E PL day-ahead price aligned as lag-24 context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Poland features: lag-24 level, deltas, daily spread/rank, peak/trough hour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Governance blocks EU/PL rows from becoming Ukrainian training 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6990A-05F1-440F-8A6C-0B4C2ED7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Current Poland result is not promoted: mechanically usable, but weaker than frozen V2+.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04FEE-3E7E-42BD-8340-A3DD4607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0107760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b980f8c28465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9DC9B-A7E1-4D52-8CFC-25F4BC3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12AE5-92F8-49CB-85C5-D849247B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332D3-8E12-46D5-92CB-ECEB0DF6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Schedule Selection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50004-C223-42BD-A00F-4DB53A9F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Как V2+ создает много schedules и как DT выбирает safe schedules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953BA-4CFC-461F-BA43-B3DEFAA9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candidate library -&gt; safety/feasibility -&gt; prior-only selector -&gt; selected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ABB96-F43B-406F-AADC-BAEC3A2E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V2+ builds a candidate library: several schedule families perturb or guard the baseline schedules, then each candidate is LP/oracle-scored offline. The selector chooses the lowest prior-regret/value candidate, with fallback to frozen V2.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A7E59-EABB-4398-899D-735BADCE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V2+ families include extrema perturbation, spread penalty, neighborhood shift, block reconciliation, terminal SOC target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DT-shadow does not output raw hourly actions; it predicts when switching away from V2+ is safe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It switches only if predicted improvement clears threshold and tail-risk guard passes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Otherwise it abstains and keeps V2+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53F97-CECB-486A-A12D-2342D239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All of this is offline recommendation evidence, not market execution.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602C4-5941-43B6-9A02-E1FD015F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4862562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e9607c1a14a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B6C18-9D34-4299-BEFB-7175B128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6F89D-96D2-4589-AEAE-0A555B86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BABB8-7E99-4F3B-B597-D5CDCB67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From Prediction to 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815DB-E2CB-49BE-9394-029B788F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How forecast/candidate becomes feasible LP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F9BD1-9DEB-4260-93D3-EBBCFC7E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stored dispatch vector = [dispatch_mw at hour 1...24] plus SOC/action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E5BD6-4B5B-4AF6-9D5B-EADC91C0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If the selected input is a forecast, LP solves charge/discharge/SOC under battery limits and creates a feasible 24h schedule. If the selected input is an existing candidate, the system reuses its stored dispatch vector.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69A01-DCBC-4915-B613-6625F45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forecast vector -&gt; LP -&gt; dispatch_mw_vector + soc_fraction_vector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candidate row already stores dispatch_mw_vector from earlier LP/candidate scoring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operator preview reads committed_action and committed_power_mw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Gatekeeper blocks candidates outside physical/market envelope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A886C-5DD3-4B3B-A519-419540B2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The output is BUY/SELL/HOLD recommendation schedule, not ProposedBid.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F7345-7BAF-414C-8239-7D84AAD4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15848875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1a6bb6cb641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5D841-DB39-47B1-844A-A62BE3E7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1950"/>
            <a:ext cx="7086600" cy="613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7255"/>
            </a:srgbClr>
          </a:solidFill>
          <a:ln xmlns:a="http://schemas.openxmlformats.org/drawingml/2006/main" w="11430">
            <a:solidFill>
              <a:srgbClr val="8ABC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3295E-3BAB-40BE-867F-D469FB5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9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4"/>
          </a:solidFill>
          <a:ln xmlns:a="http://schemas.openxmlformats.org/drawingml/2006/main" w="9525">
            <a:solidFill>
              <a:srgbClr val="9ED3C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D43C6-95B5-4589-9931-9D98F37D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Current DT Shadow Candidate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6D629-1BF4-48B8-BFC0-807E826E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143000"/>
            <a:ext cx="615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56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0566B"/>
                </a:solidFill>
                <a:latin typeface="Aptos"/>
                <a:ea typeface="Aptos"/>
                <a:cs typeface="Aptos"/>
              </a:rPr>
              <a:t>Why 3 wins and 1 tie; how it got about 3.8% better than V2+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B0CF3-CFC5-41C4-878F-60D31532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615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A"/>
          </a:solidFill>
          <a:ln xmlns:a="http://schemas.openxmlformats.org/drawingml/2006/main" w="9525">
            <a:solidFill>
              <a:srgbClr val="D6E0E7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4213D"/>
                </a:solidFill>
                <a:latin typeface="Aptos Mono"/>
                <a:ea typeface="Aptos Mono"/>
                <a:cs typeface="Aptos Mono"/>
              </a:rPr>
              <a:t>mean regret: V2+ 174.77 UAH -&gt; selected 168.16 UAH = 3.78% lower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1C62F-CA81-4926-B25F-CCFC3ABB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615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The selector was conservative. Out of 90 final anchors, it kept V2+ for 86 and switched only 4 times to strict_reference. Those 4 switches produced 3 lower-regret wins and 1 equal-regret tie, with 0 losses.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225C0-C836-4F9A-8B6A-B0641F4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590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Wins: Kyiv mall, Lviv office, Odesa hotel at 2026-04-15T23:00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Tie: Kharkiv hospital at the same anchor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It noticed a prior-context/candidate-family pattern where strict_reference looked safer than V2+</a:t>
            </a:r>
          </a:p>
          <a:p xmlns:a="http://schemas.openxmlformats.org/drawingml/2006/main">
            <a:pPr algn="l">
              <a:defRPr sz="1275" b="0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3D"/>
                </a:solidFill>
                <a:latin typeface="Aptos"/>
                <a:ea typeface="Aptos"/>
                <a:cs typeface="Aptos"/>
              </a:rPr>
              <a:t>- It did not see future oracle; oracle/regret scored the choice afterward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FDC79-BD3E-467F-99A3-00DC3BD1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91200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E79"/>
                </a:solidFill>
                <a:latin typeface="Aptos"/>
                <a:ea typeface="Aptos"/>
                <a:cs typeface="Aptos"/>
              </a:rPr>
              <a:t>Boundary: V2+ remains default; DT/LAVA not promoted; market_execution_enabled=false.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5AFA2-CBB6-4F16-AAA8-91F091C8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674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>
              <a:alpha val="90980"/>
            </a:srgbClr>
          </a:solidFill>
          <a:ln xmlns:a="http://schemas.openxmlformats.org/drawingml/2006/main" w="9525">
            <a:solidFill>
              <a:srgbClr val="F0B3AD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372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372F"/>
                </a:solidFill>
                <a:latin typeface="Aptos"/>
                <a:ea typeface="Aptos"/>
                <a:cs typeface="Aptos"/>
              </a:rPr>
              <a:t>market_execution_enabled=false</a:t>
            </a:r>
          </a:p>
        </p:txBody>
      </p:sp>
    </p:spTree>
    <p:extLst>
      <p:ext uri="{BB962C8B-B14F-4D97-AF65-F5344CB8AC3E}">
        <p14:creationId xmlns:p14="http://schemas.microsoft.com/office/powerpoint/2010/main" val="311329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2026-05-27T17:43:27.3080000Z</dcterms:created>
  <dcterms:modified xsi:type="dcterms:W3CDTF">2026-05-27T17:43:27.3080000Z</dcterms:modified>
</coreProperties>
</file>