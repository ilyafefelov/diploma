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b39a51f2004a72" /><Relationship Type="http://schemas.openxmlformats.org/officeDocument/2006/relationships/extended-properties" Target="/docProps/app.xml" Id="Rc00c301e002c4e4f" /><Relationship Type="http://schemas.openxmlformats.org/officeDocument/2006/relationships/officeDocument" Target="/ppt/presentation.xml" Id="R4112ac5ed2af42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a4eecdda504db5"/>
  </p:sldMasterIdLst>
  <p:notesMasterIdLst>
    <p:notesMasterId xmlns:r="http://schemas.openxmlformats.org/officeDocument/2006/relationships" r:id="R999cf14eb62c496b"/>
  </p:notesMasterIdLst>
  <p:sldIdLst>
    <p:sldId xmlns:r="http://schemas.openxmlformats.org/officeDocument/2006/relationships" id="256" r:id="R71f0f63958a243db"/>
    <p:sldId xmlns:r="http://schemas.openxmlformats.org/officeDocument/2006/relationships" id="257" r:id="R460aa737cbc8480f"/>
    <p:sldId xmlns:r="http://schemas.openxmlformats.org/officeDocument/2006/relationships" id="258" r:id="Rf5cbc15c9d4c4d2e"/>
    <p:sldId xmlns:r="http://schemas.openxmlformats.org/officeDocument/2006/relationships" id="259" r:id="Rc410c65441984ac0"/>
    <p:sldId xmlns:r="http://schemas.openxmlformats.org/officeDocument/2006/relationships" id="260" r:id="R40b322936997405f"/>
    <p:sldId xmlns:r="http://schemas.openxmlformats.org/officeDocument/2006/relationships" id="261" r:id="R441da40e4acc4b05"/>
    <p:sldId xmlns:r="http://schemas.openxmlformats.org/officeDocument/2006/relationships" id="262" r:id="R9231418a354a4494"/>
    <p:sldId xmlns:r="http://schemas.openxmlformats.org/officeDocument/2006/relationships" id="263" r:id="Rbfa0cfdd37014953"/>
    <p:sldId xmlns:r="http://schemas.openxmlformats.org/officeDocument/2006/relationships" id="264" r:id="R287cb39a416e47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4eecdda504db5" /><Relationship Type="http://schemas.openxmlformats.org/officeDocument/2006/relationships/theme" Target="/ppt/theme/theme1.xml" Id="Rd5b7d374b85f472f" /><Relationship Type="http://schemas.openxmlformats.org/officeDocument/2006/relationships/notesMaster" Target="/ppt/notesMasters/notesMaster1.xml" Id="R999cf14eb62c496b" /><Relationship Type="http://schemas.openxmlformats.org/officeDocument/2006/relationships/presProps" Target="/ppt/presProps.xml" Id="R29fd9914d25642b1" /><Relationship Type="http://schemas.openxmlformats.org/officeDocument/2006/relationships/viewProps" Target="/ppt/viewProps.xml" Id="R70559e2305f84fff" /><Relationship Type="http://schemas.openxmlformats.org/officeDocument/2006/relationships/tableStyles" Target="/ppt/tableStyles.xml" Id="Rfe037dff95e44155" /><Relationship Type="http://schemas.openxmlformats.org/officeDocument/2006/relationships/slide" Target="/ppt/slides/slide1.xml" Id="R71f0f63958a243db" /><Relationship Type="http://schemas.openxmlformats.org/officeDocument/2006/relationships/slide" Target="/ppt/slides/slide2.xml" Id="R460aa737cbc8480f" /><Relationship Type="http://schemas.openxmlformats.org/officeDocument/2006/relationships/slide" Target="/ppt/slides/slide3.xml" Id="Rf5cbc15c9d4c4d2e" /><Relationship Type="http://schemas.openxmlformats.org/officeDocument/2006/relationships/slide" Target="/ppt/slides/slide4.xml" Id="Rc410c65441984ac0" /><Relationship Type="http://schemas.openxmlformats.org/officeDocument/2006/relationships/slide" Target="/ppt/slides/slide5.xml" Id="R40b322936997405f" /><Relationship Type="http://schemas.openxmlformats.org/officeDocument/2006/relationships/slide" Target="/ppt/slides/slide6.xml" Id="R441da40e4acc4b05" /><Relationship Type="http://schemas.openxmlformats.org/officeDocument/2006/relationships/slide" Target="/ppt/slides/slide7.xml" Id="R9231418a354a4494" /><Relationship Type="http://schemas.openxmlformats.org/officeDocument/2006/relationships/slide" Target="/ppt/slides/slide8.xml" Id="Rbfa0cfdd37014953" /><Relationship Type="http://schemas.openxmlformats.org/officeDocument/2006/relationships/slide" Target="/ppt/slides/slide9.xml" Id="R287cb39a416e47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ad4603416be4e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050d80f4074c2e" /><Relationship Type="http://schemas.openxmlformats.org/officeDocument/2006/relationships/notesMaster" Target="/ppt/notesMasters/notesMaster1.xml" Id="Re58929a5834f4b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7ad0c5186845ab" /><Relationship Type="http://schemas.openxmlformats.org/officeDocument/2006/relationships/notesMaster" Target="/ppt/notesMasters/notesMaster1.xml" Id="R5d2e229a90e649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eb50b755b64926" /><Relationship Type="http://schemas.openxmlformats.org/officeDocument/2006/relationships/notesMaster" Target="/ppt/notesMasters/notesMaster1.xml" Id="R704baac951e249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c056ea8971439c" /><Relationship Type="http://schemas.openxmlformats.org/officeDocument/2006/relationships/notesMaster" Target="/ppt/notesMasters/notesMaster1.xml" Id="R44859b6b98c44b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0372cb7163487f" /><Relationship Type="http://schemas.openxmlformats.org/officeDocument/2006/relationships/notesMaster" Target="/ppt/notesMasters/notesMaster1.xml" Id="R7bbe08d355124b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cb421785f74b3c" /><Relationship Type="http://schemas.openxmlformats.org/officeDocument/2006/relationships/notesMaster" Target="/ppt/notesMasters/notesMaster1.xml" Id="R690a625914f447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500361b77542cd" /><Relationship Type="http://schemas.openxmlformats.org/officeDocument/2006/relationships/notesMaster" Target="/ppt/notesMasters/notesMaster1.xml" Id="R7d5e880c8bc242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23741d3eca4709" /><Relationship Type="http://schemas.openxmlformats.org/officeDocument/2006/relationships/notesMaster" Target="/ppt/notesMasters/notesMaster1.xml" Id="R6aacb134adbc47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5bf1eb3b834a84" /><Relationship Type="http://schemas.openxmlformats.org/officeDocument/2006/relationships/notesMaster" Target="/ppt/notesMasters/notesMaster1.xml" Id="R8eddf485fd5340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3cdfb9f734bb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c0c2b60b138435e" /><Relationship Type="http://schemas.openxmlformats.org/officeDocument/2006/relationships/slideLayout" Target="/ppt/slideLayouts/slideLayout2.xml" Id="R655b8112882a4c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5b8112882a4c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a56f206a3847af" /><Relationship Type="http://schemas.openxmlformats.org/officeDocument/2006/relationships/image" Target="/ppt/media/image.png" Id="Rf42046cfec394b11" /><Relationship Type="http://schemas.openxmlformats.org/officeDocument/2006/relationships/notesSlide" Target="/ppt/notesSlides/notesSlide1.xml" Id="R22511e7232d946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a17470593d4fdb" /><Relationship Type="http://schemas.openxmlformats.org/officeDocument/2006/relationships/image" Target="/ppt/media/image2.png" Id="R388477e63dd44750" /><Relationship Type="http://schemas.openxmlformats.org/officeDocument/2006/relationships/notesSlide" Target="/ppt/notesSlides/notesSlide2.xml" Id="R4e744a68580943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e0cfad11144db9" /><Relationship Type="http://schemas.openxmlformats.org/officeDocument/2006/relationships/image" Target="/ppt/media/image3.png" Id="R3aa6d308d510411b" /><Relationship Type="http://schemas.openxmlformats.org/officeDocument/2006/relationships/notesSlide" Target="/ppt/notesSlides/notesSlide3.xml" Id="Rd125e40d811149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db2f8bb7784ef3" /><Relationship Type="http://schemas.openxmlformats.org/officeDocument/2006/relationships/image" Target="/ppt/media/image4.png" Id="R1b70c623876f4f5d" /><Relationship Type="http://schemas.openxmlformats.org/officeDocument/2006/relationships/notesSlide" Target="/ppt/notesSlides/notesSlide4.xml" Id="R0fa7069f411c44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8e58c44f144197" /><Relationship Type="http://schemas.openxmlformats.org/officeDocument/2006/relationships/image" Target="/ppt/media/image5.png" Id="R27018ade4c7f4381" /><Relationship Type="http://schemas.openxmlformats.org/officeDocument/2006/relationships/notesSlide" Target="/ppt/notesSlides/notesSlide5.xml" Id="R59219ae0106b4b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511d46a0814642" /><Relationship Type="http://schemas.openxmlformats.org/officeDocument/2006/relationships/image" Target="/ppt/media/image6.png" Id="Rc86a700109a94f57" /><Relationship Type="http://schemas.openxmlformats.org/officeDocument/2006/relationships/notesSlide" Target="/ppt/notesSlides/notesSlide6.xml" Id="R4abca7cf40a84c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8d37a5b2443f0" /><Relationship Type="http://schemas.openxmlformats.org/officeDocument/2006/relationships/image" Target="/ppt/media/image7.png" Id="R79ef6f17d8224cd1" /><Relationship Type="http://schemas.openxmlformats.org/officeDocument/2006/relationships/notesSlide" Target="/ppt/notesSlides/notesSlide7.xml" Id="R7c1d6ec2b33b46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36e505c116412c" /><Relationship Type="http://schemas.openxmlformats.org/officeDocument/2006/relationships/image" Target="/ppt/media/image8.png" Id="Rd6129dfad9f24c2c" /><Relationship Type="http://schemas.openxmlformats.org/officeDocument/2006/relationships/notesSlide" Target="/ppt/notesSlides/notesSlide8.xml" Id="Ra767a3edae1e4c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14dc3c999c4099" /><Relationship Type="http://schemas.openxmlformats.org/officeDocument/2006/relationships/image" Target="/ppt/media/image9.png" Id="Rcca843683cd240d3" /><Relationship Type="http://schemas.openxmlformats.org/officeDocument/2006/relationships/notesSlide" Target="/ppt/notesSlides/notesSlide9.xml" Id="R81fd5001447d4d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046cfec394b1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4DBFC-2237-4DE8-BC67-612D34C8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03F2B-0D9C-4CD1-AF39-322FEB21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37909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7CF4F-9A06-44AC-82E4-8436D9B8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C29A3-2F11-45C3-9BC3-BD763C71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Как работает LP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6AEFB-05FC-40BE-A129-EC819DA4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Механизм покупки, продажи и физических ограничений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614B5-28BD-4213-A708-A10ED2F3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>
              <a:alpha val="9372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max sum_t [ price_t * (discharge_t - charge_t) * dt - k_deg * (charge_t + discharge_t) * dt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51B21-E199-44B9-AE03-D72D7EAA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Результат: BUY если net_power &lt; 0, SELL если &gt; 0, HOLD если около 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F7491-9C80-44D5-884E-441EE60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"/>
            <a:ext cx="723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0DF49-00D1-4382-A003-E801152B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00100"/>
            <a:ext cx="6667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LP смотрит на 24 часа цен. Если цена низкая - выгодно зарядить батарею. Если цена высокая - выгодно разрядить и продать энергию. Он выбирает не одно действие, а весь безопасный профиль charge/discharge/SOC.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68944-F164-4219-9584-7B98EDD5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7239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0F54E-78F8-4489-9A54-AD7897DC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57550"/>
            <a:ext cx="6553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SOC: 5-95% емкости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charge/discharge &lt;= max power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SOC_t+1 = SOC_t + charge*sqrt(RTE)*dt - discharge/sqrt(RTE)*dt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Коммитится только первый час rolling horizon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D1F97-EEA3-4472-9C9E-DB4B189F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817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DAM recommendation preview / offline evidence / no market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D2596-DE55-44E8-8912-C09F0444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055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9501731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477e63dd447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38C1D-B4F1-4A90-9D03-C3FB5DEE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974C3-DA1B-4545-B7DB-8EDB990C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37909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4AC34-C638-44C8-B426-D4181E61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F7347-6B20-4E12-9B60-0A4EEE91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Strict Similar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E4047-CFE8-4AB0-B2C7-CC89344F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Как считается regret и связь с oracle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F4314-2CF8-4835-BC4D-485EE8B4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>
              <a:alpha val="9372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regret = oracle_value - achieved_value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1B0F4-83F6-429C-A213-3C4BC4F6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Benchmark нужен как честный frozen comparator для V2+, DT и forecast models.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FB5C7-F2E4-4F08-B0CD-4491938B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"/>
            <a:ext cx="723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180F2-D0AD-400F-BEB7-7D6413A1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00100"/>
            <a:ext cx="6667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Strict benchmark не обучается. Он берет похожий прошлый день как прогноз: для Tue-Fri чаще yesterday, иначе same weekday last week. Потом LP строит schedule по этому прогнозу.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96242-72B4-4083-B6F8-374E1982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7239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AB34A-240C-41AB-B1CF-52E04581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57550"/>
            <a:ext cx="6553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achieved_value: schedule из strict forecast, оцененный на actual prices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oracle_value: тот же LP, но с actual future prices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oracle - это верхняя планка, не реальный доступный режим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Меньше regret = лучше decision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B385E-978B-4179-B7D5-6A84DD1F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817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DAM recommendation preview / offline evidence / no market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B283E-7068-490D-9541-8E15BAD9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055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13685306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6d308d510411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21584-C49F-4325-AD23-7C4935DE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D41B0-90C7-4D3E-8C87-5666621C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37909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67E98-0ED0-4CE2-A894-F6659ECA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A2FB3-5DFD-429C-A968-9EB27965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Raw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A246C-4B97-4114-896A-C656ACF9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Какие данные входят сырыми и какой формы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D9A7A-EFE7-434D-A2F8-5FD6C495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>
              <a:alpha val="9372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hourly row = timestamp + tenant_id/source + value columns +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01D52-B70A-46F4-A446-DB1E9D78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Pipeline shape: Bronze observed rows -&gt; Silver features -&gt; Gold schedule/evidence 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FD3AA-0F1F-46FC-8F95-CABD560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"/>
            <a:ext cx="723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44D4B-2C3C-4FC7-B3D4-1A4E7657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00100"/>
            <a:ext cx="6667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Основной raw input - hourly rows: timestamp + price/weather/source metadata. Украинская цена DAM одна для market zone IPS; tenants отличаются погодой, координатами, BESS параметрами, SOC и economics.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07229-A8D5-4577-989D-2444E958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7239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88CAC-5674-4F85-878B-7E3D1BDA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57550"/>
            <a:ext cx="6553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OREE DAM: hourly price, UAH/MWh, market zone IPS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Open-Meteo: hourly weather by tenant coordinates/timezone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Tenant config: capacity, power, SOC limits, degradation cost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Synthetic fallback rows are demo stability only, not measured-performance claims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3087C-109C-4B55-B5B1-D7022DE9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817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DAM recommendation preview / offline evidence / no market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A42B6-4C03-4B4F-86DE-4CD29CDC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055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15546133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0c623876f4f5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C1318-1C40-4311-BAED-FB24F82E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0940F-9386-449A-A981-5EAE3318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37909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B472D-9D63-441C-8003-F7BD792E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64A66-CDB0-49A6-8302-A2A1173B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73545-CDB2-4B59-9C52-83AE74DF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Что создается, как выбирается и где используется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BFA4A-5EB8-4183-A57E-ED7266EF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>
              <a:alpha val="9372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features_t = calendar + lags + rolling stats + weather + BESS + candidate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56A94-F1B2-4129-8231-42604227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Features are chosen by availability at decision time, not by after-the-fact usefulness.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DF2C1-64DC-4D3E-839D-542E2141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"/>
            <a:ext cx="723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9F79A-7865-4F51-9B8F-FBC6D42E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00100"/>
            <a:ext cx="6667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Features создаются после source/governance checks. Они описывают время, историю цен, погоду, батарею и candidate schedule. Важное правило: нельзя использовать future actual/oracle/regret как input.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EC80B-1AA1-49C9-B18A-DBD66E6E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7239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4095D-71EE-4144-8DE5-5BDF3C1D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57550"/>
            <a:ext cx="6553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Forecast stage: calendar, lags, rolling price stats, forecast-available weather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LP stage: forecast vector + BESS limits + degradation cost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V2+/DT stage: prior context, candidate family, dispatch/SOC/throughput summaries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Leakage guard blocks actual/oracle/regret/labels from selector 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F0FE2-D915-4DAF-99D3-7EA2DD1F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817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DAM recommendation preview / offline evidence / no market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7D439-0B7C-46F3-A683-DE713061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055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13595560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18ade4c7f43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FAFA8-AA99-4679-A8EE-E77CD75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FA571-219B-482F-944B-0C4317A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37909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C45D7-902C-4580-A836-F8B45385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7404B-2A43-459F-830A-3242CD85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TFT и NBEATSx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2CFA6-4F1B-431E-8173-D646B272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Их роль в V2+ и DT 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58BE5-A02E-4FD2-ABCC-1EB2D83F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>
              <a:alpha val="9372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history + exogenous features -&gt; forecast vector -&gt; LP/candidates -&gt;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CDEF6-F914-48F8-ABD9-ECFCC6CE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Short version: forecast layer, not execution layer.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D4E47-7907-4E31-9C47-030DEFB0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"/>
            <a:ext cx="723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B27B4-0CB2-4B4F-B42E-4A172EEF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00100"/>
            <a:ext cx="6667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TFT/NBEATSx - это forecast adapters. Они дают hourly price forecast and explanatory signals. Дальше LP/candidate scorer превращает прогноз в feasible schedules; V2+/DT выбирают между candidate schedules.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E0152-9247-449C-8FC6-8F638C1D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7239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DAB8C-BFEE-47EC-B9B2-46F400D5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57550"/>
            <a:ext cx="6553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Они не являются controller и не отправляют market bids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TFT полезен еще и VSN/explainability evidence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NBEATSx/TFT сравниваются через same frozen LP/oracle scorer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Текущие claims: adapter readiness/research evidence, not SOTA 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43405-42BC-44F3-9AD9-03EB98B0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817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DAM recommendation preview / offline evidence / no market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19CC9-9043-48E1-B286-A5F2F245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055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373394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a700109a94f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FEF6B-D541-44A7-A02D-4411B5D4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3CC80-167F-4D36-8B46-9A22A2B0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37909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F71F4-663D-4703-A814-3B7ED7A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5319B-DE86-4AE5-8E97-ACBCECB8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Exogenous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8AC67-71EE-40C8-984E-A15E5D51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Что это, какие используются, что с Poland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503DA-D215-42CE-A51B-F9D71662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>
              <a:alpha val="9372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target = UA DAM; exogenous = context, not replacement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E7A0C-E1C2-4661-B0BF-DE50CBF5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Current Poland result is not promoted: mechanically usable, but weaker than frozen V2+.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F6AB9-F309-4081-AE29-DD595269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"/>
            <a:ext cx="723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AEFBF-0E73-41DB-9375-087961AC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00100"/>
            <a:ext cx="6667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Exogenous features - внешние сигналы, которые известны до решения и помогают объяснить price regime: weather, calendar, neighboring-market context, tenant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B80DE-BDBF-49C7-9002-3866300B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7239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044A9-1C20-41A8-8205-4155CBCD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57550"/>
            <a:ext cx="6553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Used/available: weather, calendar, tenant/BESS context, lagged market features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Poland lane: ENTSO-E PL day-ahead price aligned as lag-24 context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Poland features: lag-24 level, deltas, daily spread/rank, peak/trough hour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Governance blocks EU/PL rows from becoming Ukrainian training targets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1F81F-BB3C-48A6-9469-D6B1E3E2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817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DAM recommendation preview / offline evidence / no market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3B6E6-4411-4E1D-93A3-01C29347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055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6525938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f6f17d8224cd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F0321-28DF-4201-837A-0DE35FB1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A0D6F-8ED2-4A60-BCB2-56A1A9AF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37909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C6A7E-21B5-4424-9075-3451BFF6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66382-6E3D-4210-9736-C659C2B1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Schedule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4FAEB-D2E7-4876-BA72-AE6BC3A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Как V2+ создает много schedules и как DT выбирает safe schedules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8D897-17F9-46FF-B54A-F48FF8B2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>
              <a:alpha val="9372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candidate library -&gt; safety/feasibility -&gt; prior-only selector -&gt; selected family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C0E9F-53AF-4505-987F-90C73020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All of this is offline recommendation evidence, not market execution.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2161A-ECF2-4B30-A7C0-6E1751F3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"/>
            <a:ext cx="723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600A0-487E-4A58-9B51-93965CCB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00100"/>
            <a:ext cx="6667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V2+ builds a candidate library: several schedule families perturb or guard the baseline schedules, then each candidate is LP/oracle-scored offline. The selector chooses the lowest prior-regret/value candidate, with fallback to frozen V2.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7FDC8-5DF3-4237-8F96-DF5019DF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7239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5AD0A-2DCE-4B8D-8B5A-39FDB30E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57550"/>
            <a:ext cx="6553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V2+ families include extrema perturbation, spread penalty, neighborhood shift, block reconciliation, terminal SOC target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DT-shadow does not output raw hourly actions; it predicts when switching away from V2+ is safe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It switches only if predicted improvement clears threshold and tail-risk guard passes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Otherwise it abstains and keeps V2+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6B0FB-EC66-4275-A982-E43A5F67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817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DAM recommendation preview / offline evidence / no market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43ED2-BE57-4B02-9D90-37BC04B0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055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12759877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29dfad9f24c2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F1780-F19D-438A-A0B3-903E51E2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82E6D-D1D1-482A-B41F-D45586CB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37909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D27AC-609A-43EB-AA36-5E05661B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8568A-4A03-451C-871A-1B0B07F9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From Prediction to Recommendation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2FE77-FE90-421F-A595-32DB1D12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How forecast/candidate becomes feasible LP schedule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12050-DF77-4131-93C2-B11A9B4A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>
              <a:alpha val="9372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stored dispatch vector = [dispatch_mw at hour 1...24] plus SOC/action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E40E2-B7ED-4B2D-BF69-80719D4A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The output is BUY/SELL/HOLD recommendation schedule, not ProposedBid.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F3652-A7F4-44B6-A001-8C77D89D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"/>
            <a:ext cx="723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9CDA3-9C08-45DC-BCBD-B581425D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00100"/>
            <a:ext cx="6667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If the selected input is a forecast, LP solves charge/discharge/SOC under battery limits and creates a feasible 24h schedule. If the selected input is an existing candidate, the system reuses its stored dispatch vector.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5AD4C-1C3C-4533-96D7-7BCCF258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7239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90A27-22FE-4E2B-A97A-A1756894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57550"/>
            <a:ext cx="6553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forecast vector -&gt; LP -&gt; dispatch_mw_vector + soc_fraction_vector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candidate row already stores dispatch_mw_vector from earlier LP/candidate scoring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operator preview reads committed_action and committed_power_mw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Gatekeeper blocks candidates outside physical/market envelope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ED309-7EAB-42CE-935E-C631A262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817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DAM recommendation preview / offline evidence / no market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E04C1-95E4-4BEE-800D-EE713100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055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17551027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843683cd240d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B1914-A87F-41C8-9826-5D8A71F3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63AD9-578E-44C3-9FC8-5E37A827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379095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63F31-2597-49FC-8FF0-779B250D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68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3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4D782-8876-497E-82F9-045615B5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Current DT Shadow Candidate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DE445-F168-43BE-8F39-0020C7A8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Why 3 wins and 1 tie; how it got about 3.8% better than V2+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BAE89-5573-401C-BAF2-CC135965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>
              <a:alpha val="9372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mean regret: V2+ 174.77 UAH -&gt; selected 168.16 UAH = 3.78% lower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E9501-965A-4F6C-A539-BA67B135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Boundary: V2+ remains default; DT/LAVA not promoted; market_execution_enabled=false.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02F0D-C953-4948-87A6-B03D964D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"/>
            <a:ext cx="723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033F4-1B1F-4E23-BA16-A305D2A7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00100"/>
            <a:ext cx="6667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selector was conservative. Out of 90 final anchors, it kept V2+ for 86 and switched only 4 times to strict_reference. Those 4 switches produced 3 lower-regret wins and 1 equal-regret tie, with 0 losses.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5B0A5-20CF-42DC-89E5-F5FD44CB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7239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C824B-4981-477A-AC40-8F70AE04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57550"/>
            <a:ext cx="6553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Wins: Kyiv mall, Lviv office, Odesa hotel at 2026-04-15T23:00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Tie: Kharkiv hospital at the same anchor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It noticed a prior-context/candidate-family pattern where strict_reference looked safer than V2+</a:t>
            </a:r>
          </a:p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It did not see future oracle; oracle/regret scored the choice afterward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1E52E-EA7E-454A-9F41-8F73AA4F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817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DAM recommendation preview / offline evidence / no market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6B3DA-5876-473F-9D09-7EE96F60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9055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1301432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2026-05-27T15:06:52.0930000Z</dcterms:created>
  <dcterms:modified xsi:type="dcterms:W3CDTF">2026-05-27T15:06:52.0930000Z</dcterms:modified>
</coreProperties>
</file>